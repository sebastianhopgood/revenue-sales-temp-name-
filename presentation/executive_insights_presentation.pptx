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5"/>
  </p:notesMasterIdLst>
  <p:sldIdLst>
    <p:sldId id="256" r:id="rId2"/>
    <p:sldId id="257" r:id="rId3"/>
    <p:sldId id="259" r:id="rId4"/>
    <p:sldId id="258" r:id="rId5"/>
    <p:sldId id="260" r:id="rId6"/>
    <p:sldId id="261" r:id="rId7"/>
    <p:sldId id="262" r:id="rId8"/>
    <p:sldId id="263" r:id="rId9"/>
    <p:sldId id="264" r:id="rId10"/>
    <p:sldId id="266" r:id="rId11"/>
    <p:sldId id="267" r:id="rId12"/>
    <p:sldId id="268" r:id="rId13"/>
    <p:sldId id="269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4343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7885B2B-AAFC-48E8-9498-721B9F862F75}" v="64" dt="2026-04-24T15:55:25.91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980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720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ebastian Hopgood" userId="3d11f01f86dd534e" providerId="LiveId" clId="{9A46CC5A-A5F8-4C4C-A2A6-29D971A32AB5}"/>
    <pc:docChg chg="undo custSel addSld delSld modSld sldOrd">
      <pc:chgData name="Sebastian Hopgood" userId="3d11f01f86dd534e" providerId="LiveId" clId="{9A46CC5A-A5F8-4C4C-A2A6-29D971A32AB5}" dt="2026-04-24T16:23:06.001" v="2296" actId="20577"/>
      <pc:docMkLst>
        <pc:docMk/>
      </pc:docMkLst>
      <pc:sldChg chg="modSp mod">
        <pc:chgData name="Sebastian Hopgood" userId="3d11f01f86dd534e" providerId="LiveId" clId="{9A46CC5A-A5F8-4C4C-A2A6-29D971A32AB5}" dt="2026-04-24T15:12:32.170" v="713" actId="1076"/>
        <pc:sldMkLst>
          <pc:docMk/>
          <pc:sldMk cId="1366458844" sldId="257"/>
        </pc:sldMkLst>
        <pc:spChg chg="mod">
          <ac:chgData name="Sebastian Hopgood" userId="3d11f01f86dd534e" providerId="LiveId" clId="{9A46CC5A-A5F8-4C4C-A2A6-29D971A32AB5}" dt="2026-04-24T15:12:32.170" v="713" actId="1076"/>
          <ac:spMkLst>
            <pc:docMk/>
            <pc:sldMk cId="1366458844" sldId="257"/>
            <ac:spMk id="3" creationId="{49FE126F-9BE1-1BA9-9C5B-C3FC027AECC9}"/>
          </ac:spMkLst>
        </pc:spChg>
      </pc:sldChg>
      <pc:sldChg chg="addSp delSp modSp new mod setBg setClrOvrMap">
        <pc:chgData name="Sebastian Hopgood" userId="3d11f01f86dd534e" providerId="LiveId" clId="{9A46CC5A-A5F8-4C4C-A2A6-29D971A32AB5}" dt="2026-04-24T16:22:47.534" v="2293" actId="20577"/>
        <pc:sldMkLst>
          <pc:docMk/>
          <pc:sldMk cId="851134778" sldId="258"/>
        </pc:sldMkLst>
        <pc:spChg chg="mod">
          <ac:chgData name="Sebastian Hopgood" userId="3d11f01f86dd534e" providerId="LiveId" clId="{9A46CC5A-A5F8-4C4C-A2A6-29D971A32AB5}" dt="2026-04-24T14:47:39.420" v="358" actId="404"/>
          <ac:spMkLst>
            <pc:docMk/>
            <pc:sldMk cId="851134778" sldId="258"/>
            <ac:spMk id="2" creationId="{E30EB0AF-ABD0-5EED-4C8B-8EB55A15E0D3}"/>
          </ac:spMkLst>
        </pc:spChg>
        <pc:spChg chg="del mod">
          <ac:chgData name="Sebastian Hopgood" userId="3d11f01f86dd534e" providerId="LiveId" clId="{9A46CC5A-A5F8-4C4C-A2A6-29D971A32AB5}" dt="2026-04-24T14:30:55.979" v="2" actId="26606"/>
          <ac:spMkLst>
            <pc:docMk/>
            <pc:sldMk cId="851134778" sldId="258"/>
            <ac:spMk id="3" creationId="{D4F03268-80CC-9EA0-3976-F98387143F9F}"/>
          </ac:spMkLst>
        </pc:spChg>
        <pc:spChg chg="add del mod">
          <ac:chgData name="Sebastian Hopgood" userId="3d11f01f86dd534e" providerId="LiveId" clId="{9A46CC5A-A5F8-4C4C-A2A6-29D971A32AB5}" dt="2026-04-24T14:36:50.024" v="38" actId="931"/>
          <ac:spMkLst>
            <pc:docMk/>
            <pc:sldMk cId="851134778" sldId="258"/>
            <ac:spMk id="5" creationId="{930585EC-C121-9678-7E10-D8AD8C11C608}"/>
          </ac:spMkLst>
        </pc:spChg>
        <pc:spChg chg="add">
          <ac:chgData name="Sebastian Hopgood" userId="3d11f01f86dd534e" providerId="LiveId" clId="{9A46CC5A-A5F8-4C4C-A2A6-29D971A32AB5}" dt="2026-04-24T14:30:55.979" v="2" actId="26606"/>
          <ac:spMkLst>
            <pc:docMk/>
            <pc:sldMk cId="851134778" sldId="258"/>
            <ac:spMk id="8" creationId="{74CD14DB-BB81-479F-A1FC-1C75640E9F84}"/>
          </ac:spMkLst>
        </pc:spChg>
        <pc:spChg chg="add">
          <ac:chgData name="Sebastian Hopgood" userId="3d11f01f86dd534e" providerId="LiveId" clId="{9A46CC5A-A5F8-4C4C-A2A6-29D971A32AB5}" dt="2026-04-24T14:30:55.979" v="2" actId="26606"/>
          <ac:spMkLst>
            <pc:docMk/>
            <pc:sldMk cId="851134778" sldId="258"/>
            <ac:spMk id="10" creationId="{C943A91B-7CA7-4592-A975-73B1BF8C4C74}"/>
          </ac:spMkLst>
        </pc:spChg>
        <pc:spChg chg="add">
          <ac:chgData name="Sebastian Hopgood" userId="3d11f01f86dd534e" providerId="LiveId" clId="{9A46CC5A-A5F8-4C4C-A2A6-29D971A32AB5}" dt="2026-04-24T14:30:55.979" v="2" actId="26606"/>
          <ac:spMkLst>
            <pc:docMk/>
            <pc:sldMk cId="851134778" sldId="258"/>
            <ac:spMk id="12" creationId="{EC471314-E46A-414B-8D91-74880E84F187}"/>
          </ac:spMkLst>
        </pc:spChg>
        <pc:spChg chg="add">
          <ac:chgData name="Sebastian Hopgood" userId="3d11f01f86dd534e" providerId="LiveId" clId="{9A46CC5A-A5F8-4C4C-A2A6-29D971A32AB5}" dt="2026-04-24T14:30:55.979" v="2" actId="26606"/>
          <ac:spMkLst>
            <pc:docMk/>
            <pc:sldMk cId="851134778" sldId="258"/>
            <ac:spMk id="14" creationId="{6A681326-1C9D-44A3-A627-3871BDAE4127}"/>
          </ac:spMkLst>
        </pc:spChg>
        <pc:spChg chg="add mod">
          <ac:chgData name="Sebastian Hopgood" userId="3d11f01f86dd534e" providerId="LiveId" clId="{9A46CC5A-A5F8-4C4C-A2A6-29D971A32AB5}" dt="2026-04-24T16:22:47.534" v="2293" actId="20577"/>
          <ac:spMkLst>
            <pc:docMk/>
            <pc:sldMk cId="851134778" sldId="258"/>
            <ac:spMk id="16" creationId="{60B478E9-B7E4-0C27-FAA2-B879AD4B63F5}"/>
          </ac:spMkLst>
        </pc:spChg>
        <pc:graphicFrameChg chg="add del mod">
          <ac:chgData name="Sebastian Hopgood" userId="3d11f01f86dd534e" providerId="LiveId" clId="{9A46CC5A-A5F8-4C4C-A2A6-29D971A32AB5}" dt="2026-04-24T14:31:49.402" v="6" actId="21"/>
          <ac:graphicFrameMkLst>
            <pc:docMk/>
            <pc:sldMk cId="851134778" sldId="258"/>
            <ac:graphicFrameMk id="15" creationId="{CBA132F6-7FB7-5AC4-4850-1EAFF13B06A8}"/>
          </ac:graphicFrameMkLst>
        </pc:graphicFrameChg>
        <pc:picChg chg="add del mod ord">
          <ac:chgData name="Sebastian Hopgood" userId="3d11f01f86dd534e" providerId="LiveId" clId="{9A46CC5A-A5F8-4C4C-A2A6-29D971A32AB5}" dt="2026-04-24T14:38:51.546" v="51" actId="478"/>
          <ac:picMkLst>
            <pc:docMk/>
            <pc:sldMk cId="851134778" sldId="258"/>
            <ac:picMk id="7" creationId="{8E16FB52-5452-0C97-03FF-B5ED09C8F284}"/>
          </ac:picMkLst>
        </pc:picChg>
        <pc:picChg chg="add del mod">
          <ac:chgData name="Sebastian Hopgood" userId="3d11f01f86dd534e" providerId="LiveId" clId="{9A46CC5A-A5F8-4C4C-A2A6-29D971A32AB5}" dt="2026-04-24T14:48:08.413" v="361" actId="478"/>
          <ac:picMkLst>
            <pc:docMk/>
            <pc:sldMk cId="851134778" sldId="258"/>
            <ac:picMk id="11" creationId="{21119146-5973-F8D9-69CC-C5FDAB405E2B}"/>
          </ac:picMkLst>
        </pc:picChg>
        <pc:picChg chg="add mod">
          <ac:chgData name="Sebastian Hopgood" userId="3d11f01f86dd534e" providerId="LiveId" clId="{9A46CC5A-A5F8-4C4C-A2A6-29D971A32AB5}" dt="2026-04-24T14:53:02.058" v="386" actId="1076"/>
          <ac:picMkLst>
            <pc:docMk/>
            <pc:sldMk cId="851134778" sldId="258"/>
            <ac:picMk id="18" creationId="{DDBAB44E-2F0B-D56C-E685-3A44D81739FF}"/>
          </ac:picMkLst>
        </pc:picChg>
      </pc:sldChg>
      <pc:sldChg chg="modSp add mod ord">
        <pc:chgData name="Sebastian Hopgood" userId="3d11f01f86dd534e" providerId="LiveId" clId="{9A46CC5A-A5F8-4C4C-A2A6-29D971A32AB5}" dt="2026-04-24T16:13:43.789" v="2201" actId="313"/>
        <pc:sldMkLst>
          <pc:docMk/>
          <pc:sldMk cId="996560288" sldId="259"/>
        </pc:sldMkLst>
        <pc:spChg chg="mod">
          <ac:chgData name="Sebastian Hopgood" userId="3d11f01f86dd534e" providerId="LiveId" clId="{9A46CC5A-A5F8-4C4C-A2A6-29D971A32AB5}" dt="2026-04-24T16:13:43.789" v="2201" actId="313"/>
          <ac:spMkLst>
            <pc:docMk/>
            <pc:sldMk cId="996560288" sldId="259"/>
            <ac:spMk id="16" creationId="{C2A0FB0C-507A-1D60-FCB0-E58065D68D9A}"/>
          </ac:spMkLst>
        </pc:spChg>
      </pc:sldChg>
      <pc:sldChg chg="add del">
        <pc:chgData name="Sebastian Hopgood" userId="3d11f01f86dd534e" providerId="LiveId" clId="{9A46CC5A-A5F8-4C4C-A2A6-29D971A32AB5}" dt="2026-04-24T14:47:21.972" v="342" actId="2696"/>
        <pc:sldMkLst>
          <pc:docMk/>
          <pc:sldMk cId="1557648965" sldId="260"/>
        </pc:sldMkLst>
      </pc:sldChg>
      <pc:sldChg chg="addSp delSp modSp add mod setBg setClrOvrMap">
        <pc:chgData name="Sebastian Hopgood" userId="3d11f01f86dd534e" providerId="LiveId" clId="{9A46CC5A-A5F8-4C4C-A2A6-29D971A32AB5}" dt="2026-04-24T15:23:26.858" v="996" actId="2085"/>
        <pc:sldMkLst>
          <pc:docMk/>
          <pc:sldMk cId="2564781104" sldId="260"/>
        </pc:sldMkLst>
        <pc:spChg chg="mod">
          <ac:chgData name="Sebastian Hopgood" userId="3d11f01f86dd534e" providerId="LiveId" clId="{9A46CC5A-A5F8-4C4C-A2A6-29D971A32AB5}" dt="2026-04-24T15:04:37.416" v="588" actId="20577"/>
          <ac:spMkLst>
            <pc:docMk/>
            <pc:sldMk cId="2564781104" sldId="260"/>
            <ac:spMk id="2" creationId="{EBC3C340-162B-DCCF-87DA-B5FE1F4CB886}"/>
          </ac:spMkLst>
        </pc:spChg>
        <pc:spChg chg="del">
          <ac:chgData name="Sebastian Hopgood" userId="3d11f01f86dd534e" providerId="LiveId" clId="{9A46CC5A-A5F8-4C4C-A2A6-29D971A32AB5}" dt="2026-04-24T15:01:00.847" v="462" actId="26606"/>
          <ac:spMkLst>
            <pc:docMk/>
            <pc:sldMk cId="2564781104" sldId="260"/>
            <ac:spMk id="8" creationId="{584DDF6B-12D4-0419-54E5-5DDADD139FEC}"/>
          </ac:spMkLst>
        </pc:spChg>
        <pc:spChg chg="del">
          <ac:chgData name="Sebastian Hopgood" userId="3d11f01f86dd534e" providerId="LiveId" clId="{9A46CC5A-A5F8-4C4C-A2A6-29D971A32AB5}" dt="2026-04-24T15:01:00.847" v="462" actId="26606"/>
          <ac:spMkLst>
            <pc:docMk/>
            <pc:sldMk cId="2564781104" sldId="260"/>
            <ac:spMk id="10" creationId="{08A23990-2EEF-B0D2-971F-98F3D5C0C5F1}"/>
          </ac:spMkLst>
        </pc:spChg>
        <pc:spChg chg="del">
          <ac:chgData name="Sebastian Hopgood" userId="3d11f01f86dd534e" providerId="LiveId" clId="{9A46CC5A-A5F8-4C4C-A2A6-29D971A32AB5}" dt="2026-04-24T15:01:00.847" v="462" actId="26606"/>
          <ac:spMkLst>
            <pc:docMk/>
            <pc:sldMk cId="2564781104" sldId="260"/>
            <ac:spMk id="12" creationId="{24AD5197-8BFF-5116-3506-08DF855D69E4}"/>
          </ac:spMkLst>
        </pc:spChg>
        <pc:spChg chg="add del mod">
          <ac:chgData name="Sebastian Hopgood" userId="3d11f01f86dd534e" providerId="LiveId" clId="{9A46CC5A-A5F8-4C4C-A2A6-29D971A32AB5}" dt="2026-04-24T15:22:49.589" v="991" actId="478"/>
          <ac:spMkLst>
            <pc:docMk/>
            <pc:sldMk cId="2564781104" sldId="260"/>
            <ac:spMk id="13" creationId="{CA0A9D0C-9780-3E26-BBE0-1393AD63DB1A}"/>
          </ac:spMkLst>
        </pc:spChg>
        <pc:spChg chg="del">
          <ac:chgData name="Sebastian Hopgood" userId="3d11f01f86dd534e" providerId="LiveId" clId="{9A46CC5A-A5F8-4C4C-A2A6-29D971A32AB5}" dt="2026-04-24T15:01:00.847" v="462" actId="26606"/>
          <ac:spMkLst>
            <pc:docMk/>
            <pc:sldMk cId="2564781104" sldId="260"/>
            <ac:spMk id="14" creationId="{F57F06C3-2B41-25B7-E60E-4BE80B85D99B}"/>
          </ac:spMkLst>
        </pc:spChg>
        <pc:spChg chg="add del mod">
          <ac:chgData name="Sebastian Hopgood" userId="3d11f01f86dd534e" providerId="LiveId" clId="{9A46CC5A-A5F8-4C4C-A2A6-29D971A32AB5}" dt="2026-04-24T15:08:53.010" v="613" actId="478"/>
          <ac:spMkLst>
            <pc:docMk/>
            <pc:sldMk cId="2564781104" sldId="260"/>
            <ac:spMk id="15" creationId="{DBB57209-41FB-FDB3-3AAE-7F2749AB4948}"/>
          </ac:spMkLst>
        </pc:spChg>
        <pc:spChg chg="mod">
          <ac:chgData name="Sebastian Hopgood" userId="3d11f01f86dd534e" providerId="LiveId" clId="{9A46CC5A-A5F8-4C4C-A2A6-29D971A32AB5}" dt="2026-04-24T15:10:05.810" v="699" actId="20577"/>
          <ac:spMkLst>
            <pc:docMk/>
            <pc:sldMk cId="2564781104" sldId="260"/>
            <ac:spMk id="16" creationId="{2799FA2B-2AF6-6FC5-CC9B-D803A61B975B}"/>
          </ac:spMkLst>
        </pc:spChg>
        <pc:spChg chg="add">
          <ac:chgData name="Sebastian Hopgood" userId="3d11f01f86dd534e" providerId="LiveId" clId="{9A46CC5A-A5F8-4C4C-A2A6-29D971A32AB5}" dt="2026-04-24T15:01:00.847" v="462" actId="26606"/>
          <ac:spMkLst>
            <pc:docMk/>
            <pc:sldMk cId="2564781104" sldId="260"/>
            <ac:spMk id="21" creationId="{7DAA46B9-B7E8-4487-B28E-C63A6EB7AA27}"/>
          </ac:spMkLst>
        </pc:spChg>
        <pc:spChg chg="add">
          <ac:chgData name="Sebastian Hopgood" userId="3d11f01f86dd534e" providerId="LiveId" clId="{9A46CC5A-A5F8-4C4C-A2A6-29D971A32AB5}" dt="2026-04-24T15:01:00.847" v="462" actId="26606"/>
          <ac:spMkLst>
            <pc:docMk/>
            <pc:sldMk cId="2564781104" sldId="260"/>
            <ac:spMk id="23" creationId="{C866818C-1E5F-475A-B310-3C06B555FB69}"/>
          </ac:spMkLst>
        </pc:spChg>
        <pc:spChg chg="add">
          <ac:chgData name="Sebastian Hopgood" userId="3d11f01f86dd534e" providerId="LiveId" clId="{9A46CC5A-A5F8-4C4C-A2A6-29D971A32AB5}" dt="2026-04-24T15:01:00.847" v="462" actId="26606"/>
          <ac:spMkLst>
            <pc:docMk/>
            <pc:sldMk cId="2564781104" sldId="260"/>
            <ac:spMk id="25" creationId="{D12AFDE8-E1ED-4A49-B8B3-4953F4B8ACB9}"/>
          </ac:spMkLst>
        </pc:spChg>
        <pc:picChg chg="add mod">
          <ac:chgData name="Sebastian Hopgood" userId="3d11f01f86dd534e" providerId="LiveId" clId="{9A46CC5A-A5F8-4C4C-A2A6-29D971A32AB5}" dt="2026-04-24T15:23:17.976" v="995" actId="2085"/>
          <ac:picMkLst>
            <pc:docMk/>
            <pc:sldMk cId="2564781104" sldId="260"/>
            <ac:picMk id="4" creationId="{17EF0418-6BB7-9184-D09C-BB9A3BCEB0A9}"/>
          </ac:picMkLst>
        </pc:picChg>
        <pc:picChg chg="add del mod ord">
          <ac:chgData name="Sebastian Hopgood" userId="3d11f01f86dd534e" providerId="LiveId" clId="{9A46CC5A-A5F8-4C4C-A2A6-29D971A32AB5}" dt="2026-04-24T15:07:29.204" v="600" actId="478"/>
          <ac:picMkLst>
            <pc:docMk/>
            <pc:sldMk cId="2564781104" sldId="260"/>
            <ac:picMk id="6" creationId="{6A7D904F-C42E-9A85-0361-B8EBEA1A41C5}"/>
          </ac:picMkLst>
        </pc:picChg>
        <pc:picChg chg="add mod">
          <ac:chgData name="Sebastian Hopgood" userId="3d11f01f86dd534e" providerId="LiveId" clId="{9A46CC5A-A5F8-4C4C-A2A6-29D971A32AB5}" dt="2026-04-24T15:23:26.858" v="996" actId="2085"/>
          <ac:picMkLst>
            <pc:docMk/>
            <pc:sldMk cId="2564781104" sldId="260"/>
            <ac:picMk id="9" creationId="{5200B9AC-CB0F-5676-9577-E40DAD9A757E}"/>
          </ac:picMkLst>
        </pc:picChg>
        <pc:picChg chg="del">
          <ac:chgData name="Sebastian Hopgood" userId="3d11f01f86dd534e" providerId="LiveId" clId="{9A46CC5A-A5F8-4C4C-A2A6-29D971A32AB5}" dt="2026-04-24T14:55:48.875" v="391" actId="478"/>
          <ac:picMkLst>
            <pc:docMk/>
            <pc:sldMk cId="2564781104" sldId="260"/>
            <ac:picMk id="11" creationId="{6B418C28-997D-497F-92ED-5A69829C88DE}"/>
          </ac:picMkLst>
        </pc:picChg>
      </pc:sldChg>
      <pc:sldChg chg="addSp delSp modSp add mod">
        <pc:chgData name="Sebastian Hopgood" userId="3d11f01f86dd534e" providerId="LiveId" clId="{9A46CC5A-A5F8-4C4C-A2A6-29D971A32AB5}" dt="2026-04-24T16:23:01.458" v="2295" actId="20577"/>
        <pc:sldMkLst>
          <pc:docMk/>
          <pc:sldMk cId="3013983205" sldId="261"/>
        </pc:sldMkLst>
        <pc:spChg chg="mod">
          <ac:chgData name="Sebastian Hopgood" userId="3d11f01f86dd534e" providerId="LiveId" clId="{9A46CC5A-A5F8-4C4C-A2A6-29D971A32AB5}" dt="2026-04-24T15:18:10.740" v="896" actId="20577"/>
          <ac:spMkLst>
            <pc:docMk/>
            <pc:sldMk cId="3013983205" sldId="261"/>
            <ac:spMk id="2" creationId="{8F46D095-46BE-FE7D-8D69-14EEE2A87FD8}"/>
          </ac:spMkLst>
        </pc:spChg>
        <pc:spChg chg="mod">
          <ac:chgData name="Sebastian Hopgood" userId="3d11f01f86dd534e" providerId="LiveId" clId="{9A46CC5A-A5F8-4C4C-A2A6-29D971A32AB5}" dt="2026-04-24T16:23:01.458" v="2295" actId="20577"/>
          <ac:spMkLst>
            <pc:docMk/>
            <pc:sldMk cId="3013983205" sldId="261"/>
            <ac:spMk id="16" creationId="{C1B7D73E-81F1-0A19-E25D-33F983879FD5}"/>
          </ac:spMkLst>
        </pc:spChg>
        <pc:picChg chg="add mod">
          <ac:chgData name="Sebastian Hopgood" userId="3d11f01f86dd534e" providerId="LiveId" clId="{9A46CC5A-A5F8-4C4C-A2A6-29D971A32AB5}" dt="2026-04-24T15:14:54.025" v="725" actId="14100"/>
          <ac:picMkLst>
            <pc:docMk/>
            <pc:sldMk cId="3013983205" sldId="261"/>
            <ac:picMk id="4" creationId="{E58467B3-7073-7329-7DDC-B04506177486}"/>
          </ac:picMkLst>
        </pc:picChg>
        <pc:picChg chg="del">
          <ac:chgData name="Sebastian Hopgood" userId="3d11f01f86dd534e" providerId="LiveId" clId="{9A46CC5A-A5F8-4C4C-A2A6-29D971A32AB5}" dt="2026-04-24T15:14:27.576" v="717" actId="478"/>
          <ac:picMkLst>
            <pc:docMk/>
            <pc:sldMk cId="3013983205" sldId="261"/>
            <ac:picMk id="11" creationId="{14E93029-5CD5-9881-7C5F-047626DED5F8}"/>
          </ac:picMkLst>
        </pc:picChg>
      </pc:sldChg>
      <pc:sldChg chg="addSp delSp modSp add mod">
        <pc:chgData name="Sebastian Hopgood" userId="3d11f01f86dd534e" providerId="LiveId" clId="{9A46CC5A-A5F8-4C4C-A2A6-29D971A32AB5}" dt="2026-04-24T16:23:06.001" v="2296" actId="20577"/>
        <pc:sldMkLst>
          <pc:docMk/>
          <pc:sldMk cId="3020260456" sldId="262"/>
        </pc:sldMkLst>
        <pc:spChg chg="mod">
          <ac:chgData name="Sebastian Hopgood" userId="3d11f01f86dd534e" providerId="LiveId" clId="{9A46CC5A-A5F8-4C4C-A2A6-29D971A32AB5}" dt="2026-04-24T15:24:15.033" v="1011" actId="403"/>
          <ac:spMkLst>
            <pc:docMk/>
            <pc:sldMk cId="3020260456" sldId="262"/>
            <ac:spMk id="2" creationId="{7D751C45-4CC8-246C-3145-CA046D62BC92}"/>
          </ac:spMkLst>
        </pc:spChg>
        <pc:spChg chg="add del mod">
          <ac:chgData name="Sebastian Hopgood" userId="3d11f01f86dd534e" providerId="LiveId" clId="{9A46CC5A-A5F8-4C4C-A2A6-29D971A32AB5}" dt="2026-04-24T15:21:30.065" v="972" actId="1076"/>
          <ac:spMkLst>
            <pc:docMk/>
            <pc:sldMk cId="3020260456" sldId="262"/>
            <ac:spMk id="5" creationId="{9902F61D-D0C4-E35D-0365-BA41BB307E13}"/>
          </ac:spMkLst>
        </pc:spChg>
        <pc:spChg chg="mod">
          <ac:chgData name="Sebastian Hopgood" userId="3d11f01f86dd534e" providerId="LiveId" clId="{9A46CC5A-A5F8-4C4C-A2A6-29D971A32AB5}" dt="2026-04-24T16:23:06.001" v="2296" actId="20577"/>
          <ac:spMkLst>
            <pc:docMk/>
            <pc:sldMk cId="3020260456" sldId="262"/>
            <ac:spMk id="16" creationId="{37E13C30-5058-5BA4-65E5-673DC6F1845B}"/>
          </ac:spMkLst>
        </pc:spChg>
        <pc:picChg chg="add mod">
          <ac:chgData name="Sebastian Hopgood" userId="3d11f01f86dd534e" providerId="LiveId" clId="{9A46CC5A-A5F8-4C4C-A2A6-29D971A32AB5}" dt="2026-04-24T15:21:15.194" v="966" actId="1076"/>
          <ac:picMkLst>
            <pc:docMk/>
            <pc:sldMk cId="3020260456" sldId="262"/>
            <ac:picMk id="4" creationId="{A8C9BB7A-77D5-241B-E35C-938D13B0ECD6}"/>
          </ac:picMkLst>
        </pc:picChg>
        <pc:picChg chg="del">
          <ac:chgData name="Sebastian Hopgood" userId="3d11f01f86dd534e" providerId="LiveId" clId="{9A46CC5A-A5F8-4C4C-A2A6-29D971A32AB5}" dt="2026-04-24T15:20:43.507" v="958" actId="478"/>
          <ac:picMkLst>
            <pc:docMk/>
            <pc:sldMk cId="3020260456" sldId="262"/>
            <ac:picMk id="11" creationId="{D89924EB-99FA-2BCA-6017-53D3A5D44EDF}"/>
          </ac:picMkLst>
        </pc:picChg>
      </pc:sldChg>
      <pc:sldChg chg="addSp delSp modSp add mod">
        <pc:chgData name="Sebastian Hopgood" userId="3d11f01f86dd534e" providerId="LiveId" clId="{9A46CC5A-A5F8-4C4C-A2A6-29D971A32AB5}" dt="2026-04-24T15:32:37.823" v="1221" actId="20577"/>
        <pc:sldMkLst>
          <pc:docMk/>
          <pc:sldMk cId="2927954819" sldId="263"/>
        </pc:sldMkLst>
        <pc:spChg chg="mod">
          <ac:chgData name="Sebastian Hopgood" userId="3d11f01f86dd534e" providerId="LiveId" clId="{9A46CC5A-A5F8-4C4C-A2A6-29D971A32AB5}" dt="2026-04-24T15:25:05.259" v="1044" actId="404"/>
          <ac:spMkLst>
            <pc:docMk/>
            <pc:sldMk cId="2927954819" sldId="263"/>
            <ac:spMk id="2" creationId="{BA78D4D4-A51C-04FF-92AF-ABA74B81CFFE}"/>
          </ac:spMkLst>
        </pc:spChg>
        <pc:spChg chg="mod">
          <ac:chgData name="Sebastian Hopgood" userId="3d11f01f86dd534e" providerId="LiveId" clId="{9A46CC5A-A5F8-4C4C-A2A6-29D971A32AB5}" dt="2026-04-24T15:32:37.823" v="1221" actId="20577"/>
          <ac:spMkLst>
            <pc:docMk/>
            <pc:sldMk cId="2927954819" sldId="263"/>
            <ac:spMk id="16" creationId="{6820BB59-EF11-B0CF-2CD6-DBDA31F8997B}"/>
          </ac:spMkLst>
        </pc:spChg>
        <pc:picChg chg="add mod">
          <ac:chgData name="Sebastian Hopgood" userId="3d11f01f86dd534e" providerId="LiveId" clId="{9A46CC5A-A5F8-4C4C-A2A6-29D971A32AB5}" dt="2026-04-24T15:29:23.019" v="1056" actId="14100"/>
          <ac:picMkLst>
            <pc:docMk/>
            <pc:sldMk cId="2927954819" sldId="263"/>
            <ac:picMk id="4" creationId="{0D9C4A5E-32D4-148B-7A47-DB0A677E8447}"/>
          </ac:picMkLst>
        </pc:picChg>
        <pc:picChg chg="del">
          <ac:chgData name="Sebastian Hopgood" userId="3d11f01f86dd534e" providerId="LiveId" clId="{9A46CC5A-A5F8-4C4C-A2A6-29D971A32AB5}" dt="2026-04-24T15:26:36.226" v="1049" actId="478"/>
          <ac:picMkLst>
            <pc:docMk/>
            <pc:sldMk cId="2927954819" sldId="263"/>
            <ac:picMk id="11" creationId="{1D7F4E75-7593-63E8-6F4F-C305180F1ECB}"/>
          </ac:picMkLst>
        </pc:picChg>
      </pc:sldChg>
      <pc:sldChg chg="addSp delSp modSp add mod">
        <pc:chgData name="Sebastian Hopgood" userId="3d11f01f86dd534e" providerId="LiveId" clId="{9A46CC5A-A5F8-4C4C-A2A6-29D971A32AB5}" dt="2026-04-24T15:39:39.845" v="1472" actId="1076"/>
        <pc:sldMkLst>
          <pc:docMk/>
          <pc:sldMk cId="2296497070" sldId="264"/>
        </pc:sldMkLst>
        <pc:spChg chg="mod">
          <ac:chgData name="Sebastian Hopgood" userId="3d11f01f86dd534e" providerId="LiveId" clId="{9A46CC5A-A5F8-4C4C-A2A6-29D971A32AB5}" dt="2026-04-24T15:36:28.141" v="1413" actId="403"/>
          <ac:spMkLst>
            <pc:docMk/>
            <pc:sldMk cId="2296497070" sldId="264"/>
            <ac:spMk id="2" creationId="{A66949EE-48F9-BF4E-31DE-6D64E212E49B}"/>
          </ac:spMkLst>
        </pc:spChg>
        <pc:spChg chg="mod">
          <ac:chgData name="Sebastian Hopgood" userId="3d11f01f86dd534e" providerId="LiveId" clId="{9A46CC5A-A5F8-4C4C-A2A6-29D971A32AB5}" dt="2026-04-24T15:39:35.370" v="1470" actId="14100"/>
          <ac:spMkLst>
            <pc:docMk/>
            <pc:sldMk cId="2296497070" sldId="264"/>
            <ac:spMk id="16" creationId="{8874E9CA-85CD-407C-555A-379ABA0EEB64}"/>
          </ac:spMkLst>
        </pc:spChg>
        <pc:picChg chg="add mod">
          <ac:chgData name="Sebastian Hopgood" userId="3d11f01f86dd534e" providerId="LiveId" clId="{9A46CC5A-A5F8-4C4C-A2A6-29D971A32AB5}" dt="2026-04-24T15:39:39.845" v="1472" actId="1076"/>
          <ac:picMkLst>
            <pc:docMk/>
            <pc:sldMk cId="2296497070" sldId="264"/>
            <ac:picMk id="4" creationId="{600B030C-19BB-0907-B532-AFA8ABF698C2}"/>
          </ac:picMkLst>
        </pc:picChg>
        <pc:picChg chg="del mod">
          <ac:chgData name="Sebastian Hopgood" userId="3d11f01f86dd534e" providerId="LiveId" clId="{9A46CC5A-A5F8-4C4C-A2A6-29D971A32AB5}" dt="2026-04-24T15:36:48.367" v="1418" actId="478"/>
          <ac:picMkLst>
            <pc:docMk/>
            <pc:sldMk cId="2296497070" sldId="264"/>
            <ac:picMk id="11" creationId="{6C92E8A6-08FD-220C-1F45-1EA34D80EE0C}"/>
          </ac:picMkLst>
        </pc:picChg>
      </pc:sldChg>
      <pc:sldChg chg="add del">
        <pc:chgData name="Sebastian Hopgood" userId="3d11f01f86dd534e" providerId="LiveId" clId="{9A46CC5A-A5F8-4C4C-A2A6-29D971A32AB5}" dt="2026-04-24T15:44:02.171" v="1544" actId="47"/>
        <pc:sldMkLst>
          <pc:docMk/>
          <pc:sldMk cId="2263382646" sldId="265"/>
        </pc:sldMkLst>
      </pc:sldChg>
      <pc:sldChg chg="addSp delSp modSp new mod setBg setClrOvrMap">
        <pc:chgData name="Sebastian Hopgood" userId="3d11f01f86dd534e" providerId="LiveId" clId="{9A46CC5A-A5F8-4C4C-A2A6-29D971A32AB5}" dt="2026-04-24T15:49:16.590" v="1641" actId="20577"/>
        <pc:sldMkLst>
          <pc:docMk/>
          <pc:sldMk cId="905662138" sldId="266"/>
        </pc:sldMkLst>
        <pc:spChg chg="mod">
          <ac:chgData name="Sebastian Hopgood" userId="3d11f01f86dd534e" providerId="LiveId" clId="{9A46CC5A-A5F8-4C4C-A2A6-29D971A32AB5}" dt="2026-04-24T15:43:47.867" v="1542" actId="20577"/>
          <ac:spMkLst>
            <pc:docMk/>
            <pc:sldMk cId="905662138" sldId="266"/>
            <ac:spMk id="2" creationId="{4292676B-A6F2-1B85-1BE3-09C99C12EF83}"/>
          </ac:spMkLst>
        </pc:spChg>
        <pc:spChg chg="del">
          <ac:chgData name="Sebastian Hopgood" userId="3d11f01f86dd534e" providerId="LiveId" clId="{9A46CC5A-A5F8-4C4C-A2A6-29D971A32AB5}" dt="2026-04-24T15:42:56.479" v="1496" actId="26606"/>
          <ac:spMkLst>
            <pc:docMk/>
            <pc:sldMk cId="905662138" sldId="266"/>
            <ac:spMk id="3" creationId="{C1A48EBA-BD44-9520-13A4-A6FF9BF52E2C}"/>
          </ac:spMkLst>
        </pc:spChg>
        <pc:spChg chg="add">
          <ac:chgData name="Sebastian Hopgood" userId="3d11f01f86dd534e" providerId="LiveId" clId="{9A46CC5A-A5F8-4C4C-A2A6-29D971A32AB5}" dt="2026-04-24T15:42:56.479" v="1496" actId="26606"/>
          <ac:spMkLst>
            <pc:docMk/>
            <pc:sldMk cId="905662138" sldId="266"/>
            <ac:spMk id="8" creationId="{74CD14DB-BB81-479F-A1FC-1C75640E9F84}"/>
          </ac:spMkLst>
        </pc:spChg>
        <pc:spChg chg="add">
          <ac:chgData name="Sebastian Hopgood" userId="3d11f01f86dd534e" providerId="LiveId" clId="{9A46CC5A-A5F8-4C4C-A2A6-29D971A32AB5}" dt="2026-04-24T15:42:56.479" v="1496" actId="26606"/>
          <ac:spMkLst>
            <pc:docMk/>
            <pc:sldMk cId="905662138" sldId="266"/>
            <ac:spMk id="10" creationId="{C943A91B-7CA7-4592-A975-73B1BF8C4C74}"/>
          </ac:spMkLst>
        </pc:spChg>
        <pc:spChg chg="add">
          <ac:chgData name="Sebastian Hopgood" userId="3d11f01f86dd534e" providerId="LiveId" clId="{9A46CC5A-A5F8-4C4C-A2A6-29D971A32AB5}" dt="2026-04-24T15:42:56.479" v="1496" actId="26606"/>
          <ac:spMkLst>
            <pc:docMk/>
            <pc:sldMk cId="905662138" sldId="266"/>
            <ac:spMk id="12" creationId="{EC471314-E46A-414B-8D91-74880E84F187}"/>
          </ac:spMkLst>
        </pc:spChg>
        <pc:spChg chg="add">
          <ac:chgData name="Sebastian Hopgood" userId="3d11f01f86dd534e" providerId="LiveId" clId="{9A46CC5A-A5F8-4C4C-A2A6-29D971A32AB5}" dt="2026-04-24T15:42:56.479" v="1496" actId="26606"/>
          <ac:spMkLst>
            <pc:docMk/>
            <pc:sldMk cId="905662138" sldId="266"/>
            <ac:spMk id="14" creationId="{6A681326-1C9D-44A3-A627-3871BDAE4127}"/>
          </ac:spMkLst>
        </pc:spChg>
        <pc:graphicFrameChg chg="add mod modGraphic">
          <ac:chgData name="Sebastian Hopgood" userId="3d11f01f86dd534e" providerId="LiveId" clId="{9A46CC5A-A5F8-4C4C-A2A6-29D971A32AB5}" dt="2026-04-24T15:49:16.590" v="1641" actId="20577"/>
          <ac:graphicFrameMkLst>
            <pc:docMk/>
            <pc:sldMk cId="905662138" sldId="266"/>
            <ac:graphicFrameMk id="15" creationId="{C1CB66F8-D056-0B7D-FB41-E92DC4DF5AB8}"/>
          </ac:graphicFrameMkLst>
        </pc:graphicFrameChg>
      </pc:sldChg>
      <pc:sldChg chg="addSp delSp modSp new del mod">
        <pc:chgData name="Sebastian Hopgood" userId="3d11f01f86dd534e" providerId="LiveId" clId="{9A46CC5A-A5F8-4C4C-A2A6-29D971A32AB5}" dt="2026-04-24T15:41:53.690" v="1492" actId="47"/>
        <pc:sldMkLst>
          <pc:docMk/>
          <pc:sldMk cId="4014422621" sldId="266"/>
        </pc:sldMkLst>
        <pc:spChg chg="mod">
          <ac:chgData name="Sebastian Hopgood" userId="3d11f01f86dd534e" providerId="LiveId" clId="{9A46CC5A-A5F8-4C4C-A2A6-29D971A32AB5}" dt="2026-04-24T15:40:51.615" v="1481" actId="14100"/>
          <ac:spMkLst>
            <pc:docMk/>
            <pc:sldMk cId="4014422621" sldId="266"/>
            <ac:spMk id="3" creationId="{B0146754-BB02-7B9B-32E0-5C7DE958E409}"/>
          </ac:spMkLst>
        </pc:spChg>
        <pc:spChg chg="mod">
          <ac:chgData name="Sebastian Hopgood" userId="3d11f01f86dd534e" providerId="LiveId" clId="{9A46CC5A-A5F8-4C4C-A2A6-29D971A32AB5}" dt="2026-04-24T15:40:54.528" v="1482" actId="14100"/>
          <ac:spMkLst>
            <pc:docMk/>
            <pc:sldMk cId="4014422621" sldId="266"/>
            <ac:spMk id="4" creationId="{EBC86BEF-BE1A-9C72-2E33-91CB0A62D211}"/>
          </ac:spMkLst>
        </pc:spChg>
        <pc:spChg chg="mod">
          <ac:chgData name="Sebastian Hopgood" userId="3d11f01f86dd534e" providerId="LiveId" clId="{9A46CC5A-A5F8-4C4C-A2A6-29D971A32AB5}" dt="2026-04-24T15:41:03.915" v="1485" actId="1076"/>
          <ac:spMkLst>
            <pc:docMk/>
            <pc:sldMk cId="4014422621" sldId="266"/>
            <ac:spMk id="5" creationId="{B3CCA646-401E-FB38-0B5F-77D28D1FFD7F}"/>
          </ac:spMkLst>
        </pc:spChg>
        <pc:spChg chg="add mod">
          <ac:chgData name="Sebastian Hopgood" userId="3d11f01f86dd534e" providerId="LiveId" clId="{9A46CC5A-A5F8-4C4C-A2A6-29D971A32AB5}" dt="2026-04-24T15:40:22.725" v="1476" actId="767"/>
          <ac:spMkLst>
            <pc:docMk/>
            <pc:sldMk cId="4014422621" sldId="266"/>
            <ac:spMk id="7" creationId="{CE8DF29E-B8C5-E704-C11F-D74B0768ED29}"/>
          </ac:spMkLst>
        </pc:spChg>
        <pc:spChg chg="add del mod">
          <ac:chgData name="Sebastian Hopgood" userId="3d11f01f86dd534e" providerId="LiveId" clId="{9A46CC5A-A5F8-4C4C-A2A6-29D971A32AB5}" dt="2026-04-24T15:40:49.057" v="1480" actId="478"/>
          <ac:spMkLst>
            <pc:docMk/>
            <pc:sldMk cId="4014422621" sldId="266"/>
            <ac:spMk id="8" creationId="{D3F056A8-F894-6243-A981-AFB54A07A044}"/>
          </ac:spMkLst>
        </pc:spChg>
        <pc:spChg chg="add mod">
          <ac:chgData name="Sebastian Hopgood" userId="3d11f01f86dd534e" providerId="LiveId" clId="{9A46CC5A-A5F8-4C4C-A2A6-29D971A32AB5}" dt="2026-04-24T15:41:36.964" v="1491" actId="1076"/>
          <ac:spMkLst>
            <pc:docMk/>
            <pc:sldMk cId="4014422621" sldId="266"/>
            <ac:spMk id="9" creationId="{0A11600D-03C6-1543-9A90-C1AC8881C685}"/>
          </ac:spMkLst>
        </pc:spChg>
      </pc:sldChg>
      <pc:sldChg chg="modSp add mod">
        <pc:chgData name="Sebastian Hopgood" userId="3d11f01f86dd534e" providerId="LiveId" clId="{9A46CC5A-A5F8-4C4C-A2A6-29D971A32AB5}" dt="2026-04-24T15:58:09.643" v="2101" actId="20577"/>
        <pc:sldMkLst>
          <pc:docMk/>
          <pc:sldMk cId="984735882" sldId="267"/>
        </pc:sldMkLst>
        <pc:spChg chg="mod">
          <ac:chgData name="Sebastian Hopgood" userId="3d11f01f86dd534e" providerId="LiveId" clId="{9A46CC5A-A5F8-4C4C-A2A6-29D971A32AB5}" dt="2026-04-24T15:46:54.070" v="1620" actId="20577"/>
          <ac:spMkLst>
            <pc:docMk/>
            <pc:sldMk cId="984735882" sldId="267"/>
            <ac:spMk id="2" creationId="{55B1B68B-2C0E-DB9D-C076-3C883337F9A9}"/>
          </ac:spMkLst>
        </pc:spChg>
        <pc:graphicFrameChg chg="mod modGraphic">
          <ac:chgData name="Sebastian Hopgood" userId="3d11f01f86dd534e" providerId="LiveId" clId="{9A46CC5A-A5F8-4C4C-A2A6-29D971A32AB5}" dt="2026-04-24T15:58:09.643" v="2101" actId="20577"/>
          <ac:graphicFrameMkLst>
            <pc:docMk/>
            <pc:sldMk cId="984735882" sldId="267"/>
            <ac:graphicFrameMk id="15" creationId="{1832D891-5A58-DF51-3FB2-FFA816D58FE9}"/>
          </ac:graphicFrameMkLst>
        </pc:graphicFrameChg>
      </pc:sldChg>
      <pc:sldChg chg="new del">
        <pc:chgData name="Sebastian Hopgood" userId="3d11f01f86dd534e" providerId="LiveId" clId="{9A46CC5A-A5F8-4C4C-A2A6-29D971A32AB5}" dt="2026-04-24T15:42:27.883" v="1495" actId="680"/>
        <pc:sldMkLst>
          <pc:docMk/>
          <pc:sldMk cId="1055867081" sldId="267"/>
        </pc:sldMkLst>
      </pc:sldChg>
      <pc:sldChg chg="modSp new del mod">
        <pc:chgData name="Sebastian Hopgood" userId="3d11f01f86dd534e" providerId="LiveId" clId="{9A46CC5A-A5F8-4C4C-A2A6-29D971A32AB5}" dt="2026-04-24T15:50:18.265" v="1659" actId="2696"/>
        <pc:sldMkLst>
          <pc:docMk/>
          <pc:sldMk cId="2612352474" sldId="268"/>
        </pc:sldMkLst>
        <pc:spChg chg="mod">
          <ac:chgData name="Sebastian Hopgood" userId="3d11f01f86dd534e" providerId="LiveId" clId="{9A46CC5A-A5F8-4C4C-A2A6-29D971A32AB5}" dt="2026-04-24T15:49:53.894" v="1658" actId="20577"/>
          <ac:spMkLst>
            <pc:docMk/>
            <pc:sldMk cId="2612352474" sldId="268"/>
            <ac:spMk id="2" creationId="{FF840871-5EC9-3FDE-B66F-416288B0ED46}"/>
          </ac:spMkLst>
        </pc:spChg>
      </pc:sldChg>
      <pc:sldChg chg="addSp modSp add mod">
        <pc:chgData name="Sebastian Hopgood" userId="3d11f01f86dd534e" providerId="LiveId" clId="{9A46CC5A-A5F8-4C4C-A2A6-29D971A32AB5}" dt="2026-04-24T15:58:27.735" v="2105" actId="20577"/>
        <pc:sldMkLst>
          <pc:docMk/>
          <pc:sldMk cId="4110486180" sldId="268"/>
        </pc:sldMkLst>
        <pc:spChg chg="mod">
          <ac:chgData name="Sebastian Hopgood" userId="3d11f01f86dd534e" providerId="LiveId" clId="{9A46CC5A-A5F8-4C4C-A2A6-29D971A32AB5}" dt="2026-04-24T15:56:58.755" v="2084" actId="20577"/>
          <ac:spMkLst>
            <pc:docMk/>
            <pc:sldMk cId="4110486180" sldId="268"/>
            <ac:spMk id="2" creationId="{5E2CD1DC-3C20-6697-18AA-EB2A225AC8CB}"/>
          </ac:spMkLst>
        </pc:spChg>
        <pc:graphicFrameChg chg="add mod modGraphic">
          <ac:chgData name="Sebastian Hopgood" userId="3d11f01f86dd534e" providerId="LiveId" clId="{9A46CC5A-A5F8-4C4C-A2A6-29D971A32AB5}" dt="2026-04-24T15:57:52.469" v="2089" actId="20577"/>
          <ac:graphicFrameMkLst>
            <pc:docMk/>
            <pc:sldMk cId="4110486180" sldId="268"/>
            <ac:graphicFrameMk id="3" creationId="{91CCBCF1-C129-C518-DF69-AC27CFE7F5FE}"/>
          </ac:graphicFrameMkLst>
        </pc:graphicFrameChg>
        <pc:graphicFrameChg chg="mod modGraphic">
          <ac:chgData name="Sebastian Hopgood" userId="3d11f01f86dd534e" providerId="LiveId" clId="{9A46CC5A-A5F8-4C4C-A2A6-29D971A32AB5}" dt="2026-04-24T15:58:27.735" v="2105" actId="20577"/>
          <ac:graphicFrameMkLst>
            <pc:docMk/>
            <pc:sldMk cId="4110486180" sldId="268"/>
            <ac:graphicFrameMk id="15" creationId="{B75C7B30-B867-010A-1A7E-9BC70C1D09A0}"/>
          </ac:graphicFrameMkLst>
        </pc:graphicFrameChg>
      </pc:sldChg>
      <pc:sldChg chg="addSp delSp modSp new mod setBg">
        <pc:chgData name="Sebastian Hopgood" userId="3d11f01f86dd534e" providerId="LiveId" clId="{9A46CC5A-A5F8-4C4C-A2A6-29D971A32AB5}" dt="2026-04-24T15:59:05.536" v="2114" actId="26606"/>
        <pc:sldMkLst>
          <pc:docMk/>
          <pc:sldMk cId="1565847350" sldId="269"/>
        </pc:sldMkLst>
        <pc:spChg chg="mod">
          <ac:chgData name="Sebastian Hopgood" userId="3d11f01f86dd534e" providerId="LiveId" clId="{9A46CC5A-A5F8-4C4C-A2A6-29D971A32AB5}" dt="2026-04-24T15:59:05.536" v="2114" actId="26606"/>
          <ac:spMkLst>
            <pc:docMk/>
            <pc:sldMk cId="1565847350" sldId="269"/>
            <ac:spMk id="2" creationId="{7B4ED1E2-44AD-0CC4-3A13-95D8C58FFEAA}"/>
          </ac:spMkLst>
        </pc:spChg>
        <pc:spChg chg="del">
          <ac:chgData name="Sebastian Hopgood" userId="3d11f01f86dd534e" providerId="LiveId" clId="{9A46CC5A-A5F8-4C4C-A2A6-29D971A32AB5}" dt="2026-04-24T15:59:05.536" v="2114" actId="26606"/>
          <ac:spMkLst>
            <pc:docMk/>
            <pc:sldMk cId="1565847350" sldId="269"/>
            <ac:spMk id="3" creationId="{8531A0B3-F95D-8200-E2C3-E93B3FB0F3C4}"/>
          </ac:spMkLst>
        </pc:spChg>
        <pc:spChg chg="add">
          <ac:chgData name="Sebastian Hopgood" userId="3d11f01f86dd534e" providerId="LiveId" clId="{9A46CC5A-A5F8-4C4C-A2A6-29D971A32AB5}" dt="2026-04-24T15:59:05.536" v="2114" actId="26606"/>
          <ac:spMkLst>
            <pc:docMk/>
            <pc:sldMk cId="1565847350" sldId="269"/>
            <ac:spMk id="13" creationId="{989BE678-777B-482A-A616-FEDC47B162E5}"/>
          </ac:spMkLst>
        </pc:spChg>
        <pc:spChg chg="add">
          <ac:chgData name="Sebastian Hopgood" userId="3d11f01f86dd534e" providerId="LiveId" clId="{9A46CC5A-A5F8-4C4C-A2A6-29D971A32AB5}" dt="2026-04-24T15:59:05.536" v="2114" actId="26606"/>
          <ac:spMkLst>
            <pc:docMk/>
            <pc:sldMk cId="1565847350" sldId="269"/>
            <ac:spMk id="19" creationId="{D28BE0C3-2102-4820-B88B-A448B1840D14}"/>
          </ac:spMkLst>
        </pc:spChg>
        <pc:spChg chg="add">
          <ac:chgData name="Sebastian Hopgood" userId="3d11f01f86dd534e" providerId="LiveId" clId="{9A46CC5A-A5F8-4C4C-A2A6-29D971A32AB5}" dt="2026-04-24T15:59:05.536" v="2114" actId="26606"/>
          <ac:spMkLst>
            <pc:docMk/>
            <pc:sldMk cId="1565847350" sldId="269"/>
            <ac:spMk id="21" creationId="{E4F17063-EDA4-417B-946F-BA357F3B390D}"/>
          </ac:spMkLst>
        </pc:spChg>
        <pc:spChg chg="add">
          <ac:chgData name="Sebastian Hopgood" userId="3d11f01f86dd534e" providerId="LiveId" clId="{9A46CC5A-A5F8-4C4C-A2A6-29D971A32AB5}" dt="2026-04-24T15:59:05.536" v="2114" actId="26606"/>
          <ac:spMkLst>
            <pc:docMk/>
            <pc:sldMk cId="1565847350" sldId="269"/>
            <ac:spMk id="23" creationId="{D36F3EEA-55D4-4677-80E7-92D00B8F343B}"/>
          </ac:spMkLst>
        </pc:spChg>
        <pc:picChg chg="add">
          <ac:chgData name="Sebastian Hopgood" userId="3d11f01f86dd534e" providerId="LiveId" clId="{9A46CC5A-A5F8-4C4C-A2A6-29D971A32AB5}" dt="2026-04-24T15:59:05.536" v="2114" actId="26606"/>
          <ac:picMkLst>
            <pc:docMk/>
            <pc:sldMk cId="1565847350" sldId="269"/>
            <ac:picMk id="9" creationId="{DF19BAF3-7E20-4B9D-B544-BABAEEA1FA75}"/>
          </ac:picMkLst>
        </pc:picChg>
        <pc:picChg chg="add">
          <ac:chgData name="Sebastian Hopgood" userId="3d11f01f86dd534e" providerId="LiveId" clId="{9A46CC5A-A5F8-4C4C-A2A6-29D971A32AB5}" dt="2026-04-24T15:59:05.536" v="2114" actId="26606"/>
          <ac:picMkLst>
            <pc:docMk/>
            <pc:sldMk cId="1565847350" sldId="269"/>
            <ac:picMk id="11" creationId="{950648F4-ABCD-4DF0-8641-76CFB2354721}"/>
          </ac:picMkLst>
        </pc:picChg>
        <pc:picChg chg="add">
          <ac:chgData name="Sebastian Hopgood" userId="3d11f01f86dd534e" providerId="LiveId" clId="{9A46CC5A-A5F8-4C4C-A2A6-29D971A32AB5}" dt="2026-04-24T15:59:05.536" v="2114" actId="26606"/>
          <ac:picMkLst>
            <pc:docMk/>
            <pc:sldMk cId="1565847350" sldId="269"/>
            <ac:picMk id="15" creationId="{CF1EB4BD-9C7E-4AA3-9681-C7EB0DA6250B}"/>
          </ac:picMkLst>
        </pc:picChg>
        <pc:picChg chg="add">
          <ac:chgData name="Sebastian Hopgood" userId="3d11f01f86dd534e" providerId="LiveId" clId="{9A46CC5A-A5F8-4C4C-A2A6-29D971A32AB5}" dt="2026-04-24T15:59:05.536" v="2114" actId="26606"/>
          <ac:picMkLst>
            <pc:docMk/>
            <pc:sldMk cId="1565847350" sldId="269"/>
            <ac:picMk id="17" creationId="{94AAE3AA-3759-4D28-B0EF-575F25A5146C}"/>
          </ac:picMkLst>
        </pc:picChg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F9AE0A2A-B226-4B66-85BE-6964EEE0051B}" type="doc">
      <dgm:prSet loTypeId="urn:microsoft.com/office/officeart/2024/3/layout/hArchList1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D5227FFA-EEC5-415A-ABED-287C2E15B2E3}">
      <dgm:prSet custT="1"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CA" sz="2000" b="0" i="0" dirty="0"/>
            <a:t>Regional Seller Acquisition​</a:t>
          </a:r>
          <a:endParaRPr lang="en-US" sz="2000" dirty="0"/>
        </a:p>
      </dgm:t>
    </dgm:pt>
    <dgm:pt modelId="{EC77DE3C-41FD-4715-BC4E-F21B77D2E0F4}" type="parTrans" cxnId="{C473D4B0-6CA8-4F6F-86A9-B6366BE20DEA}">
      <dgm:prSet/>
      <dgm:spPr/>
      <dgm:t>
        <a:bodyPr/>
        <a:lstStyle/>
        <a:p>
          <a:endParaRPr lang="en-US"/>
        </a:p>
      </dgm:t>
    </dgm:pt>
    <dgm:pt modelId="{883AE90A-54EE-42A8-8A30-62A36D7C60F8}" type="sibTrans" cxnId="{C473D4B0-6CA8-4F6F-86A9-B6366BE20DEA}">
      <dgm:prSet/>
      <dgm:spPr/>
      <dgm:t>
        <a:bodyPr/>
        <a:lstStyle/>
        <a:p>
          <a:pPr>
            <a:lnSpc>
              <a:spcPct val="100000"/>
            </a:lnSpc>
            <a:defRPr b="1"/>
          </a:pPr>
          <a:endParaRPr lang="en-US"/>
        </a:p>
      </dgm:t>
    </dgm:pt>
    <dgm:pt modelId="{387F5D0A-8D3C-4EFD-8803-3703E8990BB9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1600" b="0" i="0" dirty="0"/>
            <a:t>Launch a targeted recruitment campaign for sellers in SP, MG, PR, RJ, and SC. By increasing seller density in these high-demand zones, Olist can reduce cross-country shipping distances and improve regional competitiveness.</a:t>
          </a:r>
          <a:endParaRPr lang="en-US" sz="1600" dirty="0"/>
        </a:p>
      </dgm:t>
    </dgm:pt>
    <dgm:pt modelId="{CBE2364B-71B8-4D63-84B4-9A6029EBF27C}" type="parTrans" cxnId="{3E8EE3FB-7F34-493D-8E80-FFAE826D3462}">
      <dgm:prSet/>
      <dgm:spPr/>
      <dgm:t>
        <a:bodyPr/>
        <a:lstStyle/>
        <a:p>
          <a:endParaRPr lang="en-US"/>
        </a:p>
      </dgm:t>
    </dgm:pt>
    <dgm:pt modelId="{9B7A988F-9D7D-41A3-A72E-4B267D26FCE7}" type="sibTrans" cxnId="{3E8EE3FB-7F34-493D-8E80-FFAE826D3462}">
      <dgm:prSet/>
      <dgm:spPr/>
      <dgm:t>
        <a:bodyPr/>
        <a:lstStyle/>
        <a:p>
          <a:endParaRPr lang="en-US"/>
        </a:p>
      </dgm:t>
    </dgm:pt>
    <dgm:pt modelId="{53B8CBD1-2F8D-48B6-BE32-6A2350D2CC6C}">
      <dgm:prSet custT="1"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CA" sz="2000" b="0" i="0" dirty="0"/>
            <a:t>Category-Specific Incentives</a:t>
          </a:r>
          <a:endParaRPr lang="en-US" sz="2000" dirty="0"/>
        </a:p>
      </dgm:t>
    </dgm:pt>
    <dgm:pt modelId="{3EBE0DC3-9464-4081-8BCB-5385DFDFE725}" type="parTrans" cxnId="{67178418-AAF8-44F1-85EF-F64FA2A8CD30}">
      <dgm:prSet/>
      <dgm:spPr/>
      <dgm:t>
        <a:bodyPr/>
        <a:lstStyle/>
        <a:p>
          <a:endParaRPr lang="en-US"/>
        </a:p>
      </dgm:t>
    </dgm:pt>
    <dgm:pt modelId="{F4D9885E-0524-4D10-943A-1071F1A5AB41}" type="sibTrans" cxnId="{67178418-AAF8-44F1-85EF-F64FA2A8CD30}">
      <dgm:prSet/>
      <dgm:spPr/>
      <dgm:t>
        <a:bodyPr/>
        <a:lstStyle/>
        <a:p>
          <a:pPr>
            <a:lnSpc>
              <a:spcPct val="100000"/>
            </a:lnSpc>
            <a:defRPr b="1"/>
          </a:pPr>
          <a:endParaRPr lang="en-US"/>
        </a:p>
      </dgm:t>
    </dgm:pt>
    <dgm:pt modelId="{F5E0FAE3-56F1-4728-874D-F6A2A0DA0C2B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1600" b="0" i="0" dirty="0"/>
            <a:t>Since Health &amp; Beauty is the primary growth driver, Olist should offer lower commission rates or "featured placement" for new sellers in this category to capitalize on the upward trend.</a:t>
          </a:r>
          <a:endParaRPr lang="en-US" sz="1600" dirty="0"/>
        </a:p>
      </dgm:t>
    </dgm:pt>
    <dgm:pt modelId="{D4998ABA-1088-4045-92B0-B0C19CBECAD9}" type="parTrans" cxnId="{ED4EE86C-B2F3-4DDD-B230-A91BE55D2012}">
      <dgm:prSet/>
      <dgm:spPr/>
      <dgm:t>
        <a:bodyPr/>
        <a:lstStyle/>
        <a:p>
          <a:endParaRPr lang="en-US"/>
        </a:p>
      </dgm:t>
    </dgm:pt>
    <dgm:pt modelId="{785C20A7-3D4E-4842-A590-28BC5A78FE27}" type="sibTrans" cxnId="{ED4EE86C-B2F3-4DDD-B230-A91BE55D2012}">
      <dgm:prSet/>
      <dgm:spPr/>
      <dgm:t>
        <a:bodyPr/>
        <a:lstStyle/>
        <a:p>
          <a:endParaRPr lang="en-US"/>
        </a:p>
      </dgm:t>
    </dgm:pt>
    <dgm:pt modelId="{9A2E19C2-36A7-4EC6-AC2D-5698E9A1D4F3}">
      <dgm:prSet custT="1"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CA" sz="2000" b="0" i="0" dirty="0"/>
            <a:t>High-Volume Seller Support ​</a:t>
          </a:r>
          <a:endParaRPr lang="en-US" sz="2000" dirty="0"/>
        </a:p>
      </dgm:t>
    </dgm:pt>
    <dgm:pt modelId="{6AF23E32-D007-4EE3-B9A3-64F590C6A7BA}" type="parTrans" cxnId="{5581F8B2-7235-46F0-AE5D-83686F5AF8A2}">
      <dgm:prSet/>
      <dgm:spPr/>
      <dgm:t>
        <a:bodyPr/>
        <a:lstStyle/>
        <a:p>
          <a:endParaRPr lang="en-US"/>
        </a:p>
      </dgm:t>
    </dgm:pt>
    <dgm:pt modelId="{4623C2A8-D8A8-4E77-8D8A-E5EFA674CDE4}" type="sibTrans" cxnId="{5581F8B2-7235-46F0-AE5D-83686F5AF8A2}">
      <dgm:prSet/>
      <dgm:spPr/>
      <dgm:t>
        <a:bodyPr/>
        <a:lstStyle/>
        <a:p>
          <a:endParaRPr lang="en-US"/>
        </a:p>
      </dgm:t>
    </dgm:pt>
    <dgm:pt modelId="{EDAD626E-D6ED-4B8C-AFAA-1EE9B3761626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CA" sz="1400" b="0" i="0" dirty="0"/>
            <a:t>​</a:t>
          </a:r>
          <a:r>
            <a:rPr lang="en-US" sz="1600" b="0" i="0" dirty="0"/>
            <a:t>Provide dedicated account management or premium tools for the Top 10% of sellers to ensure the core 62.4% of revenue (from top 10 categories) remains stable.</a:t>
          </a:r>
          <a:endParaRPr lang="en-US" sz="1400" dirty="0"/>
        </a:p>
      </dgm:t>
    </dgm:pt>
    <dgm:pt modelId="{55359DD5-7AFD-4F82-BE7C-76F7B5FFDAEE}" type="parTrans" cxnId="{EE87AE10-3203-448F-BEBF-9D3DD74BE9D1}">
      <dgm:prSet/>
      <dgm:spPr/>
      <dgm:t>
        <a:bodyPr/>
        <a:lstStyle/>
        <a:p>
          <a:endParaRPr lang="en-US"/>
        </a:p>
      </dgm:t>
    </dgm:pt>
    <dgm:pt modelId="{B3783477-A478-4649-BFE9-C20FBFB47405}" type="sibTrans" cxnId="{EE87AE10-3203-448F-BEBF-9D3DD74BE9D1}">
      <dgm:prSet/>
      <dgm:spPr/>
      <dgm:t>
        <a:bodyPr/>
        <a:lstStyle/>
        <a:p>
          <a:endParaRPr lang="en-US"/>
        </a:p>
      </dgm:t>
    </dgm:pt>
    <dgm:pt modelId="{44275D52-29BF-446B-9F9D-3FE3B9F56D4E}" type="pres">
      <dgm:prSet presAssocID="{F9AE0A2A-B226-4B66-85BE-6964EEE0051B}" presName="Name0" presStyleCnt="0">
        <dgm:presLayoutVars>
          <dgm:dir/>
          <dgm:resizeHandles val="exact"/>
        </dgm:presLayoutVars>
      </dgm:prSet>
      <dgm:spPr/>
    </dgm:pt>
    <dgm:pt modelId="{51EDD0CF-E582-44D7-8C96-18567EC6D772}" type="pres">
      <dgm:prSet presAssocID="{D5227FFA-EEC5-415A-ABED-287C2E15B2E3}" presName="compNode" presStyleCnt="0"/>
      <dgm:spPr/>
    </dgm:pt>
    <dgm:pt modelId="{A27D5FB6-3396-47BE-AC16-AB87A51C3EDB}" type="pres">
      <dgm:prSet presAssocID="{D5227FFA-EEC5-415A-ABED-287C2E15B2E3}" presName="pictRect" presStyleLbl="revTx" presStyleIdx="0" presStyleCnt="6">
        <dgm:presLayoutVars>
          <dgm:chMax val="0"/>
          <dgm:bulletEnabled/>
        </dgm:presLayoutVars>
      </dgm:prSet>
      <dgm:spPr/>
    </dgm:pt>
    <dgm:pt modelId="{05CE3B42-E120-495E-A9D0-D23D4942C21C}" type="pres">
      <dgm:prSet presAssocID="{D5227FFA-EEC5-415A-ABED-287C2E15B2E3}" presName="textRect" presStyleLbl="revTx" presStyleIdx="1" presStyleCnt="6">
        <dgm:presLayoutVars>
          <dgm:bulletEnabled/>
        </dgm:presLayoutVars>
      </dgm:prSet>
      <dgm:spPr/>
    </dgm:pt>
    <dgm:pt modelId="{DAC1CFCD-75E3-4F6B-9FB6-8F675076F4E1}" type="pres">
      <dgm:prSet presAssocID="{883AE90A-54EE-42A8-8A30-62A36D7C60F8}" presName="sibTrans" presStyleLbl="sibTrans2D1" presStyleIdx="0" presStyleCnt="0"/>
      <dgm:spPr/>
    </dgm:pt>
    <dgm:pt modelId="{6B0DB750-E733-4249-B650-EC363E35362F}" type="pres">
      <dgm:prSet presAssocID="{53B8CBD1-2F8D-48B6-BE32-6A2350D2CC6C}" presName="compNode" presStyleCnt="0"/>
      <dgm:spPr/>
    </dgm:pt>
    <dgm:pt modelId="{7A8BCF63-07E0-4B6C-B241-4D51C8D0E3CD}" type="pres">
      <dgm:prSet presAssocID="{53B8CBD1-2F8D-48B6-BE32-6A2350D2CC6C}" presName="pictRect" presStyleLbl="revTx" presStyleIdx="2" presStyleCnt="6">
        <dgm:presLayoutVars>
          <dgm:chMax val="0"/>
          <dgm:bulletEnabled/>
        </dgm:presLayoutVars>
      </dgm:prSet>
      <dgm:spPr/>
    </dgm:pt>
    <dgm:pt modelId="{1BB36243-9F37-4C08-9629-F073713ED775}" type="pres">
      <dgm:prSet presAssocID="{53B8CBD1-2F8D-48B6-BE32-6A2350D2CC6C}" presName="textRect" presStyleLbl="revTx" presStyleIdx="3" presStyleCnt="6">
        <dgm:presLayoutVars>
          <dgm:bulletEnabled/>
        </dgm:presLayoutVars>
      </dgm:prSet>
      <dgm:spPr/>
    </dgm:pt>
    <dgm:pt modelId="{DFD4BA07-C898-4CA5-BF16-C4A006926FA5}" type="pres">
      <dgm:prSet presAssocID="{F4D9885E-0524-4D10-943A-1071F1A5AB41}" presName="sibTrans" presStyleLbl="sibTrans2D1" presStyleIdx="0" presStyleCnt="0"/>
      <dgm:spPr/>
    </dgm:pt>
    <dgm:pt modelId="{1BA84979-B764-4A9F-B7F0-64A3DC8FF325}" type="pres">
      <dgm:prSet presAssocID="{9A2E19C2-36A7-4EC6-AC2D-5698E9A1D4F3}" presName="compNode" presStyleCnt="0"/>
      <dgm:spPr/>
    </dgm:pt>
    <dgm:pt modelId="{B7393799-3185-4098-8B25-1BA88F7E45FA}" type="pres">
      <dgm:prSet presAssocID="{9A2E19C2-36A7-4EC6-AC2D-5698E9A1D4F3}" presName="pictRect" presStyleLbl="revTx" presStyleIdx="4" presStyleCnt="6">
        <dgm:presLayoutVars>
          <dgm:chMax val="0"/>
          <dgm:bulletEnabled/>
        </dgm:presLayoutVars>
      </dgm:prSet>
      <dgm:spPr/>
    </dgm:pt>
    <dgm:pt modelId="{BEAF35DA-0372-4833-B5D4-53ADF197053A}" type="pres">
      <dgm:prSet presAssocID="{9A2E19C2-36A7-4EC6-AC2D-5698E9A1D4F3}" presName="textRect" presStyleLbl="revTx" presStyleIdx="5" presStyleCnt="6">
        <dgm:presLayoutVars>
          <dgm:bulletEnabled/>
        </dgm:presLayoutVars>
      </dgm:prSet>
      <dgm:spPr/>
    </dgm:pt>
  </dgm:ptLst>
  <dgm:cxnLst>
    <dgm:cxn modelId="{EE87AE10-3203-448F-BEBF-9D3DD74BE9D1}" srcId="{9A2E19C2-36A7-4EC6-AC2D-5698E9A1D4F3}" destId="{EDAD626E-D6ED-4B8C-AFAA-1EE9B3761626}" srcOrd="0" destOrd="0" parTransId="{55359DD5-7AFD-4F82-BE7C-76F7B5FFDAEE}" sibTransId="{B3783477-A478-4649-BFE9-C20FBFB47405}"/>
    <dgm:cxn modelId="{67178418-AAF8-44F1-85EF-F64FA2A8CD30}" srcId="{F9AE0A2A-B226-4B66-85BE-6964EEE0051B}" destId="{53B8CBD1-2F8D-48B6-BE32-6A2350D2CC6C}" srcOrd="1" destOrd="0" parTransId="{3EBE0DC3-9464-4081-8BCB-5385DFDFE725}" sibTransId="{F4D9885E-0524-4D10-943A-1071F1A5AB41}"/>
    <dgm:cxn modelId="{FCCA6930-CE20-4CC9-B6E4-B8FF74E5D5DD}" type="presOf" srcId="{F5E0FAE3-56F1-4728-874D-F6A2A0DA0C2B}" destId="{1BB36243-9F37-4C08-9629-F073713ED775}" srcOrd="0" destOrd="0" presId="urn:microsoft.com/office/officeart/2024/3/layout/hArchList1"/>
    <dgm:cxn modelId="{8C940432-7755-469C-8E3D-D6BCC151FCF2}" type="presOf" srcId="{F4D9885E-0524-4D10-943A-1071F1A5AB41}" destId="{DFD4BA07-C898-4CA5-BF16-C4A006926FA5}" srcOrd="0" destOrd="0" presId="urn:microsoft.com/office/officeart/2024/3/layout/hArchList1"/>
    <dgm:cxn modelId="{DCE57E44-6569-4E27-A218-87493B18707A}" type="presOf" srcId="{EDAD626E-D6ED-4B8C-AFAA-1EE9B3761626}" destId="{BEAF35DA-0372-4833-B5D4-53ADF197053A}" srcOrd="0" destOrd="0" presId="urn:microsoft.com/office/officeart/2024/3/layout/hArchList1"/>
    <dgm:cxn modelId="{0F2E9E68-9885-4CBB-B702-AE61EE5B1C62}" type="presOf" srcId="{9A2E19C2-36A7-4EC6-AC2D-5698E9A1D4F3}" destId="{B7393799-3185-4098-8B25-1BA88F7E45FA}" srcOrd="0" destOrd="0" presId="urn:microsoft.com/office/officeart/2024/3/layout/hArchList1"/>
    <dgm:cxn modelId="{ED4EE86C-B2F3-4DDD-B230-A91BE55D2012}" srcId="{53B8CBD1-2F8D-48B6-BE32-6A2350D2CC6C}" destId="{F5E0FAE3-56F1-4728-874D-F6A2A0DA0C2B}" srcOrd="0" destOrd="0" parTransId="{D4998ABA-1088-4045-92B0-B0C19CBECAD9}" sibTransId="{785C20A7-3D4E-4842-A590-28BC5A78FE27}"/>
    <dgm:cxn modelId="{1751ECA0-7E64-426B-8002-8244C91CBB10}" type="presOf" srcId="{D5227FFA-EEC5-415A-ABED-287C2E15B2E3}" destId="{A27D5FB6-3396-47BE-AC16-AB87A51C3EDB}" srcOrd="0" destOrd="0" presId="urn:microsoft.com/office/officeart/2024/3/layout/hArchList1"/>
    <dgm:cxn modelId="{AD3802A7-FDB6-4C7C-B8A8-952EF7DFE145}" type="presOf" srcId="{F9AE0A2A-B226-4B66-85BE-6964EEE0051B}" destId="{44275D52-29BF-446B-9F9D-3FE3B9F56D4E}" srcOrd="0" destOrd="0" presId="urn:microsoft.com/office/officeart/2024/3/layout/hArchList1"/>
    <dgm:cxn modelId="{C473D4B0-6CA8-4F6F-86A9-B6366BE20DEA}" srcId="{F9AE0A2A-B226-4B66-85BE-6964EEE0051B}" destId="{D5227FFA-EEC5-415A-ABED-287C2E15B2E3}" srcOrd="0" destOrd="0" parTransId="{EC77DE3C-41FD-4715-BC4E-F21B77D2E0F4}" sibTransId="{883AE90A-54EE-42A8-8A30-62A36D7C60F8}"/>
    <dgm:cxn modelId="{5581F8B2-7235-46F0-AE5D-83686F5AF8A2}" srcId="{F9AE0A2A-B226-4B66-85BE-6964EEE0051B}" destId="{9A2E19C2-36A7-4EC6-AC2D-5698E9A1D4F3}" srcOrd="2" destOrd="0" parTransId="{6AF23E32-D007-4EE3-B9A3-64F590C6A7BA}" sibTransId="{4623C2A8-D8A8-4E77-8D8A-E5EFA674CDE4}"/>
    <dgm:cxn modelId="{839A5BE8-AC6A-48DE-A4D1-2ADA5BDFA3C8}" type="presOf" srcId="{387F5D0A-8D3C-4EFD-8803-3703E8990BB9}" destId="{05CE3B42-E120-495E-A9D0-D23D4942C21C}" srcOrd="0" destOrd="0" presId="urn:microsoft.com/office/officeart/2024/3/layout/hArchList1"/>
    <dgm:cxn modelId="{EA4714F7-EEB7-4672-B1DB-E6540BF118C4}" type="presOf" srcId="{883AE90A-54EE-42A8-8A30-62A36D7C60F8}" destId="{DAC1CFCD-75E3-4F6B-9FB6-8F675076F4E1}" srcOrd="0" destOrd="0" presId="urn:microsoft.com/office/officeart/2024/3/layout/hArchList1"/>
    <dgm:cxn modelId="{3E8EE3FB-7F34-493D-8E80-FFAE826D3462}" srcId="{D5227FFA-EEC5-415A-ABED-287C2E15B2E3}" destId="{387F5D0A-8D3C-4EFD-8803-3703E8990BB9}" srcOrd="0" destOrd="0" parTransId="{CBE2364B-71B8-4D63-84B4-9A6029EBF27C}" sibTransId="{9B7A988F-9D7D-41A3-A72E-4B267D26FCE7}"/>
    <dgm:cxn modelId="{082799FD-6AAD-470E-971B-A8551AE2E589}" type="presOf" srcId="{53B8CBD1-2F8D-48B6-BE32-6A2350D2CC6C}" destId="{7A8BCF63-07E0-4B6C-B241-4D51C8D0E3CD}" srcOrd="0" destOrd="0" presId="urn:microsoft.com/office/officeart/2024/3/layout/hArchList1"/>
    <dgm:cxn modelId="{EA8389B7-164E-4D50-B9DB-253D78F7B2D9}" type="presParOf" srcId="{44275D52-29BF-446B-9F9D-3FE3B9F56D4E}" destId="{51EDD0CF-E582-44D7-8C96-18567EC6D772}" srcOrd="0" destOrd="0" presId="urn:microsoft.com/office/officeart/2024/3/layout/hArchList1"/>
    <dgm:cxn modelId="{ACC4F950-94DD-4EF9-9D1E-7DDA89071FB6}" type="presParOf" srcId="{51EDD0CF-E582-44D7-8C96-18567EC6D772}" destId="{A27D5FB6-3396-47BE-AC16-AB87A51C3EDB}" srcOrd="0" destOrd="0" presId="urn:microsoft.com/office/officeart/2024/3/layout/hArchList1"/>
    <dgm:cxn modelId="{E162B61E-CF87-44ED-9C26-ECAE86E5AF8D}" type="presParOf" srcId="{51EDD0CF-E582-44D7-8C96-18567EC6D772}" destId="{05CE3B42-E120-495E-A9D0-D23D4942C21C}" srcOrd="1" destOrd="0" presId="urn:microsoft.com/office/officeart/2024/3/layout/hArchList1"/>
    <dgm:cxn modelId="{CE2AE856-9D61-4B11-B5A6-2295EEBB8EA1}" type="presParOf" srcId="{44275D52-29BF-446B-9F9D-3FE3B9F56D4E}" destId="{DAC1CFCD-75E3-4F6B-9FB6-8F675076F4E1}" srcOrd="1" destOrd="0" presId="urn:microsoft.com/office/officeart/2024/3/layout/hArchList1"/>
    <dgm:cxn modelId="{B407B43C-03F5-4EBB-BF07-ACC5D1571688}" type="presParOf" srcId="{44275D52-29BF-446B-9F9D-3FE3B9F56D4E}" destId="{6B0DB750-E733-4249-B650-EC363E35362F}" srcOrd="2" destOrd="0" presId="urn:microsoft.com/office/officeart/2024/3/layout/hArchList1"/>
    <dgm:cxn modelId="{10B4E879-8AC9-46EE-B7E8-D3B175EED88A}" type="presParOf" srcId="{6B0DB750-E733-4249-B650-EC363E35362F}" destId="{7A8BCF63-07E0-4B6C-B241-4D51C8D0E3CD}" srcOrd="0" destOrd="0" presId="urn:microsoft.com/office/officeart/2024/3/layout/hArchList1"/>
    <dgm:cxn modelId="{C6C99686-E3C2-4FF8-9FEB-B9DFA9034486}" type="presParOf" srcId="{6B0DB750-E733-4249-B650-EC363E35362F}" destId="{1BB36243-9F37-4C08-9629-F073713ED775}" srcOrd="1" destOrd="0" presId="urn:microsoft.com/office/officeart/2024/3/layout/hArchList1"/>
    <dgm:cxn modelId="{C401397D-EC83-4872-A5E4-9C0D9512260B}" type="presParOf" srcId="{44275D52-29BF-446B-9F9D-3FE3B9F56D4E}" destId="{DFD4BA07-C898-4CA5-BF16-C4A006926FA5}" srcOrd="3" destOrd="0" presId="urn:microsoft.com/office/officeart/2024/3/layout/hArchList1"/>
    <dgm:cxn modelId="{9F937E0B-53CF-4BDC-A829-55418FD657CE}" type="presParOf" srcId="{44275D52-29BF-446B-9F9D-3FE3B9F56D4E}" destId="{1BA84979-B764-4A9F-B7F0-64A3DC8FF325}" srcOrd="4" destOrd="0" presId="urn:microsoft.com/office/officeart/2024/3/layout/hArchList1"/>
    <dgm:cxn modelId="{39B3158E-A285-4CD1-B077-70745CBD3A85}" type="presParOf" srcId="{1BA84979-B764-4A9F-B7F0-64A3DC8FF325}" destId="{B7393799-3185-4098-8B25-1BA88F7E45FA}" srcOrd="0" destOrd="0" presId="urn:microsoft.com/office/officeart/2024/3/layout/hArchList1"/>
    <dgm:cxn modelId="{6E33805B-3813-4EB9-8AB5-578C6D03A7B1}" type="presParOf" srcId="{1BA84979-B764-4A9F-B7F0-64A3DC8FF325}" destId="{BEAF35DA-0372-4833-B5D4-53ADF197053A}" srcOrd="1" destOrd="0" presId="urn:microsoft.com/office/officeart/2024/3/layout/hArch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F9AE0A2A-B226-4B66-85BE-6964EEE0051B}" type="doc">
      <dgm:prSet loTypeId="urn:microsoft.com/office/officeart/2024/3/layout/hArchList1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D5227FFA-EEC5-415A-ABED-287C2E15B2E3}">
      <dgm:prSet custT="1"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CA" sz="2000" b="0" i="0" dirty="0"/>
            <a:t>Automated Delay Interventions​</a:t>
          </a:r>
          <a:endParaRPr lang="en-US" sz="2000" dirty="0"/>
        </a:p>
      </dgm:t>
    </dgm:pt>
    <dgm:pt modelId="{EC77DE3C-41FD-4715-BC4E-F21B77D2E0F4}" type="parTrans" cxnId="{C473D4B0-6CA8-4F6F-86A9-B6366BE20DEA}">
      <dgm:prSet/>
      <dgm:spPr/>
      <dgm:t>
        <a:bodyPr/>
        <a:lstStyle/>
        <a:p>
          <a:endParaRPr lang="en-US"/>
        </a:p>
      </dgm:t>
    </dgm:pt>
    <dgm:pt modelId="{883AE90A-54EE-42A8-8A30-62A36D7C60F8}" type="sibTrans" cxnId="{C473D4B0-6CA8-4F6F-86A9-B6366BE20DEA}">
      <dgm:prSet/>
      <dgm:spPr/>
      <dgm:t>
        <a:bodyPr/>
        <a:lstStyle/>
        <a:p>
          <a:pPr>
            <a:lnSpc>
              <a:spcPct val="100000"/>
            </a:lnSpc>
            <a:defRPr b="1"/>
          </a:pPr>
          <a:endParaRPr lang="en-US"/>
        </a:p>
      </dgm:t>
    </dgm:pt>
    <dgm:pt modelId="{387F5D0A-8D3C-4EFD-8803-3703E8990BB9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1600" b="0" i="0" dirty="0"/>
            <a:t>Implement an automated "Early Warning System" that triggers at 48 hours of seller processing time. This gives Olist a 24-hour window to nudge sellers before hitting the 3-day sentiment collapse threshold.</a:t>
          </a:r>
          <a:endParaRPr lang="en-US" sz="1600" dirty="0"/>
        </a:p>
      </dgm:t>
    </dgm:pt>
    <dgm:pt modelId="{CBE2364B-71B8-4D63-84B4-9A6029EBF27C}" type="parTrans" cxnId="{3E8EE3FB-7F34-493D-8E80-FFAE826D3462}">
      <dgm:prSet/>
      <dgm:spPr/>
      <dgm:t>
        <a:bodyPr/>
        <a:lstStyle/>
        <a:p>
          <a:endParaRPr lang="en-US"/>
        </a:p>
      </dgm:t>
    </dgm:pt>
    <dgm:pt modelId="{9B7A988F-9D7D-41A3-A72E-4B267D26FCE7}" type="sibTrans" cxnId="{3E8EE3FB-7F34-493D-8E80-FFAE826D3462}">
      <dgm:prSet/>
      <dgm:spPr/>
      <dgm:t>
        <a:bodyPr/>
        <a:lstStyle/>
        <a:p>
          <a:endParaRPr lang="en-US"/>
        </a:p>
      </dgm:t>
    </dgm:pt>
    <dgm:pt modelId="{53B8CBD1-2F8D-48B6-BE32-6A2350D2CC6C}">
      <dgm:prSet custT="1"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CA" sz="2000" b="0" i="0" dirty="0"/>
            <a:t>Predictive Delivery Windows</a:t>
          </a:r>
          <a:endParaRPr lang="en-US" sz="2000" dirty="0"/>
        </a:p>
      </dgm:t>
    </dgm:pt>
    <dgm:pt modelId="{3EBE0DC3-9464-4081-8BCB-5385DFDFE725}" type="parTrans" cxnId="{67178418-AAF8-44F1-85EF-F64FA2A8CD30}">
      <dgm:prSet/>
      <dgm:spPr/>
      <dgm:t>
        <a:bodyPr/>
        <a:lstStyle/>
        <a:p>
          <a:endParaRPr lang="en-US"/>
        </a:p>
      </dgm:t>
    </dgm:pt>
    <dgm:pt modelId="{F4D9885E-0524-4D10-943A-1071F1A5AB41}" type="sibTrans" cxnId="{67178418-AAF8-44F1-85EF-F64FA2A8CD30}">
      <dgm:prSet/>
      <dgm:spPr/>
      <dgm:t>
        <a:bodyPr/>
        <a:lstStyle/>
        <a:p>
          <a:pPr>
            <a:lnSpc>
              <a:spcPct val="100000"/>
            </a:lnSpc>
            <a:defRPr b="1"/>
          </a:pPr>
          <a:endParaRPr lang="en-US"/>
        </a:p>
      </dgm:t>
    </dgm:pt>
    <dgm:pt modelId="{F5E0FAE3-56F1-4728-874D-F6A2A0DA0C2B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1600" b="0" i="0" dirty="0"/>
            <a:t>Adjust the "Estimated Delivery Date" algorithm to be more conservative during Q1 and Q4. By proactively extending the promised date during peak seasons, Olist protects the 92.1% accuracy rate and prevents the 1.5-star "late penalty“.</a:t>
          </a:r>
          <a:endParaRPr lang="en-US" sz="1600" dirty="0"/>
        </a:p>
      </dgm:t>
    </dgm:pt>
    <dgm:pt modelId="{D4998ABA-1088-4045-92B0-B0C19CBECAD9}" type="parTrans" cxnId="{ED4EE86C-B2F3-4DDD-B230-A91BE55D2012}">
      <dgm:prSet/>
      <dgm:spPr/>
      <dgm:t>
        <a:bodyPr/>
        <a:lstStyle/>
        <a:p>
          <a:endParaRPr lang="en-US"/>
        </a:p>
      </dgm:t>
    </dgm:pt>
    <dgm:pt modelId="{785C20A7-3D4E-4842-A590-28BC5A78FE27}" type="sibTrans" cxnId="{ED4EE86C-B2F3-4DDD-B230-A91BE55D2012}">
      <dgm:prSet/>
      <dgm:spPr/>
      <dgm:t>
        <a:bodyPr/>
        <a:lstStyle/>
        <a:p>
          <a:endParaRPr lang="en-US"/>
        </a:p>
      </dgm:t>
    </dgm:pt>
    <dgm:pt modelId="{9A2E19C2-36A7-4EC6-AC2D-5698E9A1D4F3}">
      <dgm:prSet custT="1"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CA" sz="2000" b="0" i="0" dirty="0"/>
            <a:t>Seller Performance Tiering​</a:t>
          </a:r>
          <a:endParaRPr lang="en-US" sz="2000" dirty="0"/>
        </a:p>
      </dgm:t>
    </dgm:pt>
    <dgm:pt modelId="{6AF23E32-D007-4EE3-B9A3-64F590C6A7BA}" type="parTrans" cxnId="{5581F8B2-7235-46F0-AE5D-83686F5AF8A2}">
      <dgm:prSet/>
      <dgm:spPr/>
      <dgm:t>
        <a:bodyPr/>
        <a:lstStyle/>
        <a:p>
          <a:endParaRPr lang="en-US"/>
        </a:p>
      </dgm:t>
    </dgm:pt>
    <dgm:pt modelId="{4623C2A8-D8A8-4E77-8D8A-E5EFA674CDE4}" type="sibTrans" cxnId="{5581F8B2-7235-46F0-AE5D-83686F5AF8A2}">
      <dgm:prSet/>
      <dgm:spPr/>
      <dgm:t>
        <a:bodyPr/>
        <a:lstStyle/>
        <a:p>
          <a:endParaRPr lang="en-US"/>
        </a:p>
      </dgm:t>
    </dgm:pt>
    <dgm:pt modelId="{EDAD626E-D6ED-4B8C-AFAA-1EE9B3761626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1600" b="0" i="0" dirty="0"/>
            <a:t>Incorporate the 1.5-star "late penalty" data into seller KPIs. Sellers who consistently exceed the 12.5-day average lead time should receive lower search rankings to protect the overall marketplace reputation.</a:t>
          </a:r>
          <a:endParaRPr lang="en-US" sz="1600" dirty="0"/>
        </a:p>
      </dgm:t>
    </dgm:pt>
    <dgm:pt modelId="{55359DD5-7AFD-4F82-BE7C-76F7B5FFDAEE}" type="parTrans" cxnId="{EE87AE10-3203-448F-BEBF-9D3DD74BE9D1}">
      <dgm:prSet/>
      <dgm:spPr/>
      <dgm:t>
        <a:bodyPr/>
        <a:lstStyle/>
        <a:p>
          <a:endParaRPr lang="en-US"/>
        </a:p>
      </dgm:t>
    </dgm:pt>
    <dgm:pt modelId="{B3783477-A478-4649-BFE9-C20FBFB47405}" type="sibTrans" cxnId="{EE87AE10-3203-448F-BEBF-9D3DD74BE9D1}">
      <dgm:prSet/>
      <dgm:spPr/>
      <dgm:t>
        <a:bodyPr/>
        <a:lstStyle/>
        <a:p>
          <a:endParaRPr lang="en-US"/>
        </a:p>
      </dgm:t>
    </dgm:pt>
    <dgm:pt modelId="{44275D52-29BF-446B-9F9D-3FE3B9F56D4E}" type="pres">
      <dgm:prSet presAssocID="{F9AE0A2A-B226-4B66-85BE-6964EEE0051B}" presName="Name0" presStyleCnt="0">
        <dgm:presLayoutVars>
          <dgm:dir/>
          <dgm:resizeHandles val="exact"/>
        </dgm:presLayoutVars>
      </dgm:prSet>
      <dgm:spPr/>
    </dgm:pt>
    <dgm:pt modelId="{51EDD0CF-E582-44D7-8C96-18567EC6D772}" type="pres">
      <dgm:prSet presAssocID="{D5227FFA-EEC5-415A-ABED-287C2E15B2E3}" presName="compNode" presStyleCnt="0"/>
      <dgm:spPr/>
    </dgm:pt>
    <dgm:pt modelId="{A27D5FB6-3396-47BE-AC16-AB87A51C3EDB}" type="pres">
      <dgm:prSet presAssocID="{D5227FFA-EEC5-415A-ABED-287C2E15B2E3}" presName="pictRect" presStyleLbl="revTx" presStyleIdx="0" presStyleCnt="6">
        <dgm:presLayoutVars>
          <dgm:chMax val="0"/>
          <dgm:bulletEnabled/>
        </dgm:presLayoutVars>
      </dgm:prSet>
      <dgm:spPr/>
    </dgm:pt>
    <dgm:pt modelId="{05CE3B42-E120-495E-A9D0-D23D4942C21C}" type="pres">
      <dgm:prSet presAssocID="{D5227FFA-EEC5-415A-ABED-287C2E15B2E3}" presName="textRect" presStyleLbl="revTx" presStyleIdx="1" presStyleCnt="6">
        <dgm:presLayoutVars>
          <dgm:bulletEnabled/>
        </dgm:presLayoutVars>
      </dgm:prSet>
      <dgm:spPr/>
    </dgm:pt>
    <dgm:pt modelId="{DAC1CFCD-75E3-4F6B-9FB6-8F675076F4E1}" type="pres">
      <dgm:prSet presAssocID="{883AE90A-54EE-42A8-8A30-62A36D7C60F8}" presName="sibTrans" presStyleLbl="sibTrans2D1" presStyleIdx="0" presStyleCnt="0"/>
      <dgm:spPr/>
    </dgm:pt>
    <dgm:pt modelId="{6B0DB750-E733-4249-B650-EC363E35362F}" type="pres">
      <dgm:prSet presAssocID="{53B8CBD1-2F8D-48B6-BE32-6A2350D2CC6C}" presName="compNode" presStyleCnt="0"/>
      <dgm:spPr/>
    </dgm:pt>
    <dgm:pt modelId="{7A8BCF63-07E0-4B6C-B241-4D51C8D0E3CD}" type="pres">
      <dgm:prSet presAssocID="{53B8CBD1-2F8D-48B6-BE32-6A2350D2CC6C}" presName="pictRect" presStyleLbl="revTx" presStyleIdx="2" presStyleCnt="6">
        <dgm:presLayoutVars>
          <dgm:chMax val="0"/>
          <dgm:bulletEnabled/>
        </dgm:presLayoutVars>
      </dgm:prSet>
      <dgm:spPr/>
    </dgm:pt>
    <dgm:pt modelId="{1BB36243-9F37-4C08-9629-F073713ED775}" type="pres">
      <dgm:prSet presAssocID="{53B8CBD1-2F8D-48B6-BE32-6A2350D2CC6C}" presName="textRect" presStyleLbl="revTx" presStyleIdx="3" presStyleCnt="6">
        <dgm:presLayoutVars>
          <dgm:bulletEnabled/>
        </dgm:presLayoutVars>
      </dgm:prSet>
      <dgm:spPr/>
    </dgm:pt>
    <dgm:pt modelId="{DFD4BA07-C898-4CA5-BF16-C4A006926FA5}" type="pres">
      <dgm:prSet presAssocID="{F4D9885E-0524-4D10-943A-1071F1A5AB41}" presName="sibTrans" presStyleLbl="sibTrans2D1" presStyleIdx="0" presStyleCnt="0"/>
      <dgm:spPr/>
    </dgm:pt>
    <dgm:pt modelId="{1BA84979-B764-4A9F-B7F0-64A3DC8FF325}" type="pres">
      <dgm:prSet presAssocID="{9A2E19C2-36A7-4EC6-AC2D-5698E9A1D4F3}" presName="compNode" presStyleCnt="0"/>
      <dgm:spPr/>
    </dgm:pt>
    <dgm:pt modelId="{B7393799-3185-4098-8B25-1BA88F7E45FA}" type="pres">
      <dgm:prSet presAssocID="{9A2E19C2-36A7-4EC6-AC2D-5698E9A1D4F3}" presName="pictRect" presStyleLbl="revTx" presStyleIdx="4" presStyleCnt="6">
        <dgm:presLayoutVars>
          <dgm:chMax val="0"/>
          <dgm:bulletEnabled/>
        </dgm:presLayoutVars>
      </dgm:prSet>
      <dgm:spPr/>
    </dgm:pt>
    <dgm:pt modelId="{BEAF35DA-0372-4833-B5D4-53ADF197053A}" type="pres">
      <dgm:prSet presAssocID="{9A2E19C2-36A7-4EC6-AC2D-5698E9A1D4F3}" presName="textRect" presStyleLbl="revTx" presStyleIdx="5" presStyleCnt="6">
        <dgm:presLayoutVars>
          <dgm:bulletEnabled/>
        </dgm:presLayoutVars>
      </dgm:prSet>
      <dgm:spPr/>
    </dgm:pt>
  </dgm:ptLst>
  <dgm:cxnLst>
    <dgm:cxn modelId="{EE87AE10-3203-448F-BEBF-9D3DD74BE9D1}" srcId="{9A2E19C2-36A7-4EC6-AC2D-5698E9A1D4F3}" destId="{EDAD626E-D6ED-4B8C-AFAA-1EE9B3761626}" srcOrd="0" destOrd="0" parTransId="{55359DD5-7AFD-4F82-BE7C-76F7B5FFDAEE}" sibTransId="{B3783477-A478-4649-BFE9-C20FBFB47405}"/>
    <dgm:cxn modelId="{67178418-AAF8-44F1-85EF-F64FA2A8CD30}" srcId="{F9AE0A2A-B226-4B66-85BE-6964EEE0051B}" destId="{53B8CBD1-2F8D-48B6-BE32-6A2350D2CC6C}" srcOrd="1" destOrd="0" parTransId="{3EBE0DC3-9464-4081-8BCB-5385DFDFE725}" sibTransId="{F4D9885E-0524-4D10-943A-1071F1A5AB41}"/>
    <dgm:cxn modelId="{FCCA6930-CE20-4CC9-B6E4-B8FF74E5D5DD}" type="presOf" srcId="{F5E0FAE3-56F1-4728-874D-F6A2A0DA0C2B}" destId="{1BB36243-9F37-4C08-9629-F073713ED775}" srcOrd="0" destOrd="0" presId="urn:microsoft.com/office/officeart/2024/3/layout/hArchList1"/>
    <dgm:cxn modelId="{8C940432-7755-469C-8E3D-D6BCC151FCF2}" type="presOf" srcId="{F4D9885E-0524-4D10-943A-1071F1A5AB41}" destId="{DFD4BA07-C898-4CA5-BF16-C4A006926FA5}" srcOrd="0" destOrd="0" presId="urn:microsoft.com/office/officeart/2024/3/layout/hArchList1"/>
    <dgm:cxn modelId="{DCE57E44-6569-4E27-A218-87493B18707A}" type="presOf" srcId="{EDAD626E-D6ED-4B8C-AFAA-1EE9B3761626}" destId="{BEAF35DA-0372-4833-B5D4-53ADF197053A}" srcOrd="0" destOrd="0" presId="urn:microsoft.com/office/officeart/2024/3/layout/hArchList1"/>
    <dgm:cxn modelId="{0F2E9E68-9885-4CBB-B702-AE61EE5B1C62}" type="presOf" srcId="{9A2E19C2-36A7-4EC6-AC2D-5698E9A1D4F3}" destId="{B7393799-3185-4098-8B25-1BA88F7E45FA}" srcOrd="0" destOrd="0" presId="urn:microsoft.com/office/officeart/2024/3/layout/hArchList1"/>
    <dgm:cxn modelId="{ED4EE86C-B2F3-4DDD-B230-A91BE55D2012}" srcId="{53B8CBD1-2F8D-48B6-BE32-6A2350D2CC6C}" destId="{F5E0FAE3-56F1-4728-874D-F6A2A0DA0C2B}" srcOrd="0" destOrd="0" parTransId="{D4998ABA-1088-4045-92B0-B0C19CBECAD9}" sibTransId="{785C20A7-3D4E-4842-A590-28BC5A78FE27}"/>
    <dgm:cxn modelId="{1751ECA0-7E64-426B-8002-8244C91CBB10}" type="presOf" srcId="{D5227FFA-EEC5-415A-ABED-287C2E15B2E3}" destId="{A27D5FB6-3396-47BE-AC16-AB87A51C3EDB}" srcOrd="0" destOrd="0" presId="urn:microsoft.com/office/officeart/2024/3/layout/hArchList1"/>
    <dgm:cxn modelId="{AD3802A7-FDB6-4C7C-B8A8-952EF7DFE145}" type="presOf" srcId="{F9AE0A2A-B226-4B66-85BE-6964EEE0051B}" destId="{44275D52-29BF-446B-9F9D-3FE3B9F56D4E}" srcOrd="0" destOrd="0" presId="urn:microsoft.com/office/officeart/2024/3/layout/hArchList1"/>
    <dgm:cxn modelId="{C473D4B0-6CA8-4F6F-86A9-B6366BE20DEA}" srcId="{F9AE0A2A-B226-4B66-85BE-6964EEE0051B}" destId="{D5227FFA-EEC5-415A-ABED-287C2E15B2E3}" srcOrd="0" destOrd="0" parTransId="{EC77DE3C-41FD-4715-BC4E-F21B77D2E0F4}" sibTransId="{883AE90A-54EE-42A8-8A30-62A36D7C60F8}"/>
    <dgm:cxn modelId="{5581F8B2-7235-46F0-AE5D-83686F5AF8A2}" srcId="{F9AE0A2A-B226-4B66-85BE-6964EEE0051B}" destId="{9A2E19C2-36A7-4EC6-AC2D-5698E9A1D4F3}" srcOrd="2" destOrd="0" parTransId="{6AF23E32-D007-4EE3-B9A3-64F590C6A7BA}" sibTransId="{4623C2A8-D8A8-4E77-8D8A-E5EFA674CDE4}"/>
    <dgm:cxn modelId="{839A5BE8-AC6A-48DE-A4D1-2ADA5BDFA3C8}" type="presOf" srcId="{387F5D0A-8D3C-4EFD-8803-3703E8990BB9}" destId="{05CE3B42-E120-495E-A9D0-D23D4942C21C}" srcOrd="0" destOrd="0" presId="urn:microsoft.com/office/officeart/2024/3/layout/hArchList1"/>
    <dgm:cxn modelId="{EA4714F7-EEB7-4672-B1DB-E6540BF118C4}" type="presOf" srcId="{883AE90A-54EE-42A8-8A30-62A36D7C60F8}" destId="{DAC1CFCD-75E3-4F6B-9FB6-8F675076F4E1}" srcOrd="0" destOrd="0" presId="urn:microsoft.com/office/officeart/2024/3/layout/hArchList1"/>
    <dgm:cxn modelId="{3E8EE3FB-7F34-493D-8E80-FFAE826D3462}" srcId="{D5227FFA-EEC5-415A-ABED-287C2E15B2E3}" destId="{387F5D0A-8D3C-4EFD-8803-3703E8990BB9}" srcOrd="0" destOrd="0" parTransId="{CBE2364B-71B8-4D63-84B4-9A6029EBF27C}" sibTransId="{9B7A988F-9D7D-41A3-A72E-4B267D26FCE7}"/>
    <dgm:cxn modelId="{082799FD-6AAD-470E-971B-A8551AE2E589}" type="presOf" srcId="{53B8CBD1-2F8D-48B6-BE32-6A2350D2CC6C}" destId="{7A8BCF63-07E0-4B6C-B241-4D51C8D0E3CD}" srcOrd="0" destOrd="0" presId="urn:microsoft.com/office/officeart/2024/3/layout/hArchList1"/>
    <dgm:cxn modelId="{EA8389B7-164E-4D50-B9DB-253D78F7B2D9}" type="presParOf" srcId="{44275D52-29BF-446B-9F9D-3FE3B9F56D4E}" destId="{51EDD0CF-E582-44D7-8C96-18567EC6D772}" srcOrd="0" destOrd="0" presId="urn:microsoft.com/office/officeart/2024/3/layout/hArchList1"/>
    <dgm:cxn modelId="{ACC4F950-94DD-4EF9-9D1E-7DDA89071FB6}" type="presParOf" srcId="{51EDD0CF-E582-44D7-8C96-18567EC6D772}" destId="{A27D5FB6-3396-47BE-AC16-AB87A51C3EDB}" srcOrd="0" destOrd="0" presId="urn:microsoft.com/office/officeart/2024/3/layout/hArchList1"/>
    <dgm:cxn modelId="{E162B61E-CF87-44ED-9C26-ECAE86E5AF8D}" type="presParOf" srcId="{51EDD0CF-E582-44D7-8C96-18567EC6D772}" destId="{05CE3B42-E120-495E-A9D0-D23D4942C21C}" srcOrd="1" destOrd="0" presId="urn:microsoft.com/office/officeart/2024/3/layout/hArchList1"/>
    <dgm:cxn modelId="{CE2AE856-9D61-4B11-B5A6-2295EEBB8EA1}" type="presParOf" srcId="{44275D52-29BF-446B-9F9D-3FE3B9F56D4E}" destId="{DAC1CFCD-75E3-4F6B-9FB6-8F675076F4E1}" srcOrd="1" destOrd="0" presId="urn:microsoft.com/office/officeart/2024/3/layout/hArchList1"/>
    <dgm:cxn modelId="{B407B43C-03F5-4EBB-BF07-ACC5D1571688}" type="presParOf" srcId="{44275D52-29BF-446B-9F9D-3FE3B9F56D4E}" destId="{6B0DB750-E733-4249-B650-EC363E35362F}" srcOrd="2" destOrd="0" presId="urn:microsoft.com/office/officeart/2024/3/layout/hArchList1"/>
    <dgm:cxn modelId="{10B4E879-8AC9-46EE-B7E8-D3B175EED88A}" type="presParOf" srcId="{6B0DB750-E733-4249-B650-EC363E35362F}" destId="{7A8BCF63-07E0-4B6C-B241-4D51C8D0E3CD}" srcOrd="0" destOrd="0" presId="urn:microsoft.com/office/officeart/2024/3/layout/hArchList1"/>
    <dgm:cxn modelId="{C6C99686-E3C2-4FF8-9FEB-B9DFA9034486}" type="presParOf" srcId="{6B0DB750-E733-4249-B650-EC363E35362F}" destId="{1BB36243-9F37-4C08-9629-F073713ED775}" srcOrd="1" destOrd="0" presId="urn:microsoft.com/office/officeart/2024/3/layout/hArchList1"/>
    <dgm:cxn modelId="{C401397D-EC83-4872-A5E4-9C0D9512260B}" type="presParOf" srcId="{44275D52-29BF-446B-9F9D-3FE3B9F56D4E}" destId="{DFD4BA07-C898-4CA5-BF16-C4A006926FA5}" srcOrd="3" destOrd="0" presId="urn:microsoft.com/office/officeart/2024/3/layout/hArchList1"/>
    <dgm:cxn modelId="{9F937E0B-53CF-4BDC-A829-55418FD657CE}" type="presParOf" srcId="{44275D52-29BF-446B-9F9D-3FE3B9F56D4E}" destId="{1BA84979-B764-4A9F-B7F0-64A3DC8FF325}" srcOrd="4" destOrd="0" presId="urn:microsoft.com/office/officeart/2024/3/layout/hArchList1"/>
    <dgm:cxn modelId="{39B3158E-A285-4CD1-B077-70745CBD3A85}" type="presParOf" srcId="{1BA84979-B764-4A9F-B7F0-64A3DC8FF325}" destId="{B7393799-3185-4098-8B25-1BA88F7E45FA}" srcOrd="0" destOrd="0" presId="urn:microsoft.com/office/officeart/2024/3/layout/hArchList1"/>
    <dgm:cxn modelId="{6E33805B-3813-4EB9-8AB5-578C6D03A7B1}" type="presParOf" srcId="{1BA84979-B764-4A9F-B7F0-64A3DC8FF325}" destId="{BEAF35DA-0372-4833-B5D4-53ADF197053A}" srcOrd="1" destOrd="0" presId="urn:microsoft.com/office/officeart/2024/3/layout/hArch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F9AE0A2A-B226-4B66-85BE-6964EEE0051B}" type="doc">
      <dgm:prSet loTypeId="urn:microsoft.com/office/officeart/2024/3/layout/hArchList1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D5227FFA-EEC5-415A-ABED-287C2E15B2E3}">
      <dgm:prSet custT="1"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CA" sz="2000" b="0" i="0" dirty="0"/>
            <a:t>Date Gaps </a:t>
          </a:r>
          <a:endParaRPr lang="en-US" sz="2000" dirty="0"/>
        </a:p>
      </dgm:t>
    </dgm:pt>
    <dgm:pt modelId="{EC77DE3C-41FD-4715-BC4E-F21B77D2E0F4}" type="parTrans" cxnId="{C473D4B0-6CA8-4F6F-86A9-B6366BE20DEA}">
      <dgm:prSet/>
      <dgm:spPr/>
      <dgm:t>
        <a:bodyPr/>
        <a:lstStyle/>
        <a:p>
          <a:endParaRPr lang="en-US"/>
        </a:p>
      </dgm:t>
    </dgm:pt>
    <dgm:pt modelId="{883AE90A-54EE-42A8-8A30-62A36D7C60F8}" type="sibTrans" cxnId="{C473D4B0-6CA8-4F6F-86A9-B6366BE20DEA}">
      <dgm:prSet/>
      <dgm:spPr/>
      <dgm:t>
        <a:bodyPr/>
        <a:lstStyle/>
        <a:p>
          <a:pPr>
            <a:lnSpc>
              <a:spcPct val="100000"/>
            </a:lnSpc>
            <a:defRPr b="1"/>
          </a:pPr>
          <a:endParaRPr lang="en-US"/>
        </a:p>
      </dgm:t>
    </dgm:pt>
    <dgm:pt modelId="{387F5D0A-8D3C-4EFD-8803-3703E8990BB9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1600" b="0" i="0" dirty="0"/>
            <a:t>Data from months January 2016 - August 2016 and September 2018 -December 2018 is missing. </a:t>
          </a:r>
        </a:p>
      </dgm:t>
    </dgm:pt>
    <dgm:pt modelId="{CBE2364B-71B8-4D63-84B4-9A6029EBF27C}" type="parTrans" cxnId="{3E8EE3FB-7F34-493D-8E80-FFAE826D3462}">
      <dgm:prSet/>
      <dgm:spPr/>
      <dgm:t>
        <a:bodyPr/>
        <a:lstStyle/>
        <a:p>
          <a:endParaRPr lang="en-US"/>
        </a:p>
      </dgm:t>
    </dgm:pt>
    <dgm:pt modelId="{9B7A988F-9D7D-41A3-A72E-4B267D26FCE7}" type="sibTrans" cxnId="{3E8EE3FB-7F34-493D-8E80-FFAE826D3462}">
      <dgm:prSet/>
      <dgm:spPr/>
      <dgm:t>
        <a:bodyPr/>
        <a:lstStyle/>
        <a:p>
          <a:endParaRPr lang="en-US"/>
        </a:p>
      </dgm:t>
    </dgm:pt>
    <dgm:pt modelId="{53B8CBD1-2F8D-48B6-BE32-6A2350D2CC6C}">
      <dgm:prSet custT="1"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CA" sz="2000" b="0" i="0" dirty="0"/>
            <a:t>Marketplace Profitability</a:t>
          </a:r>
          <a:endParaRPr lang="en-US" sz="2000" dirty="0"/>
        </a:p>
      </dgm:t>
    </dgm:pt>
    <dgm:pt modelId="{3EBE0DC3-9464-4081-8BCB-5385DFDFE725}" type="parTrans" cxnId="{67178418-AAF8-44F1-85EF-F64FA2A8CD30}">
      <dgm:prSet/>
      <dgm:spPr/>
      <dgm:t>
        <a:bodyPr/>
        <a:lstStyle/>
        <a:p>
          <a:endParaRPr lang="en-US"/>
        </a:p>
      </dgm:t>
    </dgm:pt>
    <dgm:pt modelId="{F4D9885E-0524-4D10-943A-1071F1A5AB41}" type="sibTrans" cxnId="{67178418-AAF8-44F1-85EF-F64FA2A8CD30}">
      <dgm:prSet/>
      <dgm:spPr/>
      <dgm:t>
        <a:bodyPr/>
        <a:lstStyle/>
        <a:p>
          <a:pPr>
            <a:lnSpc>
              <a:spcPct val="100000"/>
            </a:lnSpc>
            <a:defRPr b="1"/>
          </a:pPr>
          <a:endParaRPr lang="en-US"/>
        </a:p>
      </dgm:t>
    </dgm:pt>
    <dgm:pt modelId="{F5E0FAE3-56F1-4728-874D-F6A2A0DA0C2B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1600" b="0" i="0" dirty="0"/>
            <a:t>Without specific commission rates or operating costs, analysis is limited to Total Sales rather than Olist’s actual Net Profit.</a:t>
          </a:r>
          <a:endParaRPr lang="en-US" sz="1600" dirty="0"/>
        </a:p>
      </dgm:t>
    </dgm:pt>
    <dgm:pt modelId="{D4998ABA-1088-4045-92B0-B0C19CBECAD9}" type="parTrans" cxnId="{ED4EE86C-B2F3-4DDD-B230-A91BE55D2012}">
      <dgm:prSet/>
      <dgm:spPr/>
      <dgm:t>
        <a:bodyPr/>
        <a:lstStyle/>
        <a:p>
          <a:endParaRPr lang="en-US"/>
        </a:p>
      </dgm:t>
    </dgm:pt>
    <dgm:pt modelId="{785C20A7-3D4E-4842-A590-28BC5A78FE27}" type="sibTrans" cxnId="{ED4EE86C-B2F3-4DDD-B230-A91BE55D2012}">
      <dgm:prSet/>
      <dgm:spPr/>
      <dgm:t>
        <a:bodyPr/>
        <a:lstStyle/>
        <a:p>
          <a:endParaRPr lang="en-US"/>
        </a:p>
      </dgm:t>
    </dgm:pt>
    <dgm:pt modelId="{9A2E19C2-36A7-4EC6-AC2D-5698E9A1D4F3}">
      <dgm:prSet custT="1"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CA" sz="2000" b="0" i="0" dirty="0"/>
            <a:t>Retention Limits</a:t>
          </a:r>
          <a:endParaRPr lang="en-US" sz="2000" dirty="0"/>
        </a:p>
      </dgm:t>
    </dgm:pt>
    <dgm:pt modelId="{6AF23E32-D007-4EE3-B9A3-64F590C6A7BA}" type="parTrans" cxnId="{5581F8B2-7235-46F0-AE5D-83686F5AF8A2}">
      <dgm:prSet/>
      <dgm:spPr/>
      <dgm:t>
        <a:bodyPr/>
        <a:lstStyle/>
        <a:p>
          <a:endParaRPr lang="en-US"/>
        </a:p>
      </dgm:t>
    </dgm:pt>
    <dgm:pt modelId="{4623C2A8-D8A8-4E77-8D8A-E5EFA674CDE4}" type="sibTrans" cxnId="{5581F8B2-7235-46F0-AE5D-83686F5AF8A2}">
      <dgm:prSet/>
      <dgm:spPr/>
      <dgm:t>
        <a:bodyPr/>
        <a:lstStyle/>
        <a:p>
          <a:endParaRPr lang="en-US"/>
        </a:p>
      </dgm:t>
    </dgm:pt>
    <dgm:pt modelId="{EDAD626E-D6ED-4B8C-AFAA-1EE9B3761626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1600" b="0" i="0" dirty="0"/>
            <a:t>98.8% of users are one-time buyers.</a:t>
          </a:r>
          <a:endParaRPr lang="en-US" sz="1600" dirty="0"/>
        </a:p>
      </dgm:t>
    </dgm:pt>
    <dgm:pt modelId="{55359DD5-7AFD-4F82-BE7C-76F7B5FFDAEE}" type="parTrans" cxnId="{EE87AE10-3203-448F-BEBF-9D3DD74BE9D1}">
      <dgm:prSet/>
      <dgm:spPr/>
      <dgm:t>
        <a:bodyPr/>
        <a:lstStyle/>
        <a:p>
          <a:endParaRPr lang="en-US"/>
        </a:p>
      </dgm:t>
    </dgm:pt>
    <dgm:pt modelId="{B3783477-A478-4649-BFE9-C20FBFB47405}" type="sibTrans" cxnId="{EE87AE10-3203-448F-BEBF-9D3DD74BE9D1}">
      <dgm:prSet/>
      <dgm:spPr/>
      <dgm:t>
        <a:bodyPr/>
        <a:lstStyle/>
        <a:p>
          <a:endParaRPr lang="en-US"/>
        </a:p>
      </dgm:t>
    </dgm:pt>
    <dgm:pt modelId="{44275D52-29BF-446B-9F9D-3FE3B9F56D4E}" type="pres">
      <dgm:prSet presAssocID="{F9AE0A2A-B226-4B66-85BE-6964EEE0051B}" presName="Name0" presStyleCnt="0">
        <dgm:presLayoutVars>
          <dgm:dir/>
          <dgm:resizeHandles val="exact"/>
        </dgm:presLayoutVars>
      </dgm:prSet>
      <dgm:spPr/>
    </dgm:pt>
    <dgm:pt modelId="{51EDD0CF-E582-44D7-8C96-18567EC6D772}" type="pres">
      <dgm:prSet presAssocID="{D5227FFA-EEC5-415A-ABED-287C2E15B2E3}" presName="compNode" presStyleCnt="0"/>
      <dgm:spPr/>
    </dgm:pt>
    <dgm:pt modelId="{A27D5FB6-3396-47BE-AC16-AB87A51C3EDB}" type="pres">
      <dgm:prSet presAssocID="{D5227FFA-EEC5-415A-ABED-287C2E15B2E3}" presName="pictRect" presStyleLbl="revTx" presStyleIdx="0" presStyleCnt="6">
        <dgm:presLayoutVars>
          <dgm:chMax val="0"/>
          <dgm:bulletEnabled/>
        </dgm:presLayoutVars>
      </dgm:prSet>
      <dgm:spPr/>
    </dgm:pt>
    <dgm:pt modelId="{05CE3B42-E120-495E-A9D0-D23D4942C21C}" type="pres">
      <dgm:prSet presAssocID="{D5227FFA-EEC5-415A-ABED-287C2E15B2E3}" presName="textRect" presStyleLbl="revTx" presStyleIdx="1" presStyleCnt="6">
        <dgm:presLayoutVars>
          <dgm:bulletEnabled/>
        </dgm:presLayoutVars>
      </dgm:prSet>
      <dgm:spPr/>
    </dgm:pt>
    <dgm:pt modelId="{DAC1CFCD-75E3-4F6B-9FB6-8F675076F4E1}" type="pres">
      <dgm:prSet presAssocID="{883AE90A-54EE-42A8-8A30-62A36D7C60F8}" presName="sibTrans" presStyleLbl="sibTrans2D1" presStyleIdx="0" presStyleCnt="0"/>
      <dgm:spPr/>
    </dgm:pt>
    <dgm:pt modelId="{6B0DB750-E733-4249-B650-EC363E35362F}" type="pres">
      <dgm:prSet presAssocID="{53B8CBD1-2F8D-48B6-BE32-6A2350D2CC6C}" presName="compNode" presStyleCnt="0"/>
      <dgm:spPr/>
    </dgm:pt>
    <dgm:pt modelId="{7A8BCF63-07E0-4B6C-B241-4D51C8D0E3CD}" type="pres">
      <dgm:prSet presAssocID="{53B8CBD1-2F8D-48B6-BE32-6A2350D2CC6C}" presName="pictRect" presStyleLbl="revTx" presStyleIdx="2" presStyleCnt="6">
        <dgm:presLayoutVars>
          <dgm:chMax val="0"/>
          <dgm:bulletEnabled/>
        </dgm:presLayoutVars>
      </dgm:prSet>
      <dgm:spPr/>
    </dgm:pt>
    <dgm:pt modelId="{1BB36243-9F37-4C08-9629-F073713ED775}" type="pres">
      <dgm:prSet presAssocID="{53B8CBD1-2F8D-48B6-BE32-6A2350D2CC6C}" presName="textRect" presStyleLbl="revTx" presStyleIdx="3" presStyleCnt="6">
        <dgm:presLayoutVars>
          <dgm:bulletEnabled/>
        </dgm:presLayoutVars>
      </dgm:prSet>
      <dgm:spPr/>
    </dgm:pt>
    <dgm:pt modelId="{DFD4BA07-C898-4CA5-BF16-C4A006926FA5}" type="pres">
      <dgm:prSet presAssocID="{F4D9885E-0524-4D10-943A-1071F1A5AB41}" presName="sibTrans" presStyleLbl="sibTrans2D1" presStyleIdx="0" presStyleCnt="0"/>
      <dgm:spPr/>
    </dgm:pt>
    <dgm:pt modelId="{1BA84979-B764-4A9F-B7F0-64A3DC8FF325}" type="pres">
      <dgm:prSet presAssocID="{9A2E19C2-36A7-4EC6-AC2D-5698E9A1D4F3}" presName="compNode" presStyleCnt="0"/>
      <dgm:spPr/>
    </dgm:pt>
    <dgm:pt modelId="{B7393799-3185-4098-8B25-1BA88F7E45FA}" type="pres">
      <dgm:prSet presAssocID="{9A2E19C2-36A7-4EC6-AC2D-5698E9A1D4F3}" presName="pictRect" presStyleLbl="revTx" presStyleIdx="4" presStyleCnt="6">
        <dgm:presLayoutVars>
          <dgm:chMax val="0"/>
          <dgm:bulletEnabled/>
        </dgm:presLayoutVars>
      </dgm:prSet>
      <dgm:spPr/>
    </dgm:pt>
    <dgm:pt modelId="{BEAF35DA-0372-4833-B5D4-53ADF197053A}" type="pres">
      <dgm:prSet presAssocID="{9A2E19C2-36A7-4EC6-AC2D-5698E9A1D4F3}" presName="textRect" presStyleLbl="revTx" presStyleIdx="5" presStyleCnt="6">
        <dgm:presLayoutVars>
          <dgm:bulletEnabled/>
        </dgm:presLayoutVars>
      </dgm:prSet>
      <dgm:spPr/>
    </dgm:pt>
  </dgm:ptLst>
  <dgm:cxnLst>
    <dgm:cxn modelId="{EE87AE10-3203-448F-BEBF-9D3DD74BE9D1}" srcId="{9A2E19C2-36A7-4EC6-AC2D-5698E9A1D4F3}" destId="{EDAD626E-D6ED-4B8C-AFAA-1EE9B3761626}" srcOrd="0" destOrd="0" parTransId="{55359DD5-7AFD-4F82-BE7C-76F7B5FFDAEE}" sibTransId="{B3783477-A478-4649-BFE9-C20FBFB47405}"/>
    <dgm:cxn modelId="{67178418-AAF8-44F1-85EF-F64FA2A8CD30}" srcId="{F9AE0A2A-B226-4B66-85BE-6964EEE0051B}" destId="{53B8CBD1-2F8D-48B6-BE32-6A2350D2CC6C}" srcOrd="1" destOrd="0" parTransId="{3EBE0DC3-9464-4081-8BCB-5385DFDFE725}" sibTransId="{F4D9885E-0524-4D10-943A-1071F1A5AB41}"/>
    <dgm:cxn modelId="{FCCA6930-CE20-4CC9-B6E4-B8FF74E5D5DD}" type="presOf" srcId="{F5E0FAE3-56F1-4728-874D-F6A2A0DA0C2B}" destId="{1BB36243-9F37-4C08-9629-F073713ED775}" srcOrd="0" destOrd="0" presId="urn:microsoft.com/office/officeart/2024/3/layout/hArchList1"/>
    <dgm:cxn modelId="{8C940432-7755-469C-8E3D-D6BCC151FCF2}" type="presOf" srcId="{F4D9885E-0524-4D10-943A-1071F1A5AB41}" destId="{DFD4BA07-C898-4CA5-BF16-C4A006926FA5}" srcOrd="0" destOrd="0" presId="urn:microsoft.com/office/officeart/2024/3/layout/hArchList1"/>
    <dgm:cxn modelId="{DCE57E44-6569-4E27-A218-87493B18707A}" type="presOf" srcId="{EDAD626E-D6ED-4B8C-AFAA-1EE9B3761626}" destId="{BEAF35DA-0372-4833-B5D4-53ADF197053A}" srcOrd="0" destOrd="0" presId="urn:microsoft.com/office/officeart/2024/3/layout/hArchList1"/>
    <dgm:cxn modelId="{0F2E9E68-9885-4CBB-B702-AE61EE5B1C62}" type="presOf" srcId="{9A2E19C2-36A7-4EC6-AC2D-5698E9A1D4F3}" destId="{B7393799-3185-4098-8B25-1BA88F7E45FA}" srcOrd="0" destOrd="0" presId="urn:microsoft.com/office/officeart/2024/3/layout/hArchList1"/>
    <dgm:cxn modelId="{ED4EE86C-B2F3-4DDD-B230-A91BE55D2012}" srcId="{53B8CBD1-2F8D-48B6-BE32-6A2350D2CC6C}" destId="{F5E0FAE3-56F1-4728-874D-F6A2A0DA0C2B}" srcOrd="0" destOrd="0" parTransId="{D4998ABA-1088-4045-92B0-B0C19CBECAD9}" sibTransId="{785C20A7-3D4E-4842-A590-28BC5A78FE27}"/>
    <dgm:cxn modelId="{1751ECA0-7E64-426B-8002-8244C91CBB10}" type="presOf" srcId="{D5227FFA-EEC5-415A-ABED-287C2E15B2E3}" destId="{A27D5FB6-3396-47BE-AC16-AB87A51C3EDB}" srcOrd="0" destOrd="0" presId="urn:microsoft.com/office/officeart/2024/3/layout/hArchList1"/>
    <dgm:cxn modelId="{AD3802A7-FDB6-4C7C-B8A8-952EF7DFE145}" type="presOf" srcId="{F9AE0A2A-B226-4B66-85BE-6964EEE0051B}" destId="{44275D52-29BF-446B-9F9D-3FE3B9F56D4E}" srcOrd="0" destOrd="0" presId="urn:microsoft.com/office/officeart/2024/3/layout/hArchList1"/>
    <dgm:cxn modelId="{C473D4B0-6CA8-4F6F-86A9-B6366BE20DEA}" srcId="{F9AE0A2A-B226-4B66-85BE-6964EEE0051B}" destId="{D5227FFA-EEC5-415A-ABED-287C2E15B2E3}" srcOrd="0" destOrd="0" parTransId="{EC77DE3C-41FD-4715-BC4E-F21B77D2E0F4}" sibTransId="{883AE90A-54EE-42A8-8A30-62A36D7C60F8}"/>
    <dgm:cxn modelId="{5581F8B2-7235-46F0-AE5D-83686F5AF8A2}" srcId="{F9AE0A2A-B226-4B66-85BE-6964EEE0051B}" destId="{9A2E19C2-36A7-4EC6-AC2D-5698E9A1D4F3}" srcOrd="2" destOrd="0" parTransId="{6AF23E32-D007-4EE3-B9A3-64F590C6A7BA}" sibTransId="{4623C2A8-D8A8-4E77-8D8A-E5EFA674CDE4}"/>
    <dgm:cxn modelId="{839A5BE8-AC6A-48DE-A4D1-2ADA5BDFA3C8}" type="presOf" srcId="{387F5D0A-8D3C-4EFD-8803-3703E8990BB9}" destId="{05CE3B42-E120-495E-A9D0-D23D4942C21C}" srcOrd="0" destOrd="0" presId="urn:microsoft.com/office/officeart/2024/3/layout/hArchList1"/>
    <dgm:cxn modelId="{EA4714F7-EEB7-4672-B1DB-E6540BF118C4}" type="presOf" srcId="{883AE90A-54EE-42A8-8A30-62A36D7C60F8}" destId="{DAC1CFCD-75E3-4F6B-9FB6-8F675076F4E1}" srcOrd="0" destOrd="0" presId="urn:microsoft.com/office/officeart/2024/3/layout/hArchList1"/>
    <dgm:cxn modelId="{3E8EE3FB-7F34-493D-8E80-FFAE826D3462}" srcId="{D5227FFA-EEC5-415A-ABED-287C2E15B2E3}" destId="{387F5D0A-8D3C-4EFD-8803-3703E8990BB9}" srcOrd="0" destOrd="0" parTransId="{CBE2364B-71B8-4D63-84B4-9A6029EBF27C}" sibTransId="{9B7A988F-9D7D-41A3-A72E-4B267D26FCE7}"/>
    <dgm:cxn modelId="{082799FD-6AAD-470E-971B-A8551AE2E589}" type="presOf" srcId="{53B8CBD1-2F8D-48B6-BE32-6A2350D2CC6C}" destId="{7A8BCF63-07E0-4B6C-B241-4D51C8D0E3CD}" srcOrd="0" destOrd="0" presId="urn:microsoft.com/office/officeart/2024/3/layout/hArchList1"/>
    <dgm:cxn modelId="{EA8389B7-164E-4D50-B9DB-253D78F7B2D9}" type="presParOf" srcId="{44275D52-29BF-446B-9F9D-3FE3B9F56D4E}" destId="{51EDD0CF-E582-44D7-8C96-18567EC6D772}" srcOrd="0" destOrd="0" presId="urn:microsoft.com/office/officeart/2024/3/layout/hArchList1"/>
    <dgm:cxn modelId="{ACC4F950-94DD-4EF9-9D1E-7DDA89071FB6}" type="presParOf" srcId="{51EDD0CF-E582-44D7-8C96-18567EC6D772}" destId="{A27D5FB6-3396-47BE-AC16-AB87A51C3EDB}" srcOrd="0" destOrd="0" presId="urn:microsoft.com/office/officeart/2024/3/layout/hArchList1"/>
    <dgm:cxn modelId="{E162B61E-CF87-44ED-9C26-ECAE86E5AF8D}" type="presParOf" srcId="{51EDD0CF-E582-44D7-8C96-18567EC6D772}" destId="{05CE3B42-E120-495E-A9D0-D23D4942C21C}" srcOrd="1" destOrd="0" presId="urn:microsoft.com/office/officeart/2024/3/layout/hArchList1"/>
    <dgm:cxn modelId="{CE2AE856-9D61-4B11-B5A6-2295EEBB8EA1}" type="presParOf" srcId="{44275D52-29BF-446B-9F9D-3FE3B9F56D4E}" destId="{DAC1CFCD-75E3-4F6B-9FB6-8F675076F4E1}" srcOrd="1" destOrd="0" presId="urn:microsoft.com/office/officeart/2024/3/layout/hArchList1"/>
    <dgm:cxn modelId="{B407B43C-03F5-4EBB-BF07-ACC5D1571688}" type="presParOf" srcId="{44275D52-29BF-446B-9F9D-3FE3B9F56D4E}" destId="{6B0DB750-E733-4249-B650-EC363E35362F}" srcOrd="2" destOrd="0" presId="urn:microsoft.com/office/officeart/2024/3/layout/hArchList1"/>
    <dgm:cxn modelId="{10B4E879-8AC9-46EE-B7E8-D3B175EED88A}" type="presParOf" srcId="{6B0DB750-E733-4249-B650-EC363E35362F}" destId="{7A8BCF63-07E0-4B6C-B241-4D51C8D0E3CD}" srcOrd="0" destOrd="0" presId="urn:microsoft.com/office/officeart/2024/3/layout/hArchList1"/>
    <dgm:cxn modelId="{C6C99686-E3C2-4FF8-9FEB-B9DFA9034486}" type="presParOf" srcId="{6B0DB750-E733-4249-B650-EC363E35362F}" destId="{1BB36243-9F37-4C08-9629-F073713ED775}" srcOrd="1" destOrd="0" presId="urn:microsoft.com/office/officeart/2024/3/layout/hArchList1"/>
    <dgm:cxn modelId="{C401397D-EC83-4872-A5E4-9C0D9512260B}" type="presParOf" srcId="{44275D52-29BF-446B-9F9D-3FE3B9F56D4E}" destId="{DFD4BA07-C898-4CA5-BF16-C4A006926FA5}" srcOrd="3" destOrd="0" presId="urn:microsoft.com/office/officeart/2024/3/layout/hArchList1"/>
    <dgm:cxn modelId="{9F937E0B-53CF-4BDC-A829-55418FD657CE}" type="presParOf" srcId="{44275D52-29BF-446B-9F9D-3FE3B9F56D4E}" destId="{1BA84979-B764-4A9F-B7F0-64A3DC8FF325}" srcOrd="4" destOrd="0" presId="urn:microsoft.com/office/officeart/2024/3/layout/hArchList1"/>
    <dgm:cxn modelId="{39B3158E-A285-4CD1-B077-70745CBD3A85}" type="presParOf" srcId="{1BA84979-B764-4A9F-B7F0-64A3DC8FF325}" destId="{B7393799-3185-4098-8B25-1BA88F7E45FA}" srcOrd="0" destOrd="0" presId="urn:microsoft.com/office/officeart/2024/3/layout/hArchList1"/>
    <dgm:cxn modelId="{6E33805B-3813-4EB9-8AB5-578C6D03A7B1}" type="presParOf" srcId="{1BA84979-B764-4A9F-B7F0-64A3DC8FF325}" destId="{BEAF35DA-0372-4833-B5D4-53ADF197053A}" srcOrd="1" destOrd="0" presId="urn:microsoft.com/office/officeart/2024/3/layout/hArch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F9AE0A2A-B226-4B66-85BE-6964EEE0051B}" type="doc">
      <dgm:prSet loTypeId="urn:microsoft.com/office/officeart/2024/3/layout/hArchList1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D5227FFA-EEC5-415A-ABED-287C2E15B2E3}">
      <dgm:prSet custT="1"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CA" sz="2000" b="0" i="0" dirty="0"/>
            <a:t>Future Work</a:t>
          </a:r>
          <a:endParaRPr lang="en-US" sz="2000" dirty="0"/>
        </a:p>
      </dgm:t>
    </dgm:pt>
    <dgm:pt modelId="{EC77DE3C-41FD-4715-BC4E-F21B77D2E0F4}" type="parTrans" cxnId="{C473D4B0-6CA8-4F6F-86A9-B6366BE20DEA}">
      <dgm:prSet/>
      <dgm:spPr/>
      <dgm:t>
        <a:bodyPr/>
        <a:lstStyle/>
        <a:p>
          <a:endParaRPr lang="en-US"/>
        </a:p>
      </dgm:t>
    </dgm:pt>
    <dgm:pt modelId="{883AE90A-54EE-42A8-8A30-62A36D7C60F8}" type="sibTrans" cxnId="{C473D4B0-6CA8-4F6F-86A9-B6366BE20DEA}">
      <dgm:prSet/>
      <dgm:spPr/>
      <dgm:t>
        <a:bodyPr/>
        <a:lstStyle/>
        <a:p>
          <a:pPr>
            <a:lnSpc>
              <a:spcPct val="100000"/>
            </a:lnSpc>
            <a:defRPr b="1"/>
          </a:pPr>
          <a:endParaRPr lang="en-US"/>
        </a:p>
      </dgm:t>
    </dgm:pt>
    <dgm:pt modelId="{387F5D0A-8D3C-4EFD-8803-3703E8990BB9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1600" b="0" i="0" dirty="0"/>
            <a:t>Future Work: Acquire the remaining 2018 datasets to complete a full 3 - year growth study.</a:t>
          </a:r>
          <a:endParaRPr lang="en-US" sz="1600" dirty="0"/>
        </a:p>
      </dgm:t>
    </dgm:pt>
    <dgm:pt modelId="{CBE2364B-71B8-4D63-84B4-9A6029EBF27C}" type="parTrans" cxnId="{3E8EE3FB-7F34-493D-8E80-FFAE826D3462}">
      <dgm:prSet/>
      <dgm:spPr/>
      <dgm:t>
        <a:bodyPr/>
        <a:lstStyle/>
        <a:p>
          <a:endParaRPr lang="en-US"/>
        </a:p>
      </dgm:t>
    </dgm:pt>
    <dgm:pt modelId="{9B7A988F-9D7D-41A3-A72E-4B267D26FCE7}" type="sibTrans" cxnId="{3E8EE3FB-7F34-493D-8E80-FFAE826D3462}">
      <dgm:prSet/>
      <dgm:spPr/>
      <dgm:t>
        <a:bodyPr/>
        <a:lstStyle/>
        <a:p>
          <a:endParaRPr lang="en-US"/>
        </a:p>
      </dgm:t>
    </dgm:pt>
    <dgm:pt modelId="{53B8CBD1-2F8D-48B6-BE32-6A2350D2CC6C}">
      <dgm:prSet custT="1"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CA" sz="2000" b="0" i="0" dirty="0"/>
            <a:t>Future Work</a:t>
          </a:r>
          <a:endParaRPr lang="en-US" sz="2000" dirty="0"/>
        </a:p>
      </dgm:t>
    </dgm:pt>
    <dgm:pt modelId="{3EBE0DC3-9464-4081-8BCB-5385DFDFE725}" type="parTrans" cxnId="{67178418-AAF8-44F1-85EF-F64FA2A8CD30}">
      <dgm:prSet/>
      <dgm:spPr/>
      <dgm:t>
        <a:bodyPr/>
        <a:lstStyle/>
        <a:p>
          <a:endParaRPr lang="en-US"/>
        </a:p>
      </dgm:t>
    </dgm:pt>
    <dgm:pt modelId="{F4D9885E-0524-4D10-943A-1071F1A5AB41}" type="sibTrans" cxnId="{67178418-AAF8-44F1-85EF-F64FA2A8CD30}">
      <dgm:prSet/>
      <dgm:spPr/>
      <dgm:t>
        <a:bodyPr/>
        <a:lstStyle/>
        <a:p>
          <a:pPr>
            <a:lnSpc>
              <a:spcPct val="100000"/>
            </a:lnSpc>
            <a:defRPr b="1"/>
          </a:pPr>
          <a:endParaRPr lang="en-US"/>
        </a:p>
      </dgm:t>
    </dgm:pt>
    <dgm:pt modelId="{F5E0FAE3-56F1-4728-874D-F6A2A0DA0C2B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1600" b="0" i="0" dirty="0"/>
            <a:t>Future Work: Integrate Olist’s fee structure to calculate actual platform net profit.</a:t>
          </a:r>
          <a:endParaRPr lang="en-US" sz="1600" dirty="0"/>
        </a:p>
      </dgm:t>
    </dgm:pt>
    <dgm:pt modelId="{D4998ABA-1088-4045-92B0-B0C19CBECAD9}" type="parTrans" cxnId="{ED4EE86C-B2F3-4DDD-B230-A91BE55D2012}">
      <dgm:prSet/>
      <dgm:spPr/>
      <dgm:t>
        <a:bodyPr/>
        <a:lstStyle/>
        <a:p>
          <a:endParaRPr lang="en-US"/>
        </a:p>
      </dgm:t>
    </dgm:pt>
    <dgm:pt modelId="{785C20A7-3D4E-4842-A590-28BC5A78FE27}" type="sibTrans" cxnId="{ED4EE86C-B2F3-4DDD-B230-A91BE55D2012}">
      <dgm:prSet/>
      <dgm:spPr/>
      <dgm:t>
        <a:bodyPr/>
        <a:lstStyle/>
        <a:p>
          <a:endParaRPr lang="en-US"/>
        </a:p>
      </dgm:t>
    </dgm:pt>
    <dgm:pt modelId="{9A2E19C2-36A7-4EC6-AC2D-5698E9A1D4F3}">
      <dgm:prSet custT="1"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CA" sz="2000" b="0" i="0" dirty="0"/>
            <a:t>Future Work</a:t>
          </a:r>
        </a:p>
      </dgm:t>
    </dgm:pt>
    <dgm:pt modelId="{6AF23E32-D007-4EE3-B9A3-64F590C6A7BA}" type="parTrans" cxnId="{5581F8B2-7235-46F0-AE5D-83686F5AF8A2}">
      <dgm:prSet/>
      <dgm:spPr/>
      <dgm:t>
        <a:bodyPr/>
        <a:lstStyle/>
        <a:p>
          <a:endParaRPr lang="en-US"/>
        </a:p>
      </dgm:t>
    </dgm:pt>
    <dgm:pt modelId="{4623C2A8-D8A8-4E77-8D8A-E5EFA674CDE4}" type="sibTrans" cxnId="{5581F8B2-7235-46F0-AE5D-83686F5AF8A2}">
      <dgm:prSet/>
      <dgm:spPr/>
      <dgm:t>
        <a:bodyPr/>
        <a:lstStyle/>
        <a:p>
          <a:endParaRPr lang="en-US"/>
        </a:p>
      </dgm:t>
    </dgm:pt>
    <dgm:pt modelId="{EDAD626E-D6ED-4B8C-AFAA-1EE9B3761626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1600" b="0" i="0" dirty="0"/>
            <a:t>Future Work: Conduct a Cohort Analysis to identify what drives the small percentage of returning "power users“.</a:t>
          </a:r>
        </a:p>
        <a:p>
          <a:pPr>
            <a:lnSpc>
              <a:spcPct val="100000"/>
            </a:lnSpc>
          </a:pPr>
          <a:endParaRPr lang="en-US" sz="1600" dirty="0"/>
        </a:p>
      </dgm:t>
    </dgm:pt>
    <dgm:pt modelId="{55359DD5-7AFD-4F82-BE7C-76F7B5FFDAEE}" type="parTrans" cxnId="{EE87AE10-3203-448F-BEBF-9D3DD74BE9D1}">
      <dgm:prSet/>
      <dgm:spPr/>
      <dgm:t>
        <a:bodyPr/>
        <a:lstStyle/>
        <a:p>
          <a:endParaRPr lang="en-US"/>
        </a:p>
      </dgm:t>
    </dgm:pt>
    <dgm:pt modelId="{B3783477-A478-4649-BFE9-C20FBFB47405}" type="sibTrans" cxnId="{EE87AE10-3203-448F-BEBF-9D3DD74BE9D1}">
      <dgm:prSet/>
      <dgm:spPr/>
      <dgm:t>
        <a:bodyPr/>
        <a:lstStyle/>
        <a:p>
          <a:endParaRPr lang="en-US"/>
        </a:p>
      </dgm:t>
    </dgm:pt>
    <dgm:pt modelId="{44275D52-29BF-446B-9F9D-3FE3B9F56D4E}" type="pres">
      <dgm:prSet presAssocID="{F9AE0A2A-B226-4B66-85BE-6964EEE0051B}" presName="Name0" presStyleCnt="0">
        <dgm:presLayoutVars>
          <dgm:dir/>
          <dgm:resizeHandles val="exact"/>
        </dgm:presLayoutVars>
      </dgm:prSet>
      <dgm:spPr/>
    </dgm:pt>
    <dgm:pt modelId="{51EDD0CF-E582-44D7-8C96-18567EC6D772}" type="pres">
      <dgm:prSet presAssocID="{D5227FFA-EEC5-415A-ABED-287C2E15B2E3}" presName="compNode" presStyleCnt="0"/>
      <dgm:spPr/>
    </dgm:pt>
    <dgm:pt modelId="{A27D5FB6-3396-47BE-AC16-AB87A51C3EDB}" type="pres">
      <dgm:prSet presAssocID="{D5227FFA-EEC5-415A-ABED-287C2E15B2E3}" presName="pictRect" presStyleLbl="revTx" presStyleIdx="0" presStyleCnt="6">
        <dgm:presLayoutVars>
          <dgm:chMax val="0"/>
          <dgm:bulletEnabled/>
        </dgm:presLayoutVars>
      </dgm:prSet>
      <dgm:spPr/>
    </dgm:pt>
    <dgm:pt modelId="{05CE3B42-E120-495E-A9D0-D23D4942C21C}" type="pres">
      <dgm:prSet presAssocID="{D5227FFA-EEC5-415A-ABED-287C2E15B2E3}" presName="textRect" presStyleLbl="revTx" presStyleIdx="1" presStyleCnt="6">
        <dgm:presLayoutVars>
          <dgm:bulletEnabled/>
        </dgm:presLayoutVars>
      </dgm:prSet>
      <dgm:spPr/>
    </dgm:pt>
    <dgm:pt modelId="{DAC1CFCD-75E3-4F6B-9FB6-8F675076F4E1}" type="pres">
      <dgm:prSet presAssocID="{883AE90A-54EE-42A8-8A30-62A36D7C60F8}" presName="sibTrans" presStyleLbl="sibTrans2D1" presStyleIdx="0" presStyleCnt="0"/>
      <dgm:spPr/>
    </dgm:pt>
    <dgm:pt modelId="{6B0DB750-E733-4249-B650-EC363E35362F}" type="pres">
      <dgm:prSet presAssocID="{53B8CBD1-2F8D-48B6-BE32-6A2350D2CC6C}" presName="compNode" presStyleCnt="0"/>
      <dgm:spPr/>
    </dgm:pt>
    <dgm:pt modelId="{7A8BCF63-07E0-4B6C-B241-4D51C8D0E3CD}" type="pres">
      <dgm:prSet presAssocID="{53B8CBD1-2F8D-48B6-BE32-6A2350D2CC6C}" presName="pictRect" presStyleLbl="revTx" presStyleIdx="2" presStyleCnt="6">
        <dgm:presLayoutVars>
          <dgm:chMax val="0"/>
          <dgm:bulletEnabled/>
        </dgm:presLayoutVars>
      </dgm:prSet>
      <dgm:spPr/>
    </dgm:pt>
    <dgm:pt modelId="{1BB36243-9F37-4C08-9629-F073713ED775}" type="pres">
      <dgm:prSet presAssocID="{53B8CBD1-2F8D-48B6-BE32-6A2350D2CC6C}" presName="textRect" presStyleLbl="revTx" presStyleIdx="3" presStyleCnt="6">
        <dgm:presLayoutVars>
          <dgm:bulletEnabled/>
        </dgm:presLayoutVars>
      </dgm:prSet>
      <dgm:spPr/>
    </dgm:pt>
    <dgm:pt modelId="{DFD4BA07-C898-4CA5-BF16-C4A006926FA5}" type="pres">
      <dgm:prSet presAssocID="{F4D9885E-0524-4D10-943A-1071F1A5AB41}" presName="sibTrans" presStyleLbl="sibTrans2D1" presStyleIdx="0" presStyleCnt="0"/>
      <dgm:spPr/>
    </dgm:pt>
    <dgm:pt modelId="{1BA84979-B764-4A9F-B7F0-64A3DC8FF325}" type="pres">
      <dgm:prSet presAssocID="{9A2E19C2-36A7-4EC6-AC2D-5698E9A1D4F3}" presName="compNode" presStyleCnt="0"/>
      <dgm:spPr/>
    </dgm:pt>
    <dgm:pt modelId="{B7393799-3185-4098-8B25-1BA88F7E45FA}" type="pres">
      <dgm:prSet presAssocID="{9A2E19C2-36A7-4EC6-AC2D-5698E9A1D4F3}" presName="pictRect" presStyleLbl="revTx" presStyleIdx="4" presStyleCnt="6">
        <dgm:presLayoutVars>
          <dgm:chMax val="0"/>
          <dgm:bulletEnabled/>
        </dgm:presLayoutVars>
      </dgm:prSet>
      <dgm:spPr/>
    </dgm:pt>
    <dgm:pt modelId="{BEAF35DA-0372-4833-B5D4-53ADF197053A}" type="pres">
      <dgm:prSet presAssocID="{9A2E19C2-36A7-4EC6-AC2D-5698E9A1D4F3}" presName="textRect" presStyleLbl="revTx" presStyleIdx="5" presStyleCnt="6">
        <dgm:presLayoutVars>
          <dgm:bulletEnabled/>
        </dgm:presLayoutVars>
      </dgm:prSet>
      <dgm:spPr/>
    </dgm:pt>
  </dgm:ptLst>
  <dgm:cxnLst>
    <dgm:cxn modelId="{EE87AE10-3203-448F-BEBF-9D3DD74BE9D1}" srcId="{9A2E19C2-36A7-4EC6-AC2D-5698E9A1D4F3}" destId="{EDAD626E-D6ED-4B8C-AFAA-1EE9B3761626}" srcOrd="0" destOrd="0" parTransId="{55359DD5-7AFD-4F82-BE7C-76F7B5FFDAEE}" sibTransId="{B3783477-A478-4649-BFE9-C20FBFB47405}"/>
    <dgm:cxn modelId="{67178418-AAF8-44F1-85EF-F64FA2A8CD30}" srcId="{F9AE0A2A-B226-4B66-85BE-6964EEE0051B}" destId="{53B8CBD1-2F8D-48B6-BE32-6A2350D2CC6C}" srcOrd="1" destOrd="0" parTransId="{3EBE0DC3-9464-4081-8BCB-5385DFDFE725}" sibTransId="{F4D9885E-0524-4D10-943A-1071F1A5AB41}"/>
    <dgm:cxn modelId="{FCCA6930-CE20-4CC9-B6E4-B8FF74E5D5DD}" type="presOf" srcId="{F5E0FAE3-56F1-4728-874D-F6A2A0DA0C2B}" destId="{1BB36243-9F37-4C08-9629-F073713ED775}" srcOrd="0" destOrd="0" presId="urn:microsoft.com/office/officeart/2024/3/layout/hArchList1"/>
    <dgm:cxn modelId="{8C940432-7755-469C-8E3D-D6BCC151FCF2}" type="presOf" srcId="{F4D9885E-0524-4D10-943A-1071F1A5AB41}" destId="{DFD4BA07-C898-4CA5-BF16-C4A006926FA5}" srcOrd="0" destOrd="0" presId="urn:microsoft.com/office/officeart/2024/3/layout/hArchList1"/>
    <dgm:cxn modelId="{DCE57E44-6569-4E27-A218-87493B18707A}" type="presOf" srcId="{EDAD626E-D6ED-4B8C-AFAA-1EE9B3761626}" destId="{BEAF35DA-0372-4833-B5D4-53ADF197053A}" srcOrd="0" destOrd="0" presId="urn:microsoft.com/office/officeart/2024/3/layout/hArchList1"/>
    <dgm:cxn modelId="{0F2E9E68-9885-4CBB-B702-AE61EE5B1C62}" type="presOf" srcId="{9A2E19C2-36A7-4EC6-AC2D-5698E9A1D4F3}" destId="{B7393799-3185-4098-8B25-1BA88F7E45FA}" srcOrd="0" destOrd="0" presId="urn:microsoft.com/office/officeart/2024/3/layout/hArchList1"/>
    <dgm:cxn modelId="{ED4EE86C-B2F3-4DDD-B230-A91BE55D2012}" srcId="{53B8CBD1-2F8D-48B6-BE32-6A2350D2CC6C}" destId="{F5E0FAE3-56F1-4728-874D-F6A2A0DA0C2B}" srcOrd="0" destOrd="0" parTransId="{D4998ABA-1088-4045-92B0-B0C19CBECAD9}" sibTransId="{785C20A7-3D4E-4842-A590-28BC5A78FE27}"/>
    <dgm:cxn modelId="{1751ECA0-7E64-426B-8002-8244C91CBB10}" type="presOf" srcId="{D5227FFA-EEC5-415A-ABED-287C2E15B2E3}" destId="{A27D5FB6-3396-47BE-AC16-AB87A51C3EDB}" srcOrd="0" destOrd="0" presId="urn:microsoft.com/office/officeart/2024/3/layout/hArchList1"/>
    <dgm:cxn modelId="{AD3802A7-FDB6-4C7C-B8A8-952EF7DFE145}" type="presOf" srcId="{F9AE0A2A-B226-4B66-85BE-6964EEE0051B}" destId="{44275D52-29BF-446B-9F9D-3FE3B9F56D4E}" srcOrd="0" destOrd="0" presId="urn:microsoft.com/office/officeart/2024/3/layout/hArchList1"/>
    <dgm:cxn modelId="{C473D4B0-6CA8-4F6F-86A9-B6366BE20DEA}" srcId="{F9AE0A2A-B226-4B66-85BE-6964EEE0051B}" destId="{D5227FFA-EEC5-415A-ABED-287C2E15B2E3}" srcOrd="0" destOrd="0" parTransId="{EC77DE3C-41FD-4715-BC4E-F21B77D2E0F4}" sibTransId="{883AE90A-54EE-42A8-8A30-62A36D7C60F8}"/>
    <dgm:cxn modelId="{5581F8B2-7235-46F0-AE5D-83686F5AF8A2}" srcId="{F9AE0A2A-B226-4B66-85BE-6964EEE0051B}" destId="{9A2E19C2-36A7-4EC6-AC2D-5698E9A1D4F3}" srcOrd="2" destOrd="0" parTransId="{6AF23E32-D007-4EE3-B9A3-64F590C6A7BA}" sibTransId="{4623C2A8-D8A8-4E77-8D8A-E5EFA674CDE4}"/>
    <dgm:cxn modelId="{839A5BE8-AC6A-48DE-A4D1-2ADA5BDFA3C8}" type="presOf" srcId="{387F5D0A-8D3C-4EFD-8803-3703E8990BB9}" destId="{05CE3B42-E120-495E-A9D0-D23D4942C21C}" srcOrd="0" destOrd="0" presId="urn:microsoft.com/office/officeart/2024/3/layout/hArchList1"/>
    <dgm:cxn modelId="{EA4714F7-EEB7-4672-B1DB-E6540BF118C4}" type="presOf" srcId="{883AE90A-54EE-42A8-8A30-62A36D7C60F8}" destId="{DAC1CFCD-75E3-4F6B-9FB6-8F675076F4E1}" srcOrd="0" destOrd="0" presId="urn:microsoft.com/office/officeart/2024/3/layout/hArchList1"/>
    <dgm:cxn modelId="{3E8EE3FB-7F34-493D-8E80-FFAE826D3462}" srcId="{D5227FFA-EEC5-415A-ABED-287C2E15B2E3}" destId="{387F5D0A-8D3C-4EFD-8803-3703E8990BB9}" srcOrd="0" destOrd="0" parTransId="{CBE2364B-71B8-4D63-84B4-9A6029EBF27C}" sibTransId="{9B7A988F-9D7D-41A3-A72E-4B267D26FCE7}"/>
    <dgm:cxn modelId="{082799FD-6AAD-470E-971B-A8551AE2E589}" type="presOf" srcId="{53B8CBD1-2F8D-48B6-BE32-6A2350D2CC6C}" destId="{7A8BCF63-07E0-4B6C-B241-4D51C8D0E3CD}" srcOrd="0" destOrd="0" presId="urn:microsoft.com/office/officeart/2024/3/layout/hArchList1"/>
    <dgm:cxn modelId="{EA8389B7-164E-4D50-B9DB-253D78F7B2D9}" type="presParOf" srcId="{44275D52-29BF-446B-9F9D-3FE3B9F56D4E}" destId="{51EDD0CF-E582-44D7-8C96-18567EC6D772}" srcOrd="0" destOrd="0" presId="urn:microsoft.com/office/officeart/2024/3/layout/hArchList1"/>
    <dgm:cxn modelId="{ACC4F950-94DD-4EF9-9D1E-7DDA89071FB6}" type="presParOf" srcId="{51EDD0CF-E582-44D7-8C96-18567EC6D772}" destId="{A27D5FB6-3396-47BE-AC16-AB87A51C3EDB}" srcOrd="0" destOrd="0" presId="urn:microsoft.com/office/officeart/2024/3/layout/hArchList1"/>
    <dgm:cxn modelId="{E162B61E-CF87-44ED-9C26-ECAE86E5AF8D}" type="presParOf" srcId="{51EDD0CF-E582-44D7-8C96-18567EC6D772}" destId="{05CE3B42-E120-495E-A9D0-D23D4942C21C}" srcOrd="1" destOrd="0" presId="urn:microsoft.com/office/officeart/2024/3/layout/hArchList1"/>
    <dgm:cxn modelId="{CE2AE856-9D61-4B11-B5A6-2295EEBB8EA1}" type="presParOf" srcId="{44275D52-29BF-446B-9F9D-3FE3B9F56D4E}" destId="{DAC1CFCD-75E3-4F6B-9FB6-8F675076F4E1}" srcOrd="1" destOrd="0" presId="urn:microsoft.com/office/officeart/2024/3/layout/hArchList1"/>
    <dgm:cxn modelId="{B407B43C-03F5-4EBB-BF07-ACC5D1571688}" type="presParOf" srcId="{44275D52-29BF-446B-9F9D-3FE3B9F56D4E}" destId="{6B0DB750-E733-4249-B650-EC363E35362F}" srcOrd="2" destOrd="0" presId="urn:microsoft.com/office/officeart/2024/3/layout/hArchList1"/>
    <dgm:cxn modelId="{10B4E879-8AC9-46EE-B7E8-D3B175EED88A}" type="presParOf" srcId="{6B0DB750-E733-4249-B650-EC363E35362F}" destId="{7A8BCF63-07E0-4B6C-B241-4D51C8D0E3CD}" srcOrd="0" destOrd="0" presId="urn:microsoft.com/office/officeart/2024/3/layout/hArchList1"/>
    <dgm:cxn modelId="{C6C99686-E3C2-4FF8-9FEB-B9DFA9034486}" type="presParOf" srcId="{6B0DB750-E733-4249-B650-EC363E35362F}" destId="{1BB36243-9F37-4C08-9629-F073713ED775}" srcOrd="1" destOrd="0" presId="urn:microsoft.com/office/officeart/2024/3/layout/hArchList1"/>
    <dgm:cxn modelId="{C401397D-EC83-4872-A5E4-9C0D9512260B}" type="presParOf" srcId="{44275D52-29BF-446B-9F9D-3FE3B9F56D4E}" destId="{DFD4BA07-C898-4CA5-BF16-C4A006926FA5}" srcOrd="3" destOrd="0" presId="urn:microsoft.com/office/officeart/2024/3/layout/hArchList1"/>
    <dgm:cxn modelId="{9F937E0B-53CF-4BDC-A829-55418FD657CE}" type="presParOf" srcId="{44275D52-29BF-446B-9F9D-3FE3B9F56D4E}" destId="{1BA84979-B764-4A9F-B7F0-64A3DC8FF325}" srcOrd="4" destOrd="0" presId="urn:microsoft.com/office/officeart/2024/3/layout/hArchList1"/>
    <dgm:cxn modelId="{39B3158E-A285-4CD1-B077-70745CBD3A85}" type="presParOf" srcId="{1BA84979-B764-4A9F-B7F0-64A3DC8FF325}" destId="{B7393799-3185-4098-8B25-1BA88F7E45FA}" srcOrd="0" destOrd="0" presId="urn:microsoft.com/office/officeart/2024/3/layout/hArchList1"/>
    <dgm:cxn modelId="{6E33805B-3813-4EB9-8AB5-578C6D03A7B1}" type="presParOf" srcId="{1BA84979-B764-4A9F-B7F0-64A3DC8FF325}" destId="{BEAF35DA-0372-4833-B5D4-53ADF197053A}" srcOrd="1" destOrd="0" presId="urn:microsoft.com/office/officeart/2024/3/layout/hArchList1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27D5FB6-3396-47BE-AC16-AB87A51C3EDB}">
      <dsp:nvSpPr>
        <dsp:cNvPr id="0" name=""/>
        <dsp:cNvSpPr/>
      </dsp:nvSpPr>
      <dsp:spPr>
        <a:xfrm>
          <a:off x="0" y="0"/>
          <a:ext cx="2795794" cy="67935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7160" tIns="25400" rIns="25400" bIns="25400" numCol="1" spcCol="1270" anchor="t" anchorCtr="0">
          <a:noAutofit/>
        </a:bodyPr>
        <a:lstStyle/>
        <a:p>
          <a:pPr marL="0" lvl="0" indent="0" algn="l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CA" sz="2000" b="0" i="0" kern="1200" dirty="0"/>
            <a:t>Regional Seller Acquisition​</a:t>
          </a:r>
          <a:endParaRPr lang="en-US" sz="2000" kern="1200" dirty="0"/>
        </a:p>
      </dsp:txBody>
      <dsp:txXfrm>
        <a:off x="0" y="0"/>
        <a:ext cx="2795794" cy="679359"/>
      </dsp:txXfrm>
    </dsp:sp>
    <dsp:sp modelId="{05CE3B42-E120-495E-A9D0-D23D4942C21C}">
      <dsp:nvSpPr>
        <dsp:cNvPr id="0" name=""/>
        <dsp:cNvSpPr/>
      </dsp:nvSpPr>
      <dsp:spPr>
        <a:xfrm>
          <a:off x="0" y="679359"/>
          <a:ext cx="2795794" cy="280551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7160" tIns="20320" rIns="20320" bIns="20320" numCol="1" spcCol="1270" anchor="t" anchorCtr="0">
          <a:noAutofit/>
        </a:bodyPr>
        <a:lstStyle/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0" i="0" kern="1200" dirty="0"/>
            <a:t>Launch a targeted recruitment campaign for sellers in SP, MG, PR, RJ, and SC. By increasing seller density in these high-demand zones, Olist can reduce cross-country shipping distances and improve regional competitiveness.</a:t>
          </a:r>
          <a:endParaRPr lang="en-US" sz="1600" kern="1200" dirty="0"/>
        </a:p>
      </dsp:txBody>
      <dsp:txXfrm>
        <a:off x="0" y="679359"/>
        <a:ext cx="2795794" cy="2805519"/>
      </dsp:txXfrm>
    </dsp:sp>
    <dsp:sp modelId="{7A8BCF63-07E0-4B6C-B241-4D51C8D0E3CD}">
      <dsp:nvSpPr>
        <dsp:cNvPr id="0" name=""/>
        <dsp:cNvSpPr/>
      </dsp:nvSpPr>
      <dsp:spPr>
        <a:xfrm>
          <a:off x="3075373" y="0"/>
          <a:ext cx="2795794" cy="67935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7160" tIns="25400" rIns="25400" bIns="25400" numCol="1" spcCol="1270" anchor="t" anchorCtr="0">
          <a:noAutofit/>
        </a:bodyPr>
        <a:lstStyle/>
        <a:p>
          <a:pPr marL="0" lvl="0" indent="0" algn="l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CA" sz="2000" b="0" i="0" kern="1200" dirty="0"/>
            <a:t>Category-Specific Incentives</a:t>
          </a:r>
          <a:endParaRPr lang="en-US" sz="2000" kern="1200" dirty="0"/>
        </a:p>
      </dsp:txBody>
      <dsp:txXfrm>
        <a:off x="3075373" y="0"/>
        <a:ext cx="2795794" cy="679359"/>
      </dsp:txXfrm>
    </dsp:sp>
    <dsp:sp modelId="{1BB36243-9F37-4C08-9629-F073713ED775}">
      <dsp:nvSpPr>
        <dsp:cNvPr id="0" name=""/>
        <dsp:cNvSpPr/>
      </dsp:nvSpPr>
      <dsp:spPr>
        <a:xfrm>
          <a:off x="3075373" y="679359"/>
          <a:ext cx="2795794" cy="280551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7160" tIns="20320" rIns="20320" bIns="20320" numCol="1" spcCol="1270" anchor="t" anchorCtr="0">
          <a:noAutofit/>
        </a:bodyPr>
        <a:lstStyle/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0" i="0" kern="1200" dirty="0"/>
            <a:t>Since Health &amp; Beauty is the primary growth driver, Olist should offer lower commission rates or "featured placement" for new sellers in this category to capitalize on the upward trend.</a:t>
          </a:r>
          <a:endParaRPr lang="en-US" sz="1600" kern="1200" dirty="0"/>
        </a:p>
      </dsp:txBody>
      <dsp:txXfrm>
        <a:off x="3075373" y="679359"/>
        <a:ext cx="2795794" cy="2805519"/>
      </dsp:txXfrm>
    </dsp:sp>
    <dsp:sp modelId="{B7393799-3185-4098-8B25-1BA88F7E45FA}">
      <dsp:nvSpPr>
        <dsp:cNvPr id="0" name=""/>
        <dsp:cNvSpPr/>
      </dsp:nvSpPr>
      <dsp:spPr>
        <a:xfrm>
          <a:off x="6150746" y="0"/>
          <a:ext cx="2795794" cy="67935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7160" tIns="25400" rIns="25400" bIns="25400" numCol="1" spcCol="1270" anchor="t" anchorCtr="0">
          <a:noAutofit/>
        </a:bodyPr>
        <a:lstStyle/>
        <a:p>
          <a:pPr marL="0" lvl="0" indent="0" algn="l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CA" sz="2000" b="0" i="0" kern="1200" dirty="0"/>
            <a:t>High-Volume Seller Support ​</a:t>
          </a:r>
          <a:endParaRPr lang="en-US" sz="2000" kern="1200" dirty="0"/>
        </a:p>
      </dsp:txBody>
      <dsp:txXfrm>
        <a:off x="6150746" y="0"/>
        <a:ext cx="2795794" cy="679359"/>
      </dsp:txXfrm>
    </dsp:sp>
    <dsp:sp modelId="{BEAF35DA-0372-4833-B5D4-53ADF197053A}">
      <dsp:nvSpPr>
        <dsp:cNvPr id="0" name=""/>
        <dsp:cNvSpPr/>
      </dsp:nvSpPr>
      <dsp:spPr>
        <a:xfrm>
          <a:off x="6150746" y="679359"/>
          <a:ext cx="2795794" cy="280551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7160" tIns="17780" rIns="17780" bIns="17780" numCol="1" spcCol="1270" anchor="t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CA" sz="1400" b="0" i="0" kern="1200" dirty="0"/>
            <a:t>​</a:t>
          </a:r>
          <a:r>
            <a:rPr lang="en-US" sz="1600" b="0" i="0" kern="1200" dirty="0"/>
            <a:t>Provide dedicated account management or premium tools for the Top 10% of sellers to ensure the core 62.4% of revenue (from top 10 categories) remains stable.</a:t>
          </a:r>
          <a:endParaRPr lang="en-US" sz="1400" kern="1200" dirty="0"/>
        </a:p>
      </dsp:txBody>
      <dsp:txXfrm>
        <a:off x="6150746" y="679359"/>
        <a:ext cx="2795794" cy="2805519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27D5FB6-3396-47BE-AC16-AB87A51C3EDB}">
      <dsp:nvSpPr>
        <dsp:cNvPr id="0" name=""/>
        <dsp:cNvSpPr/>
      </dsp:nvSpPr>
      <dsp:spPr>
        <a:xfrm>
          <a:off x="0" y="0"/>
          <a:ext cx="2795794" cy="67935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7160" tIns="25400" rIns="25400" bIns="25400" numCol="1" spcCol="1270" anchor="t" anchorCtr="0">
          <a:noAutofit/>
        </a:bodyPr>
        <a:lstStyle/>
        <a:p>
          <a:pPr marL="0" lvl="0" indent="0" algn="l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CA" sz="2000" b="0" i="0" kern="1200" dirty="0"/>
            <a:t>Automated Delay Interventions​</a:t>
          </a:r>
          <a:endParaRPr lang="en-US" sz="2000" kern="1200" dirty="0"/>
        </a:p>
      </dsp:txBody>
      <dsp:txXfrm>
        <a:off x="0" y="0"/>
        <a:ext cx="2795794" cy="679359"/>
      </dsp:txXfrm>
    </dsp:sp>
    <dsp:sp modelId="{05CE3B42-E120-495E-A9D0-D23D4942C21C}">
      <dsp:nvSpPr>
        <dsp:cNvPr id="0" name=""/>
        <dsp:cNvSpPr/>
      </dsp:nvSpPr>
      <dsp:spPr>
        <a:xfrm>
          <a:off x="0" y="679359"/>
          <a:ext cx="2795794" cy="280551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7160" tIns="20320" rIns="20320" bIns="20320" numCol="1" spcCol="1270" anchor="t" anchorCtr="0">
          <a:noAutofit/>
        </a:bodyPr>
        <a:lstStyle/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0" i="0" kern="1200" dirty="0"/>
            <a:t>Implement an automated "Early Warning System" that triggers at 48 hours of seller processing time. This gives Olist a 24-hour window to nudge sellers before hitting the 3-day sentiment collapse threshold.</a:t>
          </a:r>
          <a:endParaRPr lang="en-US" sz="1600" kern="1200" dirty="0"/>
        </a:p>
      </dsp:txBody>
      <dsp:txXfrm>
        <a:off x="0" y="679359"/>
        <a:ext cx="2795794" cy="2805519"/>
      </dsp:txXfrm>
    </dsp:sp>
    <dsp:sp modelId="{7A8BCF63-07E0-4B6C-B241-4D51C8D0E3CD}">
      <dsp:nvSpPr>
        <dsp:cNvPr id="0" name=""/>
        <dsp:cNvSpPr/>
      </dsp:nvSpPr>
      <dsp:spPr>
        <a:xfrm>
          <a:off x="3075373" y="0"/>
          <a:ext cx="2795794" cy="67935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7160" tIns="25400" rIns="25400" bIns="25400" numCol="1" spcCol="1270" anchor="t" anchorCtr="0">
          <a:noAutofit/>
        </a:bodyPr>
        <a:lstStyle/>
        <a:p>
          <a:pPr marL="0" lvl="0" indent="0" algn="l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CA" sz="2000" b="0" i="0" kern="1200" dirty="0"/>
            <a:t>Predictive Delivery Windows</a:t>
          </a:r>
          <a:endParaRPr lang="en-US" sz="2000" kern="1200" dirty="0"/>
        </a:p>
      </dsp:txBody>
      <dsp:txXfrm>
        <a:off x="3075373" y="0"/>
        <a:ext cx="2795794" cy="679359"/>
      </dsp:txXfrm>
    </dsp:sp>
    <dsp:sp modelId="{1BB36243-9F37-4C08-9629-F073713ED775}">
      <dsp:nvSpPr>
        <dsp:cNvPr id="0" name=""/>
        <dsp:cNvSpPr/>
      </dsp:nvSpPr>
      <dsp:spPr>
        <a:xfrm>
          <a:off x="3075373" y="679359"/>
          <a:ext cx="2795794" cy="280551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7160" tIns="20320" rIns="20320" bIns="20320" numCol="1" spcCol="1270" anchor="t" anchorCtr="0">
          <a:noAutofit/>
        </a:bodyPr>
        <a:lstStyle/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0" i="0" kern="1200" dirty="0"/>
            <a:t>Adjust the "Estimated Delivery Date" algorithm to be more conservative during Q1 and Q4. By proactively extending the promised date during peak seasons, Olist protects the 92.1% accuracy rate and prevents the 1.5-star "late penalty“.</a:t>
          </a:r>
          <a:endParaRPr lang="en-US" sz="1600" kern="1200" dirty="0"/>
        </a:p>
      </dsp:txBody>
      <dsp:txXfrm>
        <a:off x="3075373" y="679359"/>
        <a:ext cx="2795794" cy="2805519"/>
      </dsp:txXfrm>
    </dsp:sp>
    <dsp:sp modelId="{B7393799-3185-4098-8B25-1BA88F7E45FA}">
      <dsp:nvSpPr>
        <dsp:cNvPr id="0" name=""/>
        <dsp:cNvSpPr/>
      </dsp:nvSpPr>
      <dsp:spPr>
        <a:xfrm>
          <a:off x="6150746" y="0"/>
          <a:ext cx="2795794" cy="67935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7160" tIns="25400" rIns="25400" bIns="25400" numCol="1" spcCol="1270" anchor="t" anchorCtr="0">
          <a:noAutofit/>
        </a:bodyPr>
        <a:lstStyle/>
        <a:p>
          <a:pPr marL="0" lvl="0" indent="0" algn="l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CA" sz="2000" b="0" i="0" kern="1200" dirty="0"/>
            <a:t>Seller Performance Tiering​</a:t>
          </a:r>
          <a:endParaRPr lang="en-US" sz="2000" kern="1200" dirty="0"/>
        </a:p>
      </dsp:txBody>
      <dsp:txXfrm>
        <a:off x="6150746" y="0"/>
        <a:ext cx="2795794" cy="679359"/>
      </dsp:txXfrm>
    </dsp:sp>
    <dsp:sp modelId="{BEAF35DA-0372-4833-B5D4-53ADF197053A}">
      <dsp:nvSpPr>
        <dsp:cNvPr id="0" name=""/>
        <dsp:cNvSpPr/>
      </dsp:nvSpPr>
      <dsp:spPr>
        <a:xfrm>
          <a:off x="6150746" y="679359"/>
          <a:ext cx="2795794" cy="280551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7160" tIns="20320" rIns="20320" bIns="20320" numCol="1" spcCol="1270" anchor="t" anchorCtr="0">
          <a:noAutofit/>
        </a:bodyPr>
        <a:lstStyle/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0" i="0" kern="1200" dirty="0"/>
            <a:t>Incorporate the 1.5-star "late penalty" data into seller KPIs. Sellers who consistently exceed the 12.5-day average lead time should receive lower search rankings to protect the overall marketplace reputation.</a:t>
          </a:r>
          <a:endParaRPr lang="en-US" sz="1600" kern="1200" dirty="0"/>
        </a:p>
      </dsp:txBody>
      <dsp:txXfrm>
        <a:off x="6150746" y="679359"/>
        <a:ext cx="2795794" cy="2805519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27D5FB6-3396-47BE-AC16-AB87A51C3EDB}">
      <dsp:nvSpPr>
        <dsp:cNvPr id="0" name=""/>
        <dsp:cNvSpPr/>
      </dsp:nvSpPr>
      <dsp:spPr>
        <a:xfrm>
          <a:off x="0" y="0"/>
          <a:ext cx="2795794" cy="68027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7160" tIns="25400" rIns="25400" bIns="25400" numCol="1" spcCol="1270" anchor="t" anchorCtr="0">
          <a:noAutofit/>
        </a:bodyPr>
        <a:lstStyle/>
        <a:p>
          <a:pPr marL="0" lvl="0" indent="0" algn="l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CA" sz="2000" b="0" i="0" kern="1200" dirty="0"/>
            <a:t>Date Gaps </a:t>
          </a:r>
          <a:endParaRPr lang="en-US" sz="2000" kern="1200" dirty="0"/>
        </a:p>
      </dsp:txBody>
      <dsp:txXfrm>
        <a:off x="0" y="0"/>
        <a:ext cx="2795794" cy="680273"/>
      </dsp:txXfrm>
    </dsp:sp>
    <dsp:sp modelId="{05CE3B42-E120-495E-A9D0-D23D4942C21C}">
      <dsp:nvSpPr>
        <dsp:cNvPr id="0" name=""/>
        <dsp:cNvSpPr/>
      </dsp:nvSpPr>
      <dsp:spPr>
        <a:xfrm>
          <a:off x="0" y="680273"/>
          <a:ext cx="2795794" cy="155075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7160" tIns="20320" rIns="20320" bIns="20320" numCol="1" spcCol="1270" anchor="t" anchorCtr="0">
          <a:noAutofit/>
        </a:bodyPr>
        <a:lstStyle/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0" i="0" kern="1200" dirty="0"/>
            <a:t>Data from months January 2016 - August 2016 and September 2018 -December 2018 is missing. </a:t>
          </a:r>
        </a:p>
      </dsp:txBody>
      <dsp:txXfrm>
        <a:off x="0" y="680273"/>
        <a:ext cx="2795794" cy="1550751"/>
      </dsp:txXfrm>
    </dsp:sp>
    <dsp:sp modelId="{7A8BCF63-07E0-4B6C-B241-4D51C8D0E3CD}">
      <dsp:nvSpPr>
        <dsp:cNvPr id="0" name=""/>
        <dsp:cNvSpPr/>
      </dsp:nvSpPr>
      <dsp:spPr>
        <a:xfrm>
          <a:off x="3075373" y="0"/>
          <a:ext cx="2795794" cy="68027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7160" tIns="25400" rIns="25400" bIns="25400" numCol="1" spcCol="1270" anchor="t" anchorCtr="0">
          <a:noAutofit/>
        </a:bodyPr>
        <a:lstStyle/>
        <a:p>
          <a:pPr marL="0" lvl="0" indent="0" algn="l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CA" sz="2000" b="0" i="0" kern="1200" dirty="0"/>
            <a:t>Marketplace Profitability</a:t>
          </a:r>
          <a:endParaRPr lang="en-US" sz="2000" kern="1200" dirty="0"/>
        </a:p>
      </dsp:txBody>
      <dsp:txXfrm>
        <a:off x="3075373" y="0"/>
        <a:ext cx="2795794" cy="680273"/>
      </dsp:txXfrm>
    </dsp:sp>
    <dsp:sp modelId="{1BB36243-9F37-4C08-9629-F073713ED775}">
      <dsp:nvSpPr>
        <dsp:cNvPr id="0" name=""/>
        <dsp:cNvSpPr/>
      </dsp:nvSpPr>
      <dsp:spPr>
        <a:xfrm>
          <a:off x="3075373" y="680273"/>
          <a:ext cx="2795794" cy="155075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7160" tIns="20320" rIns="20320" bIns="20320" numCol="1" spcCol="1270" anchor="t" anchorCtr="0">
          <a:noAutofit/>
        </a:bodyPr>
        <a:lstStyle/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0" i="0" kern="1200" dirty="0"/>
            <a:t>Without specific commission rates or operating costs, analysis is limited to Total Sales rather than Olist’s actual Net Profit.</a:t>
          </a:r>
          <a:endParaRPr lang="en-US" sz="1600" kern="1200" dirty="0"/>
        </a:p>
      </dsp:txBody>
      <dsp:txXfrm>
        <a:off x="3075373" y="680273"/>
        <a:ext cx="2795794" cy="1550751"/>
      </dsp:txXfrm>
    </dsp:sp>
    <dsp:sp modelId="{B7393799-3185-4098-8B25-1BA88F7E45FA}">
      <dsp:nvSpPr>
        <dsp:cNvPr id="0" name=""/>
        <dsp:cNvSpPr/>
      </dsp:nvSpPr>
      <dsp:spPr>
        <a:xfrm>
          <a:off x="6150746" y="0"/>
          <a:ext cx="2795794" cy="68027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7160" tIns="25400" rIns="25400" bIns="25400" numCol="1" spcCol="1270" anchor="t" anchorCtr="0">
          <a:noAutofit/>
        </a:bodyPr>
        <a:lstStyle/>
        <a:p>
          <a:pPr marL="0" lvl="0" indent="0" algn="l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CA" sz="2000" b="0" i="0" kern="1200" dirty="0"/>
            <a:t>Retention Limits</a:t>
          </a:r>
          <a:endParaRPr lang="en-US" sz="2000" kern="1200" dirty="0"/>
        </a:p>
      </dsp:txBody>
      <dsp:txXfrm>
        <a:off x="6150746" y="0"/>
        <a:ext cx="2795794" cy="680273"/>
      </dsp:txXfrm>
    </dsp:sp>
    <dsp:sp modelId="{BEAF35DA-0372-4833-B5D4-53ADF197053A}">
      <dsp:nvSpPr>
        <dsp:cNvPr id="0" name=""/>
        <dsp:cNvSpPr/>
      </dsp:nvSpPr>
      <dsp:spPr>
        <a:xfrm>
          <a:off x="6150746" y="680273"/>
          <a:ext cx="2795794" cy="155075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7160" tIns="20320" rIns="20320" bIns="20320" numCol="1" spcCol="1270" anchor="t" anchorCtr="0">
          <a:noAutofit/>
        </a:bodyPr>
        <a:lstStyle/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0" i="0" kern="1200" dirty="0"/>
            <a:t>98.8% of users are one-time buyers.</a:t>
          </a:r>
          <a:endParaRPr lang="en-US" sz="1600" kern="1200" dirty="0"/>
        </a:p>
      </dsp:txBody>
      <dsp:txXfrm>
        <a:off x="6150746" y="680273"/>
        <a:ext cx="2795794" cy="1550751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27D5FB6-3396-47BE-AC16-AB87A51C3EDB}">
      <dsp:nvSpPr>
        <dsp:cNvPr id="0" name=""/>
        <dsp:cNvSpPr/>
      </dsp:nvSpPr>
      <dsp:spPr>
        <a:xfrm>
          <a:off x="0" y="0"/>
          <a:ext cx="2793063" cy="37858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7160" tIns="25400" rIns="25400" bIns="25400" numCol="1" spcCol="1270" anchor="t" anchorCtr="0">
          <a:noAutofit/>
        </a:bodyPr>
        <a:lstStyle/>
        <a:p>
          <a:pPr marL="0" lvl="0" indent="0" algn="l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CA" sz="2000" b="0" i="0" kern="1200" dirty="0"/>
            <a:t>Future Work</a:t>
          </a:r>
          <a:endParaRPr lang="en-US" sz="2000" kern="1200" dirty="0"/>
        </a:p>
      </dsp:txBody>
      <dsp:txXfrm>
        <a:off x="0" y="0"/>
        <a:ext cx="2793063" cy="378589"/>
      </dsp:txXfrm>
    </dsp:sp>
    <dsp:sp modelId="{05CE3B42-E120-495E-A9D0-D23D4942C21C}">
      <dsp:nvSpPr>
        <dsp:cNvPr id="0" name=""/>
        <dsp:cNvSpPr/>
      </dsp:nvSpPr>
      <dsp:spPr>
        <a:xfrm>
          <a:off x="0" y="378589"/>
          <a:ext cx="2793063" cy="133024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7160" tIns="20320" rIns="20320" bIns="20320" numCol="1" spcCol="1270" anchor="t" anchorCtr="0">
          <a:noAutofit/>
        </a:bodyPr>
        <a:lstStyle/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0" i="0" kern="1200" dirty="0"/>
            <a:t>Future Work: Acquire the remaining 2018 datasets to complete a full 3 - year growth study.</a:t>
          </a:r>
          <a:endParaRPr lang="en-US" sz="1600" kern="1200" dirty="0"/>
        </a:p>
      </dsp:txBody>
      <dsp:txXfrm>
        <a:off x="0" y="378589"/>
        <a:ext cx="2793063" cy="1330248"/>
      </dsp:txXfrm>
    </dsp:sp>
    <dsp:sp modelId="{7A8BCF63-07E0-4B6C-B241-4D51C8D0E3CD}">
      <dsp:nvSpPr>
        <dsp:cNvPr id="0" name=""/>
        <dsp:cNvSpPr/>
      </dsp:nvSpPr>
      <dsp:spPr>
        <a:xfrm>
          <a:off x="3072370" y="0"/>
          <a:ext cx="2793063" cy="37858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7160" tIns="25400" rIns="25400" bIns="25400" numCol="1" spcCol="1270" anchor="t" anchorCtr="0">
          <a:noAutofit/>
        </a:bodyPr>
        <a:lstStyle/>
        <a:p>
          <a:pPr marL="0" lvl="0" indent="0" algn="l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CA" sz="2000" b="0" i="0" kern="1200" dirty="0"/>
            <a:t>Future Work</a:t>
          </a:r>
          <a:endParaRPr lang="en-US" sz="2000" kern="1200" dirty="0"/>
        </a:p>
      </dsp:txBody>
      <dsp:txXfrm>
        <a:off x="3072370" y="0"/>
        <a:ext cx="2793063" cy="378589"/>
      </dsp:txXfrm>
    </dsp:sp>
    <dsp:sp modelId="{1BB36243-9F37-4C08-9629-F073713ED775}">
      <dsp:nvSpPr>
        <dsp:cNvPr id="0" name=""/>
        <dsp:cNvSpPr/>
      </dsp:nvSpPr>
      <dsp:spPr>
        <a:xfrm>
          <a:off x="3072370" y="378589"/>
          <a:ext cx="2793063" cy="133024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7160" tIns="20320" rIns="20320" bIns="20320" numCol="1" spcCol="1270" anchor="t" anchorCtr="0">
          <a:noAutofit/>
        </a:bodyPr>
        <a:lstStyle/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0" i="0" kern="1200" dirty="0"/>
            <a:t>Future Work: Integrate Olist’s fee structure to calculate actual platform net profit.</a:t>
          </a:r>
          <a:endParaRPr lang="en-US" sz="1600" kern="1200" dirty="0"/>
        </a:p>
      </dsp:txBody>
      <dsp:txXfrm>
        <a:off x="3072370" y="378589"/>
        <a:ext cx="2793063" cy="1330248"/>
      </dsp:txXfrm>
    </dsp:sp>
    <dsp:sp modelId="{B7393799-3185-4098-8B25-1BA88F7E45FA}">
      <dsp:nvSpPr>
        <dsp:cNvPr id="0" name=""/>
        <dsp:cNvSpPr/>
      </dsp:nvSpPr>
      <dsp:spPr>
        <a:xfrm>
          <a:off x="6144740" y="0"/>
          <a:ext cx="2793063" cy="37858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7160" tIns="25400" rIns="25400" bIns="25400" numCol="1" spcCol="1270" anchor="t" anchorCtr="0">
          <a:noAutofit/>
        </a:bodyPr>
        <a:lstStyle/>
        <a:p>
          <a:pPr marL="0" lvl="0" indent="0" algn="l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CA" sz="2000" b="0" i="0" kern="1200" dirty="0"/>
            <a:t>Future Work</a:t>
          </a:r>
        </a:p>
      </dsp:txBody>
      <dsp:txXfrm>
        <a:off x="6144740" y="0"/>
        <a:ext cx="2793063" cy="378589"/>
      </dsp:txXfrm>
    </dsp:sp>
    <dsp:sp modelId="{BEAF35DA-0372-4833-B5D4-53ADF197053A}">
      <dsp:nvSpPr>
        <dsp:cNvPr id="0" name=""/>
        <dsp:cNvSpPr/>
      </dsp:nvSpPr>
      <dsp:spPr>
        <a:xfrm>
          <a:off x="6144740" y="378589"/>
          <a:ext cx="2793063" cy="133024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7160" tIns="20320" rIns="20320" bIns="20320" numCol="1" spcCol="1270" anchor="t" anchorCtr="0">
          <a:noAutofit/>
        </a:bodyPr>
        <a:lstStyle/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0" i="0" kern="1200" dirty="0"/>
            <a:t>Future Work: Conduct a Cohort Analysis to identify what drives the small percentage of returning "power users“.</a:t>
          </a:r>
        </a:p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600" kern="1200" dirty="0"/>
        </a:p>
      </dsp:txBody>
      <dsp:txXfrm>
        <a:off x="6144740" y="378589"/>
        <a:ext cx="2793063" cy="133024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24/3/layout/hArchList1">
  <dgm:title val="Horizontal Text Blocks"/>
  <dgm:desc val="Short bits of text with formatted headers. Use as an easier-to-read alternative to a bulleted list."/>
  <dgm:catLst>
    <dgm:cat type="list" pri="100"/>
    <dgm:cat type="timeline" pri="500"/>
    <dgm:cat type="process" pri="6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>
          <dgm:param type="vertAlign" val="t"/>
          <dgm:param type="horzAlign" val="l"/>
        </dgm:alg>
      </dgm:if>
      <dgm:else name="Name3">
        <dgm:alg type="lin">
          <dgm:param type="vertAlign" val="t"/>
          <dgm:param type="horzAlign" val="r"/>
        </dgm:alg>
      </dgm:else>
    </dgm:choose>
    <dgm:presOf/>
    <dgm:constrLst>
      <dgm:constr type="primFontSz" for="des" forName="pictRect" op="equ" val="18"/>
      <dgm:constr type="primFontSz" for="des" forName="textRect" refType="primFontSz" refFor="des" refForName="pictRect" op="equ" fact="0.77"/>
      <dgm:constr type="w" for="ch" forName="compNode" refType="w"/>
      <dgm:constr type="h" for="ch" forName="compNode" refType="h"/>
      <dgm:constr type="h" for="des" forName="pictRect" op="equ"/>
      <dgm:constr type="h" for="des" forName="pictRect" refType="primFontSz" refFor="des" refForName="pictRect" fact="3"/>
      <dgm:constr type="w" for="ch" ptType="sibTrans" refType="w" refFor="ch" refForName="compNode" op="equ" fact="0.1"/>
      <dgm:constr type="sp" refType="w" refFor="ch" refForName="compNode" op="equ" fact="0.1"/>
    </dgm:constrLst>
    <dgm:ruleLst/>
    <dgm:forEach name="Name4" axis="ch" ptType="node" cnt="20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h" for="ch" forName="pictRect" refType="h" fact="0.1"/>
          <dgm:constr type="l" for="ch" forName="pictRect"/>
          <dgm:constr type="t" for="ch" forName="pictRect"/>
          <dgm:constr type="l" for="ch" forName="textRect"/>
          <dgm:constr type="t" for="ch" forName="textRect" refType="b" refFor="ch" refForName="pictRect"/>
        </dgm:constrLst>
        <dgm:ruleLst/>
        <dgm:layoutNode name="pictRect" styleLbl="revTx">
          <dgm:varLst>
            <dgm:chMax val="0"/>
            <dgm:bulletEnabled/>
          </dgm:varLst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hoose name="choosePictRectConstraints">
            <dgm:if name="ifPictRectConstraints" func="var" arg="dir" op="equ" val="norm">
              <dgm:constrLst>
                <dgm:constr type="h" refType="w" op="lte" fact="0.4"/>
                <dgm:constr type="lMarg" val="10.8"/>
                <dgm:constr type="rMarg" refType="primFontSz" fact="0.1"/>
                <dgm:constr type="tMarg" refType="primFontSz" fact="0.1"/>
                <dgm:constr type="bMarg" refType="primFontSz" fact="0.1"/>
              </dgm:constrLst>
            </dgm:if>
            <dgm:else name="elsePictRectConstraints">
              <dgm:constrLst>
                <dgm:constr type="lMarg" refType="primFontSz" fact="0.1"/>
                <dgm:constr type="rMarg" val="10.8"/>
                <dgm:constr type="tMarg" refType="primFontSz" fact="0.1"/>
                <dgm:constr type="bMarg" refType="primFontSz" fact="0.1"/>
              </dgm:constrLst>
            </dgm:else>
          </dgm:choose>
          <dgm:ruleLst>
            <dgm:rule type="h" val="INF" fact="NaN" max="NaN"/>
            <dgm:rule type="primFontSz" val="5" fact="NaN" max="NaN"/>
          </dgm:ruleLst>
        </dgm:layoutNode>
        <dgm:layoutNode name="textRect" styleLbl="revTx">
          <dgm:varLst>
            <dgm:bulletEnabled/>
          </dgm:varLst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des" ptType="node"/>
          <dgm:choose name="chooseTextRectConstraints">
            <dgm:if name="ifTextRectConstraints" func="var" arg="dir" op="equ" val="norm">
              <dgm:constrLst>
                <dgm:constr type="lMarg" val="10.8"/>
                <dgm:constr type="rMarg" refType="primFontSz" fact="0.1"/>
                <dgm:constr type="tMarg" refType="primFontSz" fact="0.1"/>
                <dgm:constr type="bMarg" refType="primFontSz" fact="0.1"/>
              </dgm:constrLst>
            </dgm:if>
            <dgm:else name="elseTextRectConstraints">
              <dgm:constrLst>
                <dgm:constr type="lMarg" refType="primFontSz" fact="0.1"/>
                <dgm:constr type="rMarg" val="10.8"/>
                <dgm:constr type="tMarg" refType="primFontSz" fact="0.1"/>
                <dgm:constr type="bMarg" refType="primFontSz" fact="0.1"/>
              </dgm:constrLst>
            </dgm:else>
          </dgm:choose>
          <dgm:ruleLst>
            <dgm:rule type="primFontSz" val="5" fact="NaN" max="NaN"/>
          </dgm:ruleLst>
        </dgm:layoutNode>
      </dgm:layoutNode>
      <dgm:forEach name="Name5" axis="followSib" ptType="sibTrans" cnt="1">
        <dgm:layoutNode name="sibTrans">
          <dgm:alg type="sp"/>
          <dgm:shape xmlns:r="http://schemas.openxmlformats.org/officeDocument/2006/relationships" type="rect" r:blip="" hideGeom="1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24/3/layout/hArchList1">
  <dgm:title val="Horizontal Text Blocks"/>
  <dgm:desc val="Short bits of text with formatted headers. Use as an easier-to-read alternative to a bulleted list."/>
  <dgm:catLst>
    <dgm:cat type="list" pri="100"/>
    <dgm:cat type="timeline" pri="500"/>
    <dgm:cat type="process" pri="6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>
          <dgm:param type="vertAlign" val="t"/>
          <dgm:param type="horzAlign" val="l"/>
        </dgm:alg>
      </dgm:if>
      <dgm:else name="Name3">
        <dgm:alg type="lin">
          <dgm:param type="vertAlign" val="t"/>
          <dgm:param type="horzAlign" val="r"/>
        </dgm:alg>
      </dgm:else>
    </dgm:choose>
    <dgm:presOf/>
    <dgm:constrLst>
      <dgm:constr type="primFontSz" for="des" forName="pictRect" op="equ" val="18"/>
      <dgm:constr type="primFontSz" for="des" forName="textRect" refType="primFontSz" refFor="des" refForName="pictRect" op="equ" fact="0.77"/>
      <dgm:constr type="w" for="ch" forName="compNode" refType="w"/>
      <dgm:constr type="h" for="ch" forName="compNode" refType="h"/>
      <dgm:constr type="h" for="des" forName="pictRect" op="equ"/>
      <dgm:constr type="h" for="des" forName="pictRect" refType="primFontSz" refFor="des" refForName="pictRect" fact="3"/>
      <dgm:constr type="w" for="ch" ptType="sibTrans" refType="w" refFor="ch" refForName="compNode" op="equ" fact="0.1"/>
      <dgm:constr type="sp" refType="w" refFor="ch" refForName="compNode" op="equ" fact="0.1"/>
    </dgm:constrLst>
    <dgm:ruleLst/>
    <dgm:forEach name="Name4" axis="ch" ptType="node" cnt="20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h" for="ch" forName="pictRect" refType="h" fact="0.1"/>
          <dgm:constr type="l" for="ch" forName="pictRect"/>
          <dgm:constr type="t" for="ch" forName="pictRect"/>
          <dgm:constr type="l" for="ch" forName="textRect"/>
          <dgm:constr type="t" for="ch" forName="textRect" refType="b" refFor="ch" refForName="pictRect"/>
        </dgm:constrLst>
        <dgm:ruleLst/>
        <dgm:layoutNode name="pictRect" styleLbl="revTx">
          <dgm:varLst>
            <dgm:chMax val="0"/>
            <dgm:bulletEnabled/>
          </dgm:varLst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hoose name="choosePictRectConstraints">
            <dgm:if name="ifPictRectConstraints" func="var" arg="dir" op="equ" val="norm">
              <dgm:constrLst>
                <dgm:constr type="h" refType="w" op="lte" fact="0.4"/>
                <dgm:constr type="lMarg" val="10.8"/>
                <dgm:constr type="rMarg" refType="primFontSz" fact="0.1"/>
                <dgm:constr type="tMarg" refType="primFontSz" fact="0.1"/>
                <dgm:constr type="bMarg" refType="primFontSz" fact="0.1"/>
              </dgm:constrLst>
            </dgm:if>
            <dgm:else name="elsePictRectConstraints">
              <dgm:constrLst>
                <dgm:constr type="lMarg" refType="primFontSz" fact="0.1"/>
                <dgm:constr type="rMarg" val="10.8"/>
                <dgm:constr type="tMarg" refType="primFontSz" fact="0.1"/>
                <dgm:constr type="bMarg" refType="primFontSz" fact="0.1"/>
              </dgm:constrLst>
            </dgm:else>
          </dgm:choose>
          <dgm:ruleLst>
            <dgm:rule type="h" val="INF" fact="NaN" max="NaN"/>
            <dgm:rule type="primFontSz" val="5" fact="NaN" max="NaN"/>
          </dgm:ruleLst>
        </dgm:layoutNode>
        <dgm:layoutNode name="textRect" styleLbl="revTx">
          <dgm:varLst>
            <dgm:bulletEnabled/>
          </dgm:varLst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des" ptType="node"/>
          <dgm:choose name="chooseTextRectConstraints">
            <dgm:if name="ifTextRectConstraints" func="var" arg="dir" op="equ" val="norm">
              <dgm:constrLst>
                <dgm:constr type="lMarg" val="10.8"/>
                <dgm:constr type="rMarg" refType="primFontSz" fact="0.1"/>
                <dgm:constr type="tMarg" refType="primFontSz" fact="0.1"/>
                <dgm:constr type="bMarg" refType="primFontSz" fact="0.1"/>
              </dgm:constrLst>
            </dgm:if>
            <dgm:else name="elseTextRectConstraints">
              <dgm:constrLst>
                <dgm:constr type="lMarg" refType="primFontSz" fact="0.1"/>
                <dgm:constr type="rMarg" val="10.8"/>
                <dgm:constr type="tMarg" refType="primFontSz" fact="0.1"/>
                <dgm:constr type="bMarg" refType="primFontSz" fact="0.1"/>
              </dgm:constrLst>
            </dgm:else>
          </dgm:choose>
          <dgm:ruleLst>
            <dgm:rule type="primFontSz" val="5" fact="NaN" max="NaN"/>
          </dgm:ruleLst>
        </dgm:layoutNode>
      </dgm:layoutNode>
      <dgm:forEach name="Name5" axis="followSib" ptType="sibTrans" cnt="1">
        <dgm:layoutNode name="sibTrans">
          <dgm:alg type="sp"/>
          <dgm:shape xmlns:r="http://schemas.openxmlformats.org/officeDocument/2006/relationships" type="rect" r:blip="" hideGeom="1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24/3/layout/hArchList1">
  <dgm:title val="Horizontal Text Blocks"/>
  <dgm:desc val="Short bits of text with formatted headers. Use as an easier-to-read alternative to a bulleted list."/>
  <dgm:catLst>
    <dgm:cat type="list" pri="100"/>
    <dgm:cat type="timeline" pri="500"/>
    <dgm:cat type="process" pri="6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>
          <dgm:param type="vertAlign" val="t"/>
          <dgm:param type="horzAlign" val="l"/>
        </dgm:alg>
      </dgm:if>
      <dgm:else name="Name3">
        <dgm:alg type="lin">
          <dgm:param type="vertAlign" val="t"/>
          <dgm:param type="horzAlign" val="r"/>
        </dgm:alg>
      </dgm:else>
    </dgm:choose>
    <dgm:presOf/>
    <dgm:constrLst>
      <dgm:constr type="primFontSz" for="des" forName="pictRect" op="equ" val="18"/>
      <dgm:constr type="primFontSz" for="des" forName="textRect" refType="primFontSz" refFor="des" refForName="pictRect" op="equ" fact="0.77"/>
      <dgm:constr type="w" for="ch" forName="compNode" refType="w"/>
      <dgm:constr type="h" for="ch" forName="compNode" refType="h"/>
      <dgm:constr type="h" for="des" forName="pictRect" op="equ"/>
      <dgm:constr type="h" for="des" forName="pictRect" refType="primFontSz" refFor="des" refForName="pictRect" fact="3"/>
      <dgm:constr type="w" for="ch" ptType="sibTrans" refType="w" refFor="ch" refForName="compNode" op="equ" fact="0.1"/>
      <dgm:constr type="sp" refType="w" refFor="ch" refForName="compNode" op="equ" fact="0.1"/>
    </dgm:constrLst>
    <dgm:ruleLst/>
    <dgm:forEach name="Name4" axis="ch" ptType="node" cnt="20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h" for="ch" forName="pictRect" refType="h" fact="0.1"/>
          <dgm:constr type="l" for="ch" forName="pictRect"/>
          <dgm:constr type="t" for="ch" forName="pictRect"/>
          <dgm:constr type="l" for="ch" forName="textRect"/>
          <dgm:constr type="t" for="ch" forName="textRect" refType="b" refFor="ch" refForName="pictRect"/>
        </dgm:constrLst>
        <dgm:ruleLst/>
        <dgm:layoutNode name="pictRect" styleLbl="revTx">
          <dgm:varLst>
            <dgm:chMax val="0"/>
            <dgm:bulletEnabled/>
          </dgm:varLst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hoose name="choosePictRectConstraints">
            <dgm:if name="ifPictRectConstraints" func="var" arg="dir" op="equ" val="norm">
              <dgm:constrLst>
                <dgm:constr type="h" refType="w" op="lte" fact="0.4"/>
                <dgm:constr type="lMarg" val="10.8"/>
                <dgm:constr type="rMarg" refType="primFontSz" fact="0.1"/>
                <dgm:constr type="tMarg" refType="primFontSz" fact="0.1"/>
                <dgm:constr type="bMarg" refType="primFontSz" fact="0.1"/>
              </dgm:constrLst>
            </dgm:if>
            <dgm:else name="elsePictRectConstraints">
              <dgm:constrLst>
                <dgm:constr type="lMarg" refType="primFontSz" fact="0.1"/>
                <dgm:constr type="rMarg" val="10.8"/>
                <dgm:constr type="tMarg" refType="primFontSz" fact="0.1"/>
                <dgm:constr type="bMarg" refType="primFontSz" fact="0.1"/>
              </dgm:constrLst>
            </dgm:else>
          </dgm:choose>
          <dgm:ruleLst>
            <dgm:rule type="h" val="INF" fact="NaN" max="NaN"/>
            <dgm:rule type="primFontSz" val="5" fact="NaN" max="NaN"/>
          </dgm:ruleLst>
        </dgm:layoutNode>
        <dgm:layoutNode name="textRect" styleLbl="revTx">
          <dgm:varLst>
            <dgm:bulletEnabled/>
          </dgm:varLst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des" ptType="node"/>
          <dgm:choose name="chooseTextRectConstraints">
            <dgm:if name="ifTextRectConstraints" func="var" arg="dir" op="equ" val="norm">
              <dgm:constrLst>
                <dgm:constr type="lMarg" val="10.8"/>
                <dgm:constr type="rMarg" refType="primFontSz" fact="0.1"/>
                <dgm:constr type="tMarg" refType="primFontSz" fact="0.1"/>
                <dgm:constr type="bMarg" refType="primFontSz" fact="0.1"/>
              </dgm:constrLst>
            </dgm:if>
            <dgm:else name="elseTextRectConstraints">
              <dgm:constrLst>
                <dgm:constr type="lMarg" refType="primFontSz" fact="0.1"/>
                <dgm:constr type="rMarg" val="10.8"/>
                <dgm:constr type="tMarg" refType="primFontSz" fact="0.1"/>
                <dgm:constr type="bMarg" refType="primFontSz" fact="0.1"/>
              </dgm:constrLst>
            </dgm:else>
          </dgm:choose>
          <dgm:ruleLst>
            <dgm:rule type="primFontSz" val="5" fact="NaN" max="NaN"/>
          </dgm:ruleLst>
        </dgm:layoutNode>
      </dgm:layoutNode>
      <dgm:forEach name="Name5" axis="followSib" ptType="sibTrans" cnt="1">
        <dgm:layoutNode name="sibTrans">
          <dgm:alg type="sp"/>
          <dgm:shape xmlns:r="http://schemas.openxmlformats.org/officeDocument/2006/relationships" type="rect" r:blip="" hideGeom="1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24/3/layout/hArchList1">
  <dgm:title val="Horizontal Text Blocks"/>
  <dgm:desc val="Short bits of text with formatted headers. Use as an easier-to-read alternative to a bulleted list."/>
  <dgm:catLst>
    <dgm:cat type="list" pri="100"/>
    <dgm:cat type="timeline" pri="500"/>
    <dgm:cat type="process" pri="6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>
          <dgm:param type="vertAlign" val="t"/>
          <dgm:param type="horzAlign" val="l"/>
        </dgm:alg>
      </dgm:if>
      <dgm:else name="Name3">
        <dgm:alg type="lin">
          <dgm:param type="vertAlign" val="t"/>
          <dgm:param type="horzAlign" val="r"/>
        </dgm:alg>
      </dgm:else>
    </dgm:choose>
    <dgm:presOf/>
    <dgm:constrLst>
      <dgm:constr type="primFontSz" for="des" forName="pictRect" op="equ" val="18"/>
      <dgm:constr type="primFontSz" for="des" forName="textRect" refType="primFontSz" refFor="des" refForName="pictRect" op="equ" fact="0.77"/>
      <dgm:constr type="w" for="ch" forName="compNode" refType="w"/>
      <dgm:constr type="h" for="ch" forName="compNode" refType="h"/>
      <dgm:constr type="h" for="des" forName="pictRect" op="equ"/>
      <dgm:constr type="h" for="des" forName="pictRect" refType="primFontSz" refFor="des" refForName="pictRect" fact="3"/>
      <dgm:constr type="w" for="ch" ptType="sibTrans" refType="w" refFor="ch" refForName="compNode" op="equ" fact="0.1"/>
      <dgm:constr type="sp" refType="w" refFor="ch" refForName="compNode" op="equ" fact="0.1"/>
    </dgm:constrLst>
    <dgm:ruleLst/>
    <dgm:forEach name="Name4" axis="ch" ptType="node" cnt="20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h" for="ch" forName="pictRect" refType="h" fact="0.1"/>
          <dgm:constr type="l" for="ch" forName="pictRect"/>
          <dgm:constr type="t" for="ch" forName="pictRect"/>
          <dgm:constr type="l" for="ch" forName="textRect"/>
          <dgm:constr type="t" for="ch" forName="textRect" refType="b" refFor="ch" refForName="pictRect"/>
        </dgm:constrLst>
        <dgm:ruleLst/>
        <dgm:layoutNode name="pictRect" styleLbl="revTx">
          <dgm:varLst>
            <dgm:chMax val="0"/>
            <dgm:bulletEnabled/>
          </dgm:varLst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hoose name="choosePictRectConstraints">
            <dgm:if name="ifPictRectConstraints" func="var" arg="dir" op="equ" val="norm">
              <dgm:constrLst>
                <dgm:constr type="h" refType="w" op="lte" fact="0.4"/>
                <dgm:constr type="lMarg" val="10.8"/>
                <dgm:constr type="rMarg" refType="primFontSz" fact="0.1"/>
                <dgm:constr type="tMarg" refType="primFontSz" fact="0.1"/>
                <dgm:constr type="bMarg" refType="primFontSz" fact="0.1"/>
              </dgm:constrLst>
            </dgm:if>
            <dgm:else name="elsePictRectConstraints">
              <dgm:constrLst>
                <dgm:constr type="lMarg" refType="primFontSz" fact="0.1"/>
                <dgm:constr type="rMarg" val="10.8"/>
                <dgm:constr type="tMarg" refType="primFontSz" fact="0.1"/>
                <dgm:constr type="bMarg" refType="primFontSz" fact="0.1"/>
              </dgm:constrLst>
            </dgm:else>
          </dgm:choose>
          <dgm:ruleLst>
            <dgm:rule type="h" val="INF" fact="NaN" max="NaN"/>
            <dgm:rule type="primFontSz" val="5" fact="NaN" max="NaN"/>
          </dgm:ruleLst>
        </dgm:layoutNode>
        <dgm:layoutNode name="textRect" styleLbl="revTx">
          <dgm:varLst>
            <dgm:bulletEnabled/>
          </dgm:varLst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des" ptType="node"/>
          <dgm:choose name="chooseTextRectConstraints">
            <dgm:if name="ifTextRectConstraints" func="var" arg="dir" op="equ" val="norm">
              <dgm:constrLst>
                <dgm:constr type="lMarg" val="10.8"/>
                <dgm:constr type="rMarg" refType="primFontSz" fact="0.1"/>
                <dgm:constr type="tMarg" refType="primFontSz" fact="0.1"/>
                <dgm:constr type="bMarg" refType="primFontSz" fact="0.1"/>
              </dgm:constrLst>
            </dgm:if>
            <dgm:else name="elseTextRectConstraints">
              <dgm:constrLst>
                <dgm:constr type="lMarg" refType="primFontSz" fact="0.1"/>
                <dgm:constr type="rMarg" val="10.8"/>
                <dgm:constr type="tMarg" refType="primFontSz" fact="0.1"/>
                <dgm:constr type="bMarg" refType="primFontSz" fact="0.1"/>
              </dgm:constrLst>
            </dgm:else>
          </dgm:choose>
          <dgm:ruleLst>
            <dgm:rule type="primFontSz" val="5" fact="NaN" max="NaN"/>
          </dgm:ruleLst>
        </dgm:layoutNode>
      </dgm:layoutNode>
      <dgm:forEach name="Name5" axis="followSib" ptType="sibTrans" cnt="1">
        <dgm:layoutNode name="sibTrans">
          <dgm:alg type="sp"/>
          <dgm:shape xmlns:r="http://schemas.openxmlformats.org/officeDocument/2006/relationships" type="rect" r:blip="" hideGeom="1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CA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2A97C58-4259-4EB0-8797-2943407DE20D}" type="datetimeFigureOut">
              <a:rPr lang="en-CA" smtClean="0"/>
              <a:t>2026-04-24</a:t>
            </a:fld>
            <a:endParaRPr lang="en-CA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CA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E44A42D-C702-440C-8974-9688271FF8D3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7829763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E44A42D-C702-440C-8974-9688271FF8D3}" type="slidenum">
              <a:rPr lang="en-CA" smtClean="0"/>
              <a:t>4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41003938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2D783D-F43B-4551-BB0F-21A17362FF29}" type="datetimeFigureOut">
              <a:rPr lang="en-CA" smtClean="0"/>
              <a:t>2026-04-24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A0219C-D2D4-4FED-87CB-F663E12A56E5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2534641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2D783D-F43B-4551-BB0F-21A17362FF29}" type="datetimeFigureOut">
              <a:rPr lang="en-CA" smtClean="0"/>
              <a:t>2026-04-24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A0219C-D2D4-4FED-87CB-F663E12A56E5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7726899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2D783D-F43B-4551-BB0F-21A17362FF29}" type="datetimeFigureOut">
              <a:rPr lang="en-CA" smtClean="0"/>
              <a:t>2026-04-24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A0219C-D2D4-4FED-87CB-F663E12A56E5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7099510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2D783D-F43B-4551-BB0F-21A17362FF29}" type="datetimeFigureOut">
              <a:rPr lang="en-CA" smtClean="0"/>
              <a:t>2026-04-24</a:t>
            </a:fld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A0219C-D2D4-4FED-87CB-F663E12A56E5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3849801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2D783D-F43B-4551-BB0F-21A17362FF29}" type="datetimeFigureOut">
              <a:rPr lang="en-CA" smtClean="0"/>
              <a:t>2026-04-24</a:t>
            </a:fld>
            <a:endParaRPr lang="en-CA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A0219C-D2D4-4FED-87CB-F663E12A56E5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5957047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2D783D-F43B-4551-BB0F-21A17362FF29}" type="datetimeFigureOut">
              <a:rPr lang="en-CA" smtClean="0"/>
              <a:t>2026-04-24</a:t>
            </a:fld>
            <a:endParaRPr lang="en-CA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A0219C-D2D4-4FED-87CB-F663E12A56E5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3030503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2D783D-F43B-4551-BB0F-21A17362FF29}" type="datetimeFigureOut">
              <a:rPr lang="en-CA" smtClean="0"/>
              <a:t>2026-04-24</a:t>
            </a:fld>
            <a:endParaRPr lang="en-CA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A0219C-D2D4-4FED-87CB-F663E12A56E5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4762221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2D783D-F43B-4551-BB0F-21A17362FF29}" type="datetimeFigureOut">
              <a:rPr lang="en-CA" smtClean="0"/>
              <a:t>2026-04-24</a:t>
            </a:fld>
            <a:endParaRPr lang="en-CA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A0219C-D2D4-4FED-87CB-F663E12A56E5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3558650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2D783D-F43B-4551-BB0F-21A17362FF29}" type="datetimeFigureOut">
              <a:rPr lang="en-CA" smtClean="0"/>
              <a:t>2026-04-24</a:t>
            </a:fld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A0219C-D2D4-4FED-87CB-F663E12A56E5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3361645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2D783D-F43B-4551-BB0F-21A17362FF29}" type="datetimeFigureOut">
              <a:rPr lang="en-CA" smtClean="0"/>
              <a:t>2026-04-24</a:t>
            </a:fld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A0219C-D2D4-4FED-87CB-F663E12A56E5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3456505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2D783D-F43B-4551-BB0F-21A17362FF29}" type="datetimeFigureOut">
              <a:rPr lang="en-CA" smtClean="0"/>
              <a:t>2026-04-24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A0219C-D2D4-4FED-87CB-F663E12A56E5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2699034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2D783D-F43B-4551-BB0F-21A17362FF29}" type="datetimeFigureOut">
              <a:rPr lang="en-CA" smtClean="0"/>
              <a:t>2026-04-24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A0219C-D2D4-4FED-87CB-F663E12A56E5}" type="slidenum">
              <a:rPr lang="en-CA" smtClean="0"/>
              <a:t>‹#›</a:t>
            </a:fld>
            <a:endParaRPr lang="en-CA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10193192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2D783D-F43B-4551-BB0F-21A17362FF29}" type="datetimeFigureOut">
              <a:rPr lang="en-CA" smtClean="0"/>
              <a:t>2026-04-24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A0219C-D2D4-4FED-87CB-F663E12A56E5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19571424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2D783D-F43B-4551-BB0F-21A17362FF29}" type="datetimeFigureOut">
              <a:rPr lang="en-CA" smtClean="0"/>
              <a:t>2026-04-24</a:t>
            </a:fld>
            <a:endParaRPr lang="en-CA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A0219C-D2D4-4FED-87CB-F663E12A56E5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98883963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2D783D-F43B-4551-BB0F-21A17362FF29}" type="datetimeFigureOut">
              <a:rPr lang="en-CA" smtClean="0"/>
              <a:t>2026-04-24</a:t>
            </a:fld>
            <a:endParaRPr lang="en-CA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A0219C-D2D4-4FED-87CB-F663E12A56E5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9201361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2D783D-F43B-4551-BB0F-21A17362FF29}" type="datetimeFigureOut">
              <a:rPr lang="en-CA" smtClean="0"/>
              <a:t>2026-04-24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A0219C-D2D4-4FED-87CB-F663E12A56E5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14634105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2D783D-F43B-4551-BB0F-21A17362FF29}" type="datetimeFigureOut">
              <a:rPr lang="en-CA" smtClean="0"/>
              <a:t>2026-04-24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A0219C-D2D4-4FED-87CB-F663E12A56E5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377130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CA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CA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CB2D783D-F43B-4551-BB0F-21A17362FF29}" type="datetimeFigureOut">
              <a:rPr lang="en-CA" smtClean="0"/>
              <a:t>2026-04-24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5A0219C-D2D4-4FED-87CB-F663E12A56E5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24716619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4.xml"/><Relationship Id="rId3" Type="http://schemas.openxmlformats.org/officeDocument/2006/relationships/diagramLayout" Target="../diagrams/layout3.xml"/><Relationship Id="rId7" Type="http://schemas.openxmlformats.org/officeDocument/2006/relationships/diagramData" Target="../diagrams/data4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11" Type="http://schemas.microsoft.com/office/2007/relationships/diagramDrawing" Target="../diagrams/drawing4.xml"/><Relationship Id="rId5" Type="http://schemas.openxmlformats.org/officeDocument/2006/relationships/diagramColors" Target="../diagrams/colors3.xml"/><Relationship Id="rId10" Type="http://schemas.openxmlformats.org/officeDocument/2006/relationships/diagramColors" Target="../diagrams/colors4.xml"/><Relationship Id="rId4" Type="http://schemas.openxmlformats.org/officeDocument/2006/relationships/diagramQuickStyle" Target="../diagrams/quickStyle3.xml"/><Relationship Id="rId9" Type="http://schemas.openxmlformats.org/officeDocument/2006/relationships/diagramQuickStyle" Target="../diagrams/quickStyle4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14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07787F-4548-095A-0A1A-6670DFF0DA9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CA" dirty="0"/>
              <a:t>Olist 360 Marketplace Analysis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9383D4B-1AE1-F56C-8D2D-D1998D16D62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CA" dirty="0"/>
              <a:t>Presented By: Sebastian Hopgood</a:t>
            </a:r>
          </a:p>
          <a:p>
            <a:r>
              <a:rPr lang="en-US" dirty="0"/>
              <a:t>For: Olist CEO and Logistics Department</a:t>
            </a:r>
          </a:p>
          <a:p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25101289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52BEFF1-896C-45B1-B02C-96A6A1BC38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 36">
            <a:extLst>
              <a:ext uri="{FF2B5EF4-FFF2-40B4-BE49-F238E27FC236}">
                <a16:creationId xmlns:a16="http://schemas.microsoft.com/office/drawing/2014/main" id="{BB237A14-61B1-4C00-A670-5D8D68A866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644637" y="0"/>
            <a:ext cx="559472" cy="3709642"/>
          </a:xfrm>
          <a:custGeom>
            <a:avLst/>
            <a:gdLst>
              <a:gd name="connsiteX0" fmla="*/ 0 w 559472"/>
              <a:gd name="connsiteY0" fmla="*/ 0 h 3709642"/>
              <a:gd name="connsiteX1" fmla="*/ 473952 w 559472"/>
              <a:gd name="connsiteY1" fmla="*/ 0 h 3709642"/>
              <a:gd name="connsiteX2" fmla="*/ 485840 w 559472"/>
              <a:gd name="connsiteY2" fmla="*/ 161194 h 3709642"/>
              <a:gd name="connsiteX3" fmla="*/ 523949 w 559472"/>
              <a:gd name="connsiteY3" fmla="*/ 3672197 h 3709642"/>
              <a:gd name="connsiteX4" fmla="*/ 454748 w 559472"/>
              <a:gd name="connsiteY4" fmla="*/ 3709642 h 3709642"/>
              <a:gd name="connsiteX5" fmla="*/ 448224 w 559472"/>
              <a:gd name="connsiteY5" fmla="*/ 3510471 h 3709642"/>
              <a:gd name="connsiteX6" fmla="*/ 443564 w 559472"/>
              <a:gd name="connsiteY6" fmla="*/ 3408563 h 3709642"/>
              <a:gd name="connsiteX7" fmla="*/ 438902 w 559472"/>
              <a:gd name="connsiteY7" fmla="*/ 3304407 h 3709642"/>
              <a:gd name="connsiteX8" fmla="*/ 433941 w 559472"/>
              <a:gd name="connsiteY8" fmla="*/ 3198777 h 3709642"/>
              <a:gd name="connsiteX9" fmla="*/ 427584 w 559472"/>
              <a:gd name="connsiteY9" fmla="*/ 3092510 h 3709642"/>
              <a:gd name="connsiteX10" fmla="*/ 420988 w 559472"/>
              <a:gd name="connsiteY10" fmla="*/ 2984390 h 3709642"/>
              <a:gd name="connsiteX11" fmla="*/ 414330 w 559472"/>
              <a:gd name="connsiteY11" fmla="*/ 2874401 h 3709642"/>
              <a:gd name="connsiteX12" fmla="*/ 406840 w 559472"/>
              <a:gd name="connsiteY12" fmla="*/ 2762980 h 3709642"/>
              <a:gd name="connsiteX13" fmla="*/ 397745 w 559472"/>
              <a:gd name="connsiteY13" fmla="*/ 2650566 h 3709642"/>
              <a:gd name="connsiteX14" fmla="*/ 389154 w 559472"/>
              <a:gd name="connsiteY14" fmla="*/ 2536612 h 3709642"/>
              <a:gd name="connsiteX15" fmla="*/ 379225 w 559472"/>
              <a:gd name="connsiteY15" fmla="*/ 2421642 h 3709642"/>
              <a:gd name="connsiteX16" fmla="*/ 368316 w 559472"/>
              <a:gd name="connsiteY16" fmla="*/ 2305627 h 3709642"/>
              <a:gd name="connsiteX17" fmla="*/ 357466 w 559472"/>
              <a:gd name="connsiteY17" fmla="*/ 2189233 h 3709642"/>
              <a:gd name="connsiteX18" fmla="*/ 344982 w 559472"/>
              <a:gd name="connsiteY18" fmla="*/ 2071473 h 3709642"/>
              <a:gd name="connsiteX19" fmla="*/ 332466 w 559472"/>
              <a:gd name="connsiteY19" fmla="*/ 1952216 h 3709642"/>
              <a:gd name="connsiteX20" fmla="*/ 319121 w 559472"/>
              <a:gd name="connsiteY20" fmla="*/ 1833776 h 3709642"/>
              <a:gd name="connsiteX21" fmla="*/ 304408 w 559472"/>
              <a:gd name="connsiteY21" fmla="*/ 1713948 h 3709642"/>
              <a:gd name="connsiteX22" fmla="*/ 288685 w 559472"/>
              <a:gd name="connsiteY22" fmla="*/ 1592703 h 3709642"/>
              <a:gd name="connsiteX23" fmla="*/ 273050 w 559472"/>
              <a:gd name="connsiteY23" fmla="*/ 1471451 h 3709642"/>
              <a:gd name="connsiteX24" fmla="*/ 255813 w 559472"/>
              <a:gd name="connsiteY24" fmla="*/ 1350328 h 3709642"/>
              <a:gd name="connsiteX25" fmla="*/ 237060 w 559472"/>
              <a:gd name="connsiteY25" fmla="*/ 1227080 h 3709642"/>
              <a:gd name="connsiteX26" fmla="*/ 218488 w 559472"/>
              <a:gd name="connsiteY26" fmla="*/ 1106065 h 3709642"/>
              <a:gd name="connsiteX27" fmla="*/ 198221 w 559472"/>
              <a:gd name="connsiteY27" fmla="*/ 982940 h 3709642"/>
              <a:gd name="connsiteX28" fmla="*/ 177152 w 559472"/>
              <a:gd name="connsiteY28" fmla="*/ 858755 h 3709642"/>
              <a:gd name="connsiteX29" fmla="*/ 155551 w 559472"/>
              <a:gd name="connsiteY29" fmla="*/ 736861 h 3709642"/>
              <a:gd name="connsiteX30" fmla="*/ 131782 w 559472"/>
              <a:gd name="connsiteY30" fmla="*/ 613645 h 3709642"/>
              <a:gd name="connsiteX31" fmla="*/ 107123 w 559472"/>
              <a:gd name="connsiteY31" fmla="*/ 490500 h 3709642"/>
              <a:gd name="connsiteX32" fmla="*/ 82552 w 559472"/>
              <a:gd name="connsiteY32" fmla="*/ 367348 h 3709642"/>
              <a:gd name="connsiteX33" fmla="*/ 55608 w 559472"/>
              <a:gd name="connsiteY33" fmla="*/ 244762 h 3709642"/>
              <a:gd name="connsiteX34" fmla="*/ 28130 w 559472"/>
              <a:gd name="connsiteY34" fmla="*/ 122220 h 3709642"/>
              <a:gd name="connsiteX35" fmla="*/ 0 w 559472"/>
              <a:gd name="connsiteY35" fmla="*/ 0 h 37096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559472" h="3709642">
                <a:moveTo>
                  <a:pt x="0" y="0"/>
                </a:moveTo>
                <a:lnTo>
                  <a:pt x="473952" y="0"/>
                </a:lnTo>
                <a:lnTo>
                  <a:pt x="485840" y="161194"/>
                </a:lnTo>
                <a:cubicBezTo>
                  <a:pt x="552063" y="1147770"/>
                  <a:pt x="592441" y="3086737"/>
                  <a:pt x="523949" y="3672197"/>
                </a:cubicBezTo>
                <a:cubicBezTo>
                  <a:pt x="500842" y="3684557"/>
                  <a:pt x="477855" y="3697282"/>
                  <a:pt x="454748" y="3709642"/>
                </a:cubicBezTo>
                <a:lnTo>
                  <a:pt x="448224" y="3510471"/>
                </a:lnTo>
                <a:lnTo>
                  <a:pt x="443564" y="3408563"/>
                </a:lnTo>
                <a:lnTo>
                  <a:pt x="438902" y="3304407"/>
                </a:lnTo>
                <a:lnTo>
                  <a:pt x="433941" y="3198777"/>
                </a:lnTo>
                <a:lnTo>
                  <a:pt x="427584" y="3092510"/>
                </a:lnTo>
                <a:lnTo>
                  <a:pt x="420988" y="2984390"/>
                </a:lnTo>
                <a:lnTo>
                  <a:pt x="414330" y="2874401"/>
                </a:lnTo>
                <a:lnTo>
                  <a:pt x="406840" y="2762980"/>
                </a:lnTo>
                <a:lnTo>
                  <a:pt x="397745" y="2650566"/>
                </a:lnTo>
                <a:lnTo>
                  <a:pt x="389154" y="2536612"/>
                </a:lnTo>
                <a:lnTo>
                  <a:pt x="379225" y="2421642"/>
                </a:lnTo>
                <a:lnTo>
                  <a:pt x="368316" y="2305627"/>
                </a:lnTo>
                <a:lnTo>
                  <a:pt x="357466" y="2189233"/>
                </a:lnTo>
                <a:lnTo>
                  <a:pt x="344982" y="2071473"/>
                </a:lnTo>
                <a:lnTo>
                  <a:pt x="332466" y="1952216"/>
                </a:lnTo>
                <a:lnTo>
                  <a:pt x="319121" y="1833776"/>
                </a:lnTo>
                <a:lnTo>
                  <a:pt x="304408" y="1713948"/>
                </a:lnTo>
                <a:lnTo>
                  <a:pt x="288685" y="1592703"/>
                </a:lnTo>
                <a:lnTo>
                  <a:pt x="273050" y="1471451"/>
                </a:lnTo>
                <a:lnTo>
                  <a:pt x="255813" y="1350328"/>
                </a:lnTo>
                <a:lnTo>
                  <a:pt x="237060" y="1227080"/>
                </a:lnTo>
                <a:lnTo>
                  <a:pt x="218488" y="1106065"/>
                </a:lnTo>
                <a:lnTo>
                  <a:pt x="198221" y="982940"/>
                </a:lnTo>
                <a:lnTo>
                  <a:pt x="177152" y="858755"/>
                </a:lnTo>
                <a:lnTo>
                  <a:pt x="155551" y="736861"/>
                </a:lnTo>
                <a:lnTo>
                  <a:pt x="131782" y="613645"/>
                </a:lnTo>
                <a:lnTo>
                  <a:pt x="107123" y="490500"/>
                </a:lnTo>
                <a:lnTo>
                  <a:pt x="82552" y="367348"/>
                </a:lnTo>
                <a:lnTo>
                  <a:pt x="55608" y="244762"/>
                </a:lnTo>
                <a:lnTo>
                  <a:pt x="28130" y="122220"/>
                </a:lnTo>
                <a:lnTo>
                  <a:pt x="0" y="0"/>
                </a:lnTo>
                <a:close/>
              </a:path>
            </a:pathLst>
          </a:custGeom>
          <a:solidFill>
            <a:schemeClr val="tx2"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8598F259-6F54-47A3-8D13-1603D786A3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1"/>
            <a:ext cx="4990911" cy="6858001"/>
          </a:xfrm>
          <a:custGeom>
            <a:avLst/>
            <a:gdLst>
              <a:gd name="connsiteX0" fmla="*/ 3646196 w 4990911"/>
              <a:gd name="connsiteY0" fmla="*/ 0 h 6858001"/>
              <a:gd name="connsiteX1" fmla="*/ 4989734 w 4990911"/>
              <a:gd name="connsiteY1" fmla="*/ 0 h 6858001"/>
              <a:gd name="connsiteX2" fmla="*/ 4964689 w 4990911"/>
              <a:gd name="connsiteY2" fmla="*/ 155677 h 6858001"/>
              <a:gd name="connsiteX3" fmla="*/ 4940820 w 4990911"/>
              <a:gd name="connsiteY3" fmla="*/ 310668 h 6858001"/>
              <a:gd name="connsiteX4" fmla="*/ 4917456 w 4990911"/>
              <a:gd name="connsiteY4" fmla="*/ 466344 h 6858001"/>
              <a:gd name="connsiteX5" fmla="*/ 4897453 w 4990911"/>
              <a:gd name="connsiteY5" fmla="*/ 622707 h 6858001"/>
              <a:gd name="connsiteX6" fmla="*/ 4877282 w 4990911"/>
              <a:gd name="connsiteY6" fmla="*/ 778383 h 6858001"/>
              <a:gd name="connsiteX7" fmla="*/ 4858456 w 4990911"/>
              <a:gd name="connsiteY7" fmla="*/ 934746 h 6858001"/>
              <a:gd name="connsiteX8" fmla="*/ 4842320 w 4990911"/>
              <a:gd name="connsiteY8" fmla="*/ 1089051 h 6858001"/>
              <a:gd name="connsiteX9" fmla="*/ 4827024 w 4990911"/>
              <a:gd name="connsiteY9" fmla="*/ 1245413 h 6858001"/>
              <a:gd name="connsiteX10" fmla="*/ 4813072 w 4990911"/>
              <a:gd name="connsiteY10" fmla="*/ 1401090 h 6858001"/>
              <a:gd name="connsiteX11" fmla="*/ 4800970 w 4990911"/>
              <a:gd name="connsiteY11" fmla="*/ 1554023 h 6858001"/>
              <a:gd name="connsiteX12" fmla="*/ 4788867 w 4990911"/>
              <a:gd name="connsiteY12" fmla="*/ 1709014 h 6858001"/>
              <a:gd name="connsiteX13" fmla="*/ 4778782 w 4990911"/>
              <a:gd name="connsiteY13" fmla="*/ 1861947 h 6858001"/>
              <a:gd name="connsiteX14" fmla="*/ 4770882 w 4990911"/>
              <a:gd name="connsiteY14" fmla="*/ 2014881 h 6858001"/>
              <a:gd name="connsiteX15" fmla="*/ 4762645 w 4990911"/>
              <a:gd name="connsiteY15" fmla="*/ 2167128 h 6858001"/>
              <a:gd name="connsiteX16" fmla="*/ 4755754 w 4990911"/>
              <a:gd name="connsiteY16" fmla="*/ 2318004 h 6858001"/>
              <a:gd name="connsiteX17" fmla="*/ 4750879 w 4990911"/>
              <a:gd name="connsiteY17" fmla="*/ 2467509 h 6858001"/>
              <a:gd name="connsiteX18" fmla="*/ 4746677 w 4990911"/>
              <a:gd name="connsiteY18" fmla="*/ 2617013 h 6858001"/>
              <a:gd name="connsiteX19" fmla="*/ 4742643 w 4990911"/>
              <a:gd name="connsiteY19" fmla="*/ 2765146 h 6858001"/>
              <a:gd name="connsiteX20" fmla="*/ 4740794 w 4990911"/>
              <a:gd name="connsiteY20" fmla="*/ 2911221 h 6858001"/>
              <a:gd name="connsiteX21" fmla="*/ 4738777 w 4990911"/>
              <a:gd name="connsiteY21" fmla="*/ 3057297 h 6858001"/>
              <a:gd name="connsiteX22" fmla="*/ 4737768 w 4990911"/>
              <a:gd name="connsiteY22" fmla="*/ 3201315 h 6858001"/>
              <a:gd name="connsiteX23" fmla="*/ 4738777 w 4990911"/>
              <a:gd name="connsiteY23" fmla="*/ 3343961 h 6858001"/>
              <a:gd name="connsiteX24" fmla="*/ 4738777 w 4990911"/>
              <a:gd name="connsiteY24" fmla="*/ 3485236 h 6858001"/>
              <a:gd name="connsiteX25" fmla="*/ 4740794 w 4990911"/>
              <a:gd name="connsiteY25" fmla="*/ 3625139 h 6858001"/>
              <a:gd name="connsiteX26" fmla="*/ 4743819 w 4990911"/>
              <a:gd name="connsiteY26" fmla="*/ 3762299 h 6858001"/>
              <a:gd name="connsiteX27" fmla="*/ 4746677 w 4990911"/>
              <a:gd name="connsiteY27" fmla="*/ 3898087 h 6858001"/>
              <a:gd name="connsiteX28" fmla="*/ 4749871 w 4990911"/>
              <a:gd name="connsiteY28" fmla="*/ 4031133 h 6858001"/>
              <a:gd name="connsiteX29" fmla="*/ 4754745 w 4990911"/>
              <a:gd name="connsiteY29" fmla="*/ 4163492 h 6858001"/>
              <a:gd name="connsiteX30" fmla="*/ 4759956 w 4990911"/>
              <a:gd name="connsiteY30" fmla="*/ 4293793 h 6858001"/>
              <a:gd name="connsiteX31" fmla="*/ 4764662 w 4990911"/>
              <a:gd name="connsiteY31" fmla="*/ 4421352 h 6858001"/>
              <a:gd name="connsiteX32" fmla="*/ 4777942 w 4990911"/>
              <a:gd name="connsiteY32" fmla="*/ 4670298 h 6858001"/>
              <a:gd name="connsiteX33" fmla="*/ 4792061 w 4990911"/>
              <a:gd name="connsiteY33" fmla="*/ 4908956 h 6858001"/>
              <a:gd name="connsiteX34" fmla="*/ 4806853 w 4990911"/>
              <a:gd name="connsiteY34" fmla="*/ 5138013 h 6858001"/>
              <a:gd name="connsiteX35" fmla="*/ 4823158 w 4990911"/>
              <a:gd name="connsiteY35" fmla="*/ 5354726 h 6858001"/>
              <a:gd name="connsiteX36" fmla="*/ 4840135 w 4990911"/>
              <a:gd name="connsiteY36" fmla="*/ 5561838 h 6858001"/>
              <a:gd name="connsiteX37" fmla="*/ 4858456 w 4990911"/>
              <a:gd name="connsiteY37" fmla="*/ 5753862 h 6858001"/>
              <a:gd name="connsiteX38" fmla="*/ 4876442 w 4990911"/>
              <a:gd name="connsiteY38" fmla="*/ 5934227 h 6858001"/>
              <a:gd name="connsiteX39" fmla="*/ 4894427 w 4990911"/>
              <a:gd name="connsiteY39" fmla="*/ 6100191 h 6858001"/>
              <a:gd name="connsiteX40" fmla="*/ 4911404 w 4990911"/>
              <a:gd name="connsiteY40" fmla="*/ 6252438 h 6858001"/>
              <a:gd name="connsiteX41" fmla="*/ 4927541 w 4990911"/>
              <a:gd name="connsiteY41" fmla="*/ 6387541 h 6858001"/>
              <a:gd name="connsiteX42" fmla="*/ 4942837 w 4990911"/>
              <a:gd name="connsiteY42" fmla="*/ 6509613 h 6858001"/>
              <a:gd name="connsiteX43" fmla="*/ 4955612 w 4990911"/>
              <a:gd name="connsiteY43" fmla="*/ 6612483 h 6858001"/>
              <a:gd name="connsiteX44" fmla="*/ 4967714 w 4990911"/>
              <a:gd name="connsiteY44" fmla="*/ 6698894 h 6858001"/>
              <a:gd name="connsiteX45" fmla="*/ 4985028 w 4990911"/>
              <a:gd name="connsiteY45" fmla="*/ 6817538 h 6858001"/>
              <a:gd name="connsiteX46" fmla="*/ 4990911 w 4990911"/>
              <a:gd name="connsiteY46" fmla="*/ 6858000 h 6858001"/>
              <a:gd name="connsiteX47" fmla="*/ 4085557 w 4990911"/>
              <a:gd name="connsiteY47" fmla="*/ 6858000 h 6858001"/>
              <a:gd name="connsiteX48" fmla="*/ 4085557 w 4990911"/>
              <a:gd name="connsiteY48" fmla="*/ 6858001 h 6858001"/>
              <a:gd name="connsiteX49" fmla="*/ 0 w 4990911"/>
              <a:gd name="connsiteY49" fmla="*/ 6858001 h 6858001"/>
              <a:gd name="connsiteX50" fmla="*/ 0 w 4990911"/>
              <a:gd name="connsiteY50" fmla="*/ 1 h 6858001"/>
              <a:gd name="connsiteX51" fmla="*/ 3646196 w 4990911"/>
              <a:gd name="connsiteY51" fmla="*/ 1 h 6858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4990911" h="6858001">
                <a:moveTo>
                  <a:pt x="3646196" y="0"/>
                </a:moveTo>
                <a:lnTo>
                  <a:pt x="4989734" y="0"/>
                </a:lnTo>
                <a:lnTo>
                  <a:pt x="4964689" y="155677"/>
                </a:lnTo>
                <a:lnTo>
                  <a:pt x="4940820" y="310668"/>
                </a:lnTo>
                <a:lnTo>
                  <a:pt x="4917456" y="466344"/>
                </a:lnTo>
                <a:lnTo>
                  <a:pt x="4897453" y="622707"/>
                </a:lnTo>
                <a:lnTo>
                  <a:pt x="4877282" y="778383"/>
                </a:lnTo>
                <a:lnTo>
                  <a:pt x="4858456" y="934746"/>
                </a:lnTo>
                <a:lnTo>
                  <a:pt x="4842320" y="1089051"/>
                </a:lnTo>
                <a:lnTo>
                  <a:pt x="4827024" y="1245413"/>
                </a:lnTo>
                <a:lnTo>
                  <a:pt x="4813072" y="1401090"/>
                </a:lnTo>
                <a:lnTo>
                  <a:pt x="4800970" y="1554023"/>
                </a:lnTo>
                <a:lnTo>
                  <a:pt x="4788867" y="1709014"/>
                </a:lnTo>
                <a:lnTo>
                  <a:pt x="4778782" y="1861947"/>
                </a:lnTo>
                <a:lnTo>
                  <a:pt x="4770882" y="2014881"/>
                </a:lnTo>
                <a:lnTo>
                  <a:pt x="4762645" y="2167128"/>
                </a:lnTo>
                <a:lnTo>
                  <a:pt x="4755754" y="2318004"/>
                </a:lnTo>
                <a:lnTo>
                  <a:pt x="4750879" y="2467509"/>
                </a:lnTo>
                <a:lnTo>
                  <a:pt x="4746677" y="2617013"/>
                </a:lnTo>
                <a:lnTo>
                  <a:pt x="4742643" y="2765146"/>
                </a:lnTo>
                <a:lnTo>
                  <a:pt x="4740794" y="2911221"/>
                </a:lnTo>
                <a:lnTo>
                  <a:pt x="4738777" y="3057297"/>
                </a:lnTo>
                <a:lnTo>
                  <a:pt x="4737768" y="3201315"/>
                </a:lnTo>
                <a:lnTo>
                  <a:pt x="4738777" y="3343961"/>
                </a:lnTo>
                <a:lnTo>
                  <a:pt x="4738777" y="3485236"/>
                </a:lnTo>
                <a:lnTo>
                  <a:pt x="4740794" y="3625139"/>
                </a:lnTo>
                <a:lnTo>
                  <a:pt x="4743819" y="3762299"/>
                </a:lnTo>
                <a:lnTo>
                  <a:pt x="4746677" y="3898087"/>
                </a:lnTo>
                <a:lnTo>
                  <a:pt x="4749871" y="4031133"/>
                </a:lnTo>
                <a:lnTo>
                  <a:pt x="4754745" y="4163492"/>
                </a:lnTo>
                <a:lnTo>
                  <a:pt x="4759956" y="4293793"/>
                </a:lnTo>
                <a:lnTo>
                  <a:pt x="4764662" y="4421352"/>
                </a:lnTo>
                <a:lnTo>
                  <a:pt x="4777942" y="4670298"/>
                </a:lnTo>
                <a:lnTo>
                  <a:pt x="4792061" y="4908956"/>
                </a:lnTo>
                <a:lnTo>
                  <a:pt x="4806853" y="5138013"/>
                </a:lnTo>
                <a:lnTo>
                  <a:pt x="4823158" y="5354726"/>
                </a:lnTo>
                <a:lnTo>
                  <a:pt x="4840135" y="5561838"/>
                </a:lnTo>
                <a:lnTo>
                  <a:pt x="4858456" y="5753862"/>
                </a:lnTo>
                <a:lnTo>
                  <a:pt x="4876442" y="5934227"/>
                </a:lnTo>
                <a:lnTo>
                  <a:pt x="4894427" y="6100191"/>
                </a:lnTo>
                <a:lnTo>
                  <a:pt x="4911404" y="6252438"/>
                </a:lnTo>
                <a:lnTo>
                  <a:pt x="4927541" y="6387541"/>
                </a:lnTo>
                <a:lnTo>
                  <a:pt x="4942837" y="6509613"/>
                </a:lnTo>
                <a:lnTo>
                  <a:pt x="4955612" y="6612483"/>
                </a:lnTo>
                <a:lnTo>
                  <a:pt x="4967714" y="6698894"/>
                </a:lnTo>
                <a:lnTo>
                  <a:pt x="4985028" y="6817538"/>
                </a:lnTo>
                <a:lnTo>
                  <a:pt x="4990911" y="6858000"/>
                </a:lnTo>
                <a:lnTo>
                  <a:pt x="4085557" y="6858000"/>
                </a:lnTo>
                <a:lnTo>
                  <a:pt x="4085557" y="6858001"/>
                </a:lnTo>
                <a:lnTo>
                  <a:pt x="0" y="6858001"/>
                </a:lnTo>
                <a:lnTo>
                  <a:pt x="0" y="1"/>
                </a:lnTo>
                <a:lnTo>
                  <a:pt x="3646196" y="1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BA768A8-4FED-4ED8-9E46-6BE72188EC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CA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511BF65-D5F8-9390-D8B0-08A15BCEC7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3143" y="1645920"/>
            <a:ext cx="3522879" cy="4470821"/>
          </a:xfrm>
        </p:spPr>
        <p:txBody>
          <a:bodyPr>
            <a:normAutofit/>
          </a:bodyPr>
          <a:lstStyle/>
          <a:p>
            <a:pPr algn="r"/>
            <a:r>
              <a:rPr lang="en-CA" dirty="0">
                <a:solidFill>
                  <a:srgbClr val="FFFFFF"/>
                </a:solidFill>
              </a:rPr>
              <a:t>Business Task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FE126F-9BE1-1BA9-9C5B-C3FC027AECC9}"/>
              </a:ext>
            </a:extLst>
          </p:cNvPr>
          <p:cNvSpPr>
            <a:spLocks noGrp="1"/>
          </p:cNvSpPr>
          <p:nvPr>
            <p:ph idx="1"/>
            <p:extLst>
              <p:ext uri="{E7BDC344-281C-4309-B0C6-D0EE65EED2A8}">
                <p202:designPr xmlns:p202="http://schemas.microsoft.com/office/powerpoint/2020/02/main">
                  <p202:designTagLst>
                    <p202:designTag name="ARCH:1:VSVAR" val="TitledTextBox"/>
                    <p202:designTag name="ARCH:1:CLS" val="InformationBlock"/>
                  </p202:designTagLst>
                </p202:designPr>
              </p:ext>
            </p:extLst>
          </p:nvPr>
        </p:nvSpPr>
        <p:spPr>
          <a:xfrm>
            <a:off x="5204109" y="1816834"/>
            <a:ext cx="5919503" cy="3785616"/>
          </a:xfrm>
        </p:spPr>
        <p:txBody>
          <a:bodyPr>
            <a:normAutofit/>
          </a:bodyPr>
          <a:lstStyle/>
          <a:p>
            <a:pPr marL="0" indent="0">
              <a:spcBef>
                <a:spcPts val="2500"/>
              </a:spcBef>
              <a:buFont typeface="Arial" panose="020B0604020202020204" pitchFamily="34" charset="0"/>
              <a:buNone/>
            </a:pPr>
            <a:r>
              <a:rPr lang="en-CA" sz="1400" b="1" dirty="0"/>
              <a:t>Sales</a:t>
            </a:r>
          </a:p>
          <a:p>
            <a:pPr marL="0" lvl="1" indent="0">
              <a:buNone/>
            </a:pPr>
            <a:r>
              <a:rPr lang="en-CA" sz="1400" dirty="0"/>
              <a:t>Identify the top 5 product categories by revenue and understand the performance through monthly changes from 2016 to 2018</a:t>
            </a:r>
          </a:p>
          <a:p>
            <a:pPr marL="0" lvl="1" indent="0">
              <a:buNone/>
            </a:pPr>
            <a:r>
              <a:rPr lang="en-CA" sz="1400" b="1" dirty="0"/>
              <a:t>Seller Insights</a:t>
            </a:r>
          </a:p>
          <a:p>
            <a:pPr marL="0" lvl="1" indent="0">
              <a:buFont typeface="Arial" panose="020B0604020202020204" pitchFamily="34" charset="0"/>
              <a:buNone/>
            </a:pPr>
            <a:r>
              <a:rPr lang="en-CA" sz="1400" dirty="0"/>
              <a:t>Identify sellers in the top 10% by sales volume and pinpoint what states have high demand of customers but low seller presence</a:t>
            </a:r>
          </a:p>
          <a:p>
            <a:pPr marL="0" lvl="1" indent="0">
              <a:buFont typeface="Arial" panose="020B0604020202020204" pitchFamily="34" charset="0"/>
              <a:buNone/>
            </a:pPr>
            <a:r>
              <a:rPr lang="en-CA" sz="1400" b="1" dirty="0"/>
              <a:t>Logistics​</a:t>
            </a:r>
          </a:p>
          <a:p>
            <a:pPr marL="0" lvl="1" indent="0">
              <a:buFont typeface="Arial" panose="020B0604020202020204" pitchFamily="34" charset="0"/>
              <a:buNone/>
            </a:pPr>
            <a:r>
              <a:rPr lang="en-CA" sz="1400" dirty="0"/>
              <a:t>Determine the average lead time in business days and identify what states have their average lead time exceed the average estimated average time</a:t>
            </a:r>
          </a:p>
          <a:p>
            <a:pPr marL="0" lvl="1" indent="0">
              <a:buFont typeface="Arial" panose="020B0604020202020204" pitchFamily="34" charset="0"/>
              <a:buNone/>
            </a:pPr>
            <a:r>
              <a:rPr lang="en-CA" sz="1400" b="1" dirty="0"/>
              <a:t>Customer Satisfaction</a:t>
            </a:r>
          </a:p>
          <a:p>
            <a:pPr marL="0" lvl="1" indent="0">
              <a:buFont typeface="Arial" panose="020B0604020202020204" pitchFamily="34" charset="0"/>
              <a:buNone/>
            </a:pPr>
            <a:r>
              <a:rPr lang="en-CA" sz="1400" dirty="0"/>
              <a:t>Does shipping cause a lower customer satisfaction? If so, what is the rating penalty for late shipping</a:t>
            </a:r>
          </a:p>
        </p:txBody>
      </p:sp>
    </p:spTree>
    <p:extLst>
      <p:ext uri="{BB962C8B-B14F-4D97-AF65-F5344CB8AC3E}">
        <p14:creationId xmlns:p14="http://schemas.microsoft.com/office/powerpoint/2010/main" val="136645884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487D927-B98E-B29D-450D-C56125055C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ED8DA6DC-72F3-69CC-BEA4-64D5715D46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9742298-3797-071A-6A9F-B4FC3DA084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CA"/>
          </a:p>
        </p:txBody>
      </p:sp>
      <p:sp>
        <p:nvSpPr>
          <p:cNvPr id="12" name="Freeform 7">
            <a:extLst>
              <a:ext uri="{FF2B5EF4-FFF2-40B4-BE49-F238E27FC236}">
                <a16:creationId xmlns:a16="http://schemas.microsoft.com/office/drawing/2014/main" id="{4DB01871-B693-11F7-B056-A2A2AB19C6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719939" y="1460230"/>
            <a:ext cx="3472060" cy="825932"/>
          </a:xfrm>
          <a:custGeom>
            <a:avLst/>
            <a:gdLst>
              <a:gd name="connsiteX0" fmla="*/ 3470310 w 3472060"/>
              <a:gd name="connsiteY0" fmla="*/ 0 h 825932"/>
              <a:gd name="connsiteX1" fmla="*/ 3472060 w 3472060"/>
              <a:gd name="connsiteY1" fmla="*/ 12850 h 825932"/>
              <a:gd name="connsiteX2" fmla="*/ 3472060 w 3472060"/>
              <a:gd name="connsiteY2" fmla="*/ 480529 h 825932"/>
              <a:gd name="connsiteX3" fmla="*/ 3363699 w 3472060"/>
              <a:gd name="connsiteY3" fmla="*/ 498471 h 825932"/>
              <a:gd name="connsiteX4" fmla="*/ 42060 w 3472060"/>
              <a:gd name="connsiteY4" fmla="*/ 824486 h 825932"/>
              <a:gd name="connsiteX5" fmla="*/ 0 w 3472060"/>
              <a:gd name="connsiteY5" fmla="*/ 758452 h 825932"/>
              <a:gd name="connsiteX6" fmla="*/ 188014 w 3472060"/>
              <a:gd name="connsiteY6" fmla="*/ 735602 h 825932"/>
              <a:gd name="connsiteX7" fmla="*/ 284087 w 3472060"/>
              <a:gd name="connsiteY7" fmla="*/ 722590 h 825932"/>
              <a:gd name="connsiteX8" fmla="*/ 382288 w 3472060"/>
              <a:gd name="connsiteY8" fmla="*/ 709392 h 825932"/>
              <a:gd name="connsiteX9" fmla="*/ 481858 w 3472060"/>
              <a:gd name="connsiteY9" fmla="*/ 695774 h 825932"/>
              <a:gd name="connsiteX10" fmla="*/ 581897 w 3472060"/>
              <a:gd name="connsiteY10" fmla="*/ 680711 h 825932"/>
              <a:gd name="connsiteX11" fmla="*/ 683670 w 3472060"/>
              <a:gd name="connsiteY11" fmla="*/ 665256 h 825932"/>
              <a:gd name="connsiteX12" fmla="*/ 787206 w 3472060"/>
              <a:gd name="connsiteY12" fmla="*/ 649587 h 825932"/>
              <a:gd name="connsiteX13" fmla="*/ 892019 w 3472060"/>
              <a:gd name="connsiteY13" fmla="*/ 632968 h 825932"/>
              <a:gd name="connsiteX14" fmla="*/ 997620 w 3472060"/>
              <a:gd name="connsiteY14" fmla="*/ 614667 h 825932"/>
              <a:gd name="connsiteX15" fmla="*/ 1104727 w 3472060"/>
              <a:gd name="connsiteY15" fmla="*/ 596741 h 825932"/>
              <a:gd name="connsiteX16" fmla="*/ 1212669 w 3472060"/>
              <a:gd name="connsiteY16" fmla="*/ 577397 h 825932"/>
              <a:gd name="connsiteX17" fmla="*/ 1321506 w 3472060"/>
              <a:gd name="connsiteY17" fmla="*/ 556988 h 825932"/>
              <a:gd name="connsiteX18" fmla="*/ 1430709 w 3472060"/>
              <a:gd name="connsiteY18" fmla="*/ 536607 h 825932"/>
              <a:gd name="connsiteX19" fmla="*/ 1541050 w 3472060"/>
              <a:gd name="connsiteY19" fmla="*/ 514481 h 825932"/>
              <a:gd name="connsiteX20" fmla="*/ 1652805 w 3472060"/>
              <a:gd name="connsiteY20" fmla="*/ 492202 h 825932"/>
              <a:gd name="connsiteX21" fmla="*/ 1763708 w 3472060"/>
              <a:gd name="connsiteY21" fmla="*/ 469161 h 825932"/>
              <a:gd name="connsiteX22" fmla="*/ 1875795 w 3472060"/>
              <a:gd name="connsiteY22" fmla="*/ 444641 h 825932"/>
              <a:gd name="connsiteX23" fmla="*/ 1989128 w 3472060"/>
              <a:gd name="connsiteY23" fmla="*/ 418995 h 825932"/>
              <a:gd name="connsiteX24" fmla="*/ 2102476 w 3472060"/>
              <a:gd name="connsiteY24" fmla="*/ 393438 h 825932"/>
              <a:gd name="connsiteX25" fmla="*/ 2215549 w 3472060"/>
              <a:gd name="connsiteY25" fmla="*/ 366291 h 825932"/>
              <a:gd name="connsiteX26" fmla="*/ 2330490 w 3472060"/>
              <a:gd name="connsiteY26" fmla="*/ 337455 h 825932"/>
              <a:gd name="connsiteX27" fmla="*/ 2443333 w 3472060"/>
              <a:gd name="connsiteY27" fmla="*/ 308983 h 825932"/>
              <a:gd name="connsiteX28" fmla="*/ 2558014 w 3472060"/>
              <a:gd name="connsiteY28" fmla="*/ 278646 h 825932"/>
              <a:gd name="connsiteX29" fmla="*/ 2673621 w 3472060"/>
              <a:gd name="connsiteY29" fmla="*/ 247421 h 825932"/>
              <a:gd name="connsiteX30" fmla="*/ 2787008 w 3472060"/>
              <a:gd name="connsiteY30" fmla="*/ 215853 h 825932"/>
              <a:gd name="connsiteX31" fmla="*/ 2901442 w 3472060"/>
              <a:gd name="connsiteY31" fmla="*/ 182011 h 825932"/>
              <a:gd name="connsiteX32" fmla="*/ 3015722 w 3472060"/>
              <a:gd name="connsiteY32" fmla="*/ 147286 h 825932"/>
              <a:gd name="connsiteX33" fmla="*/ 3130018 w 3472060"/>
              <a:gd name="connsiteY33" fmla="*/ 112649 h 825932"/>
              <a:gd name="connsiteX34" fmla="*/ 3243551 w 3472060"/>
              <a:gd name="connsiteY34" fmla="*/ 75688 h 825932"/>
              <a:gd name="connsiteX35" fmla="*/ 3356992 w 3472060"/>
              <a:gd name="connsiteY35" fmla="*/ 38197 h 825932"/>
              <a:gd name="connsiteX36" fmla="*/ 3470310 w 3472060"/>
              <a:gd name="connsiteY36" fmla="*/ 0 h 8259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</a:cxnLst>
            <a:rect l="l" t="t" r="r" b="b"/>
            <a:pathLst>
              <a:path w="3472060" h="825932">
                <a:moveTo>
                  <a:pt x="3470310" y="0"/>
                </a:moveTo>
                <a:lnTo>
                  <a:pt x="3472060" y="12850"/>
                </a:lnTo>
                <a:lnTo>
                  <a:pt x="3472060" y="480529"/>
                </a:lnTo>
                <a:lnTo>
                  <a:pt x="3363699" y="498471"/>
                </a:lnTo>
                <a:cubicBezTo>
                  <a:pt x="2435623" y="645518"/>
                  <a:pt x="603076" y="844866"/>
                  <a:pt x="42060" y="824486"/>
                </a:cubicBezTo>
                <a:cubicBezTo>
                  <a:pt x="28151" y="802425"/>
                  <a:pt x="13909" y="780513"/>
                  <a:pt x="0" y="758452"/>
                </a:cubicBezTo>
                <a:lnTo>
                  <a:pt x="188014" y="735602"/>
                </a:lnTo>
                <a:lnTo>
                  <a:pt x="284087" y="722590"/>
                </a:lnTo>
                <a:lnTo>
                  <a:pt x="382288" y="709392"/>
                </a:lnTo>
                <a:lnTo>
                  <a:pt x="481858" y="695774"/>
                </a:lnTo>
                <a:lnTo>
                  <a:pt x="581897" y="680711"/>
                </a:lnTo>
                <a:lnTo>
                  <a:pt x="683670" y="665256"/>
                </a:lnTo>
                <a:lnTo>
                  <a:pt x="787206" y="649587"/>
                </a:lnTo>
                <a:lnTo>
                  <a:pt x="892019" y="632968"/>
                </a:lnTo>
                <a:lnTo>
                  <a:pt x="997620" y="614667"/>
                </a:lnTo>
                <a:lnTo>
                  <a:pt x="1104727" y="596741"/>
                </a:lnTo>
                <a:lnTo>
                  <a:pt x="1212669" y="577397"/>
                </a:lnTo>
                <a:lnTo>
                  <a:pt x="1321506" y="556988"/>
                </a:lnTo>
                <a:lnTo>
                  <a:pt x="1430709" y="536607"/>
                </a:lnTo>
                <a:lnTo>
                  <a:pt x="1541050" y="514481"/>
                </a:lnTo>
                <a:lnTo>
                  <a:pt x="1652805" y="492202"/>
                </a:lnTo>
                <a:lnTo>
                  <a:pt x="1763708" y="469161"/>
                </a:lnTo>
                <a:lnTo>
                  <a:pt x="1875795" y="444641"/>
                </a:lnTo>
                <a:lnTo>
                  <a:pt x="1989128" y="418995"/>
                </a:lnTo>
                <a:lnTo>
                  <a:pt x="2102476" y="393438"/>
                </a:lnTo>
                <a:lnTo>
                  <a:pt x="2215549" y="366291"/>
                </a:lnTo>
                <a:lnTo>
                  <a:pt x="2330490" y="337455"/>
                </a:lnTo>
                <a:lnTo>
                  <a:pt x="2443333" y="308983"/>
                </a:lnTo>
                <a:lnTo>
                  <a:pt x="2558014" y="278646"/>
                </a:lnTo>
                <a:lnTo>
                  <a:pt x="2673621" y="247421"/>
                </a:lnTo>
                <a:lnTo>
                  <a:pt x="2787008" y="215853"/>
                </a:lnTo>
                <a:lnTo>
                  <a:pt x="2901442" y="182011"/>
                </a:lnTo>
                <a:lnTo>
                  <a:pt x="3015722" y="147286"/>
                </a:lnTo>
                <a:lnTo>
                  <a:pt x="3130018" y="112649"/>
                </a:lnTo>
                <a:lnTo>
                  <a:pt x="3243551" y="75688"/>
                </a:lnTo>
                <a:lnTo>
                  <a:pt x="3356992" y="38197"/>
                </a:lnTo>
                <a:lnTo>
                  <a:pt x="3470310" y="0"/>
                </a:lnTo>
                <a:close/>
              </a:path>
            </a:pathLst>
          </a:custGeom>
          <a:solidFill>
            <a:schemeClr val="bg1"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 useBgFill="1">
        <p:nvSpPr>
          <p:cNvPr id="14" name="Freeform: Shape 13">
            <a:extLst>
              <a:ext uri="{FF2B5EF4-FFF2-40B4-BE49-F238E27FC236}">
                <a16:creationId xmlns:a16="http://schemas.microsoft.com/office/drawing/2014/main" id="{7DE3BB3B-9DFE-307B-AF73-8753FA60AE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>
            <a:off x="1" y="1762067"/>
            <a:ext cx="12192417" cy="5095933"/>
          </a:xfrm>
          <a:custGeom>
            <a:avLst/>
            <a:gdLst>
              <a:gd name="connsiteX0" fmla="*/ 0 w 12192417"/>
              <a:gd name="connsiteY0" fmla="*/ 0 h 5095933"/>
              <a:gd name="connsiteX1" fmla="*/ 71931 w 12192417"/>
              <a:gd name="connsiteY1" fmla="*/ 12261 h 5095933"/>
              <a:gd name="connsiteX2" fmla="*/ 282848 w 12192417"/>
              <a:gd name="connsiteY2" fmla="*/ 48343 h 5095933"/>
              <a:gd name="connsiteX3" fmla="*/ 436463 w 12192417"/>
              <a:gd name="connsiteY3" fmla="*/ 73565 h 5095933"/>
              <a:gd name="connsiteX4" fmla="*/ 619338 w 12192417"/>
              <a:gd name="connsiteY4" fmla="*/ 100188 h 5095933"/>
              <a:gd name="connsiteX5" fmla="*/ 836350 w 12192417"/>
              <a:gd name="connsiteY5" fmla="*/ 132066 h 5095933"/>
              <a:gd name="connsiteX6" fmla="*/ 1076527 w 12192417"/>
              <a:gd name="connsiteY6" fmla="*/ 165696 h 5095933"/>
              <a:gd name="connsiteX7" fmla="*/ 1347183 w 12192417"/>
              <a:gd name="connsiteY7" fmla="*/ 201077 h 5095933"/>
              <a:gd name="connsiteX8" fmla="*/ 1642222 w 12192417"/>
              <a:gd name="connsiteY8" fmla="*/ 238560 h 5095933"/>
              <a:gd name="connsiteX9" fmla="*/ 1962863 w 12192417"/>
              <a:gd name="connsiteY9" fmla="*/ 276043 h 5095933"/>
              <a:gd name="connsiteX10" fmla="*/ 2304231 w 12192417"/>
              <a:gd name="connsiteY10" fmla="*/ 314227 h 5095933"/>
              <a:gd name="connsiteX11" fmla="*/ 2672420 w 12192417"/>
              <a:gd name="connsiteY11" fmla="*/ 349608 h 5095933"/>
              <a:gd name="connsiteX12" fmla="*/ 3057677 w 12192417"/>
              <a:gd name="connsiteY12" fmla="*/ 383588 h 5095933"/>
              <a:gd name="connsiteX13" fmla="*/ 3464880 w 12192417"/>
              <a:gd name="connsiteY13" fmla="*/ 414415 h 5095933"/>
              <a:gd name="connsiteX14" fmla="*/ 3889151 w 12192417"/>
              <a:gd name="connsiteY14" fmla="*/ 443841 h 5095933"/>
              <a:gd name="connsiteX15" fmla="*/ 4331709 w 12192417"/>
              <a:gd name="connsiteY15" fmla="*/ 471515 h 5095933"/>
              <a:gd name="connsiteX16" fmla="*/ 4558475 w 12192417"/>
              <a:gd name="connsiteY16" fmla="*/ 481324 h 5095933"/>
              <a:gd name="connsiteX17" fmla="*/ 4790117 w 12192417"/>
              <a:gd name="connsiteY17" fmla="*/ 492183 h 5095933"/>
              <a:gd name="connsiteX18" fmla="*/ 5025417 w 12192417"/>
              <a:gd name="connsiteY18" fmla="*/ 502342 h 5095933"/>
              <a:gd name="connsiteX19" fmla="*/ 5261936 w 12192417"/>
              <a:gd name="connsiteY19" fmla="*/ 508998 h 5095933"/>
              <a:gd name="connsiteX20" fmla="*/ 5503331 w 12192417"/>
              <a:gd name="connsiteY20" fmla="*/ 514953 h 5095933"/>
              <a:gd name="connsiteX21" fmla="*/ 5747166 w 12192417"/>
              <a:gd name="connsiteY21" fmla="*/ 521259 h 5095933"/>
              <a:gd name="connsiteX22" fmla="*/ 5995876 w 12192417"/>
              <a:gd name="connsiteY22" fmla="*/ 525463 h 5095933"/>
              <a:gd name="connsiteX23" fmla="*/ 6247025 w 12192417"/>
              <a:gd name="connsiteY23" fmla="*/ 525463 h 5095933"/>
              <a:gd name="connsiteX24" fmla="*/ 6500612 w 12192417"/>
              <a:gd name="connsiteY24" fmla="*/ 527565 h 5095933"/>
              <a:gd name="connsiteX25" fmla="*/ 6756638 w 12192417"/>
              <a:gd name="connsiteY25" fmla="*/ 525463 h 5095933"/>
              <a:gd name="connsiteX26" fmla="*/ 7016321 w 12192417"/>
              <a:gd name="connsiteY26" fmla="*/ 521259 h 5095933"/>
              <a:gd name="connsiteX27" fmla="*/ 7276004 w 12192417"/>
              <a:gd name="connsiteY27" fmla="*/ 517406 h 5095933"/>
              <a:gd name="connsiteX28" fmla="*/ 7539344 w 12192417"/>
              <a:gd name="connsiteY28" fmla="*/ 508998 h 5095933"/>
              <a:gd name="connsiteX29" fmla="*/ 7805123 w 12192417"/>
              <a:gd name="connsiteY29" fmla="*/ 500241 h 5095933"/>
              <a:gd name="connsiteX30" fmla="*/ 8070902 w 12192417"/>
              <a:gd name="connsiteY30" fmla="*/ 490082 h 5095933"/>
              <a:gd name="connsiteX31" fmla="*/ 8339120 w 12192417"/>
              <a:gd name="connsiteY31" fmla="*/ 475719 h 5095933"/>
              <a:gd name="connsiteX32" fmla="*/ 8609775 w 12192417"/>
              <a:gd name="connsiteY32" fmla="*/ 458554 h 5095933"/>
              <a:gd name="connsiteX33" fmla="*/ 8881650 w 12192417"/>
              <a:gd name="connsiteY33" fmla="*/ 442089 h 5095933"/>
              <a:gd name="connsiteX34" fmla="*/ 9153525 w 12192417"/>
              <a:gd name="connsiteY34" fmla="*/ 421071 h 5095933"/>
              <a:gd name="connsiteX35" fmla="*/ 9429057 w 12192417"/>
              <a:gd name="connsiteY35" fmla="*/ 395849 h 5095933"/>
              <a:gd name="connsiteX36" fmla="*/ 9700932 w 12192417"/>
              <a:gd name="connsiteY36" fmla="*/ 370626 h 5095933"/>
              <a:gd name="connsiteX37" fmla="*/ 9977683 w 12192417"/>
              <a:gd name="connsiteY37" fmla="*/ 341551 h 5095933"/>
              <a:gd name="connsiteX38" fmla="*/ 10255654 w 12192417"/>
              <a:gd name="connsiteY38" fmla="*/ 309673 h 5095933"/>
              <a:gd name="connsiteX39" fmla="*/ 10529967 w 12192417"/>
              <a:gd name="connsiteY39" fmla="*/ 276043 h 5095933"/>
              <a:gd name="connsiteX40" fmla="*/ 10807938 w 12192417"/>
              <a:gd name="connsiteY40" fmla="*/ 236809 h 5095933"/>
              <a:gd name="connsiteX41" fmla="*/ 11084689 w 12192417"/>
              <a:gd name="connsiteY41" fmla="*/ 194772 h 5095933"/>
              <a:gd name="connsiteX42" fmla="*/ 11362660 w 12192417"/>
              <a:gd name="connsiteY42" fmla="*/ 153085 h 5095933"/>
              <a:gd name="connsiteX43" fmla="*/ 11639411 w 12192417"/>
              <a:gd name="connsiteY43" fmla="*/ 104392 h 5095933"/>
              <a:gd name="connsiteX44" fmla="*/ 11914944 w 12192417"/>
              <a:gd name="connsiteY44" fmla="*/ 54648 h 5095933"/>
              <a:gd name="connsiteX45" fmla="*/ 12191695 w 12192417"/>
              <a:gd name="connsiteY45" fmla="*/ 2452 h 5095933"/>
              <a:gd name="connsiteX46" fmla="*/ 12191695 w 12192417"/>
              <a:gd name="connsiteY46" fmla="*/ 2162231 h 5095933"/>
              <a:gd name="connsiteX47" fmla="*/ 12192417 w 12192417"/>
              <a:gd name="connsiteY47" fmla="*/ 2162231 h 5095933"/>
              <a:gd name="connsiteX48" fmla="*/ 12192417 w 12192417"/>
              <a:gd name="connsiteY48" fmla="*/ 5095933 h 5095933"/>
              <a:gd name="connsiteX49" fmla="*/ 0 w 12192417"/>
              <a:gd name="connsiteY49" fmla="*/ 5095933 h 5095933"/>
              <a:gd name="connsiteX50" fmla="*/ 0 w 12192417"/>
              <a:gd name="connsiteY50" fmla="*/ 2791958 h 5095933"/>
              <a:gd name="connsiteX51" fmla="*/ 0 w 12192417"/>
              <a:gd name="connsiteY51" fmla="*/ 2162231 h 50959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12192417" h="5095933">
                <a:moveTo>
                  <a:pt x="0" y="0"/>
                </a:moveTo>
                <a:lnTo>
                  <a:pt x="71931" y="12261"/>
                </a:lnTo>
                <a:lnTo>
                  <a:pt x="282848" y="48343"/>
                </a:lnTo>
                <a:lnTo>
                  <a:pt x="436463" y="73565"/>
                </a:lnTo>
                <a:lnTo>
                  <a:pt x="619338" y="100188"/>
                </a:lnTo>
                <a:lnTo>
                  <a:pt x="836350" y="132066"/>
                </a:lnTo>
                <a:lnTo>
                  <a:pt x="1076527" y="165696"/>
                </a:lnTo>
                <a:lnTo>
                  <a:pt x="1347183" y="201077"/>
                </a:lnTo>
                <a:lnTo>
                  <a:pt x="1642222" y="238560"/>
                </a:lnTo>
                <a:lnTo>
                  <a:pt x="1962863" y="276043"/>
                </a:lnTo>
                <a:lnTo>
                  <a:pt x="2304231" y="314227"/>
                </a:lnTo>
                <a:lnTo>
                  <a:pt x="2672420" y="349608"/>
                </a:lnTo>
                <a:lnTo>
                  <a:pt x="3057677" y="383588"/>
                </a:lnTo>
                <a:lnTo>
                  <a:pt x="3464880" y="414415"/>
                </a:lnTo>
                <a:lnTo>
                  <a:pt x="3889151" y="443841"/>
                </a:lnTo>
                <a:lnTo>
                  <a:pt x="4331709" y="471515"/>
                </a:lnTo>
                <a:lnTo>
                  <a:pt x="4558475" y="481324"/>
                </a:lnTo>
                <a:lnTo>
                  <a:pt x="4790117" y="492183"/>
                </a:lnTo>
                <a:lnTo>
                  <a:pt x="5025417" y="502342"/>
                </a:lnTo>
                <a:lnTo>
                  <a:pt x="5261936" y="508998"/>
                </a:lnTo>
                <a:lnTo>
                  <a:pt x="5503331" y="514953"/>
                </a:lnTo>
                <a:lnTo>
                  <a:pt x="5747166" y="521259"/>
                </a:lnTo>
                <a:lnTo>
                  <a:pt x="5995876" y="525463"/>
                </a:lnTo>
                <a:lnTo>
                  <a:pt x="6247025" y="525463"/>
                </a:lnTo>
                <a:lnTo>
                  <a:pt x="6500612" y="527565"/>
                </a:lnTo>
                <a:lnTo>
                  <a:pt x="6756638" y="525463"/>
                </a:lnTo>
                <a:lnTo>
                  <a:pt x="7016321" y="521259"/>
                </a:lnTo>
                <a:lnTo>
                  <a:pt x="7276004" y="517406"/>
                </a:lnTo>
                <a:lnTo>
                  <a:pt x="7539344" y="508998"/>
                </a:lnTo>
                <a:lnTo>
                  <a:pt x="7805123" y="500241"/>
                </a:lnTo>
                <a:lnTo>
                  <a:pt x="8070902" y="490082"/>
                </a:lnTo>
                <a:lnTo>
                  <a:pt x="8339120" y="475719"/>
                </a:lnTo>
                <a:lnTo>
                  <a:pt x="8609775" y="458554"/>
                </a:lnTo>
                <a:lnTo>
                  <a:pt x="8881650" y="442089"/>
                </a:lnTo>
                <a:lnTo>
                  <a:pt x="9153525" y="421071"/>
                </a:lnTo>
                <a:lnTo>
                  <a:pt x="9429057" y="395849"/>
                </a:lnTo>
                <a:lnTo>
                  <a:pt x="9700932" y="370626"/>
                </a:lnTo>
                <a:lnTo>
                  <a:pt x="9977683" y="341551"/>
                </a:lnTo>
                <a:lnTo>
                  <a:pt x="10255654" y="309673"/>
                </a:lnTo>
                <a:lnTo>
                  <a:pt x="10529967" y="276043"/>
                </a:lnTo>
                <a:lnTo>
                  <a:pt x="10807938" y="236809"/>
                </a:lnTo>
                <a:lnTo>
                  <a:pt x="11084689" y="194772"/>
                </a:lnTo>
                <a:lnTo>
                  <a:pt x="11362660" y="153085"/>
                </a:lnTo>
                <a:lnTo>
                  <a:pt x="11639411" y="104392"/>
                </a:lnTo>
                <a:lnTo>
                  <a:pt x="11914944" y="54648"/>
                </a:lnTo>
                <a:lnTo>
                  <a:pt x="12191695" y="2452"/>
                </a:lnTo>
                <a:lnTo>
                  <a:pt x="12191695" y="2162231"/>
                </a:lnTo>
                <a:lnTo>
                  <a:pt x="12192417" y="2162231"/>
                </a:lnTo>
                <a:lnTo>
                  <a:pt x="12192417" y="5095933"/>
                </a:lnTo>
                <a:lnTo>
                  <a:pt x="0" y="5095933"/>
                </a:lnTo>
                <a:lnTo>
                  <a:pt x="0" y="2791958"/>
                </a:lnTo>
                <a:lnTo>
                  <a:pt x="0" y="2162231"/>
                </a:lnTo>
                <a:close/>
              </a:path>
            </a:pathLst>
          </a:custGeom>
          <a:ln>
            <a:noFill/>
          </a:ln>
        </p:spPr>
        <p:txBody>
          <a:bodyPr/>
          <a:lstStyle/>
          <a:p>
            <a:endParaRPr lang="en-CA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9128269-462C-2CED-75A8-17C87C1B62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03312" y="452718"/>
            <a:ext cx="8947522" cy="1400530"/>
          </a:xfrm>
        </p:spPr>
        <p:txBody>
          <a:bodyPr anchor="ctr">
            <a:normAutofit/>
          </a:bodyPr>
          <a:lstStyle/>
          <a:p>
            <a:r>
              <a:rPr lang="en-CA" dirty="0">
                <a:solidFill>
                  <a:srgbClr val="FFFFFF"/>
                </a:solidFill>
              </a:rPr>
              <a:t>Top 5 Product Categories 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7160B9B0-2989-AAEB-6EB4-8665459CA72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3312" y="2537434"/>
            <a:ext cx="4883346" cy="3867848"/>
          </a:xfrm>
          <a:prstGeom prst="rect">
            <a:avLst/>
          </a:prstGeom>
        </p:spPr>
      </p:pic>
      <p:sp>
        <p:nvSpPr>
          <p:cNvPr id="16" name="Content Placeholder 15">
            <a:extLst>
              <a:ext uri="{FF2B5EF4-FFF2-40B4-BE49-F238E27FC236}">
                <a16:creationId xmlns:a16="http://schemas.microsoft.com/office/drawing/2014/main" id="{C2A0FB0C-507A-1D60-FCB0-E58065D68D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86658" y="2537434"/>
            <a:ext cx="4063195" cy="3867848"/>
          </a:xfrm>
        </p:spPr>
        <p:txBody>
          <a:bodyPr/>
          <a:lstStyle/>
          <a:p>
            <a:pPr>
              <a:buClr>
                <a:srgbClr val="34343F"/>
              </a:buClr>
            </a:pPr>
            <a:r>
              <a:rPr lang="en-CA" dirty="0">
                <a:solidFill>
                  <a:srgbClr val="34343F"/>
                </a:solidFill>
              </a:rPr>
              <a:t>Top 5 product categories contribute to approximately $8,000,000</a:t>
            </a:r>
          </a:p>
          <a:p>
            <a:pPr>
              <a:buClr>
                <a:srgbClr val="34343F"/>
              </a:buClr>
            </a:pPr>
            <a:r>
              <a:rPr lang="en-CA" dirty="0">
                <a:solidFill>
                  <a:srgbClr val="34343F"/>
                </a:solidFill>
              </a:rPr>
              <a:t>These categories are equivalent to 38.9% of total revenue share</a:t>
            </a:r>
          </a:p>
          <a:p>
            <a:pPr>
              <a:buClr>
                <a:srgbClr val="34343F"/>
              </a:buClr>
            </a:pPr>
            <a:r>
              <a:rPr lang="en-CA" dirty="0">
                <a:solidFill>
                  <a:srgbClr val="34343F"/>
                </a:solidFill>
              </a:rPr>
              <a:t>The top 10 product categories are responsible for 62.4% of total revenue share</a:t>
            </a:r>
          </a:p>
        </p:txBody>
      </p:sp>
    </p:spTree>
    <p:extLst>
      <p:ext uri="{BB962C8B-B14F-4D97-AF65-F5344CB8AC3E}">
        <p14:creationId xmlns:p14="http://schemas.microsoft.com/office/powerpoint/2010/main" val="99656028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74CD14DB-BB81-479F-A1FC-1C75640E9F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943A91B-7CA7-4592-A975-73B1BF8C4C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CA"/>
          </a:p>
        </p:txBody>
      </p:sp>
      <p:sp>
        <p:nvSpPr>
          <p:cNvPr id="12" name="Freeform 7">
            <a:extLst>
              <a:ext uri="{FF2B5EF4-FFF2-40B4-BE49-F238E27FC236}">
                <a16:creationId xmlns:a16="http://schemas.microsoft.com/office/drawing/2014/main" id="{EC471314-E46A-414B-8D91-74880E84F1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719939" y="1460230"/>
            <a:ext cx="3472060" cy="825932"/>
          </a:xfrm>
          <a:custGeom>
            <a:avLst/>
            <a:gdLst>
              <a:gd name="connsiteX0" fmla="*/ 3470310 w 3472060"/>
              <a:gd name="connsiteY0" fmla="*/ 0 h 825932"/>
              <a:gd name="connsiteX1" fmla="*/ 3472060 w 3472060"/>
              <a:gd name="connsiteY1" fmla="*/ 12850 h 825932"/>
              <a:gd name="connsiteX2" fmla="*/ 3472060 w 3472060"/>
              <a:gd name="connsiteY2" fmla="*/ 480529 h 825932"/>
              <a:gd name="connsiteX3" fmla="*/ 3363699 w 3472060"/>
              <a:gd name="connsiteY3" fmla="*/ 498471 h 825932"/>
              <a:gd name="connsiteX4" fmla="*/ 42060 w 3472060"/>
              <a:gd name="connsiteY4" fmla="*/ 824486 h 825932"/>
              <a:gd name="connsiteX5" fmla="*/ 0 w 3472060"/>
              <a:gd name="connsiteY5" fmla="*/ 758452 h 825932"/>
              <a:gd name="connsiteX6" fmla="*/ 188014 w 3472060"/>
              <a:gd name="connsiteY6" fmla="*/ 735602 h 825932"/>
              <a:gd name="connsiteX7" fmla="*/ 284087 w 3472060"/>
              <a:gd name="connsiteY7" fmla="*/ 722590 h 825932"/>
              <a:gd name="connsiteX8" fmla="*/ 382288 w 3472060"/>
              <a:gd name="connsiteY8" fmla="*/ 709392 h 825932"/>
              <a:gd name="connsiteX9" fmla="*/ 481858 w 3472060"/>
              <a:gd name="connsiteY9" fmla="*/ 695774 h 825932"/>
              <a:gd name="connsiteX10" fmla="*/ 581897 w 3472060"/>
              <a:gd name="connsiteY10" fmla="*/ 680711 h 825932"/>
              <a:gd name="connsiteX11" fmla="*/ 683670 w 3472060"/>
              <a:gd name="connsiteY11" fmla="*/ 665256 h 825932"/>
              <a:gd name="connsiteX12" fmla="*/ 787206 w 3472060"/>
              <a:gd name="connsiteY12" fmla="*/ 649587 h 825932"/>
              <a:gd name="connsiteX13" fmla="*/ 892019 w 3472060"/>
              <a:gd name="connsiteY13" fmla="*/ 632968 h 825932"/>
              <a:gd name="connsiteX14" fmla="*/ 997620 w 3472060"/>
              <a:gd name="connsiteY14" fmla="*/ 614667 h 825932"/>
              <a:gd name="connsiteX15" fmla="*/ 1104727 w 3472060"/>
              <a:gd name="connsiteY15" fmla="*/ 596741 h 825932"/>
              <a:gd name="connsiteX16" fmla="*/ 1212669 w 3472060"/>
              <a:gd name="connsiteY16" fmla="*/ 577397 h 825932"/>
              <a:gd name="connsiteX17" fmla="*/ 1321506 w 3472060"/>
              <a:gd name="connsiteY17" fmla="*/ 556988 h 825932"/>
              <a:gd name="connsiteX18" fmla="*/ 1430709 w 3472060"/>
              <a:gd name="connsiteY18" fmla="*/ 536607 h 825932"/>
              <a:gd name="connsiteX19" fmla="*/ 1541050 w 3472060"/>
              <a:gd name="connsiteY19" fmla="*/ 514481 h 825932"/>
              <a:gd name="connsiteX20" fmla="*/ 1652805 w 3472060"/>
              <a:gd name="connsiteY20" fmla="*/ 492202 h 825932"/>
              <a:gd name="connsiteX21" fmla="*/ 1763708 w 3472060"/>
              <a:gd name="connsiteY21" fmla="*/ 469161 h 825932"/>
              <a:gd name="connsiteX22" fmla="*/ 1875795 w 3472060"/>
              <a:gd name="connsiteY22" fmla="*/ 444641 h 825932"/>
              <a:gd name="connsiteX23" fmla="*/ 1989128 w 3472060"/>
              <a:gd name="connsiteY23" fmla="*/ 418995 h 825932"/>
              <a:gd name="connsiteX24" fmla="*/ 2102476 w 3472060"/>
              <a:gd name="connsiteY24" fmla="*/ 393438 h 825932"/>
              <a:gd name="connsiteX25" fmla="*/ 2215549 w 3472060"/>
              <a:gd name="connsiteY25" fmla="*/ 366291 h 825932"/>
              <a:gd name="connsiteX26" fmla="*/ 2330490 w 3472060"/>
              <a:gd name="connsiteY26" fmla="*/ 337455 h 825932"/>
              <a:gd name="connsiteX27" fmla="*/ 2443333 w 3472060"/>
              <a:gd name="connsiteY27" fmla="*/ 308983 h 825932"/>
              <a:gd name="connsiteX28" fmla="*/ 2558014 w 3472060"/>
              <a:gd name="connsiteY28" fmla="*/ 278646 h 825932"/>
              <a:gd name="connsiteX29" fmla="*/ 2673621 w 3472060"/>
              <a:gd name="connsiteY29" fmla="*/ 247421 h 825932"/>
              <a:gd name="connsiteX30" fmla="*/ 2787008 w 3472060"/>
              <a:gd name="connsiteY30" fmla="*/ 215853 h 825932"/>
              <a:gd name="connsiteX31" fmla="*/ 2901442 w 3472060"/>
              <a:gd name="connsiteY31" fmla="*/ 182011 h 825932"/>
              <a:gd name="connsiteX32" fmla="*/ 3015722 w 3472060"/>
              <a:gd name="connsiteY32" fmla="*/ 147286 h 825932"/>
              <a:gd name="connsiteX33" fmla="*/ 3130018 w 3472060"/>
              <a:gd name="connsiteY33" fmla="*/ 112649 h 825932"/>
              <a:gd name="connsiteX34" fmla="*/ 3243551 w 3472060"/>
              <a:gd name="connsiteY34" fmla="*/ 75688 h 825932"/>
              <a:gd name="connsiteX35" fmla="*/ 3356992 w 3472060"/>
              <a:gd name="connsiteY35" fmla="*/ 38197 h 825932"/>
              <a:gd name="connsiteX36" fmla="*/ 3470310 w 3472060"/>
              <a:gd name="connsiteY36" fmla="*/ 0 h 8259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</a:cxnLst>
            <a:rect l="l" t="t" r="r" b="b"/>
            <a:pathLst>
              <a:path w="3472060" h="825932">
                <a:moveTo>
                  <a:pt x="3470310" y="0"/>
                </a:moveTo>
                <a:lnTo>
                  <a:pt x="3472060" y="12850"/>
                </a:lnTo>
                <a:lnTo>
                  <a:pt x="3472060" y="480529"/>
                </a:lnTo>
                <a:lnTo>
                  <a:pt x="3363699" y="498471"/>
                </a:lnTo>
                <a:cubicBezTo>
                  <a:pt x="2435623" y="645518"/>
                  <a:pt x="603076" y="844866"/>
                  <a:pt x="42060" y="824486"/>
                </a:cubicBezTo>
                <a:cubicBezTo>
                  <a:pt x="28151" y="802425"/>
                  <a:pt x="13909" y="780513"/>
                  <a:pt x="0" y="758452"/>
                </a:cubicBezTo>
                <a:lnTo>
                  <a:pt x="188014" y="735602"/>
                </a:lnTo>
                <a:lnTo>
                  <a:pt x="284087" y="722590"/>
                </a:lnTo>
                <a:lnTo>
                  <a:pt x="382288" y="709392"/>
                </a:lnTo>
                <a:lnTo>
                  <a:pt x="481858" y="695774"/>
                </a:lnTo>
                <a:lnTo>
                  <a:pt x="581897" y="680711"/>
                </a:lnTo>
                <a:lnTo>
                  <a:pt x="683670" y="665256"/>
                </a:lnTo>
                <a:lnTo>
                  <a:pt x="787206" y="649587"/>
                </a:lnTo>
                <a:lnTo>
                  <a:pt x="892019" y="632968"/>
                </a:lnTo>
                <a:lnTo>
                  <a:pt x="997620" y="614667"/>
                </a:lnTo>
                <a:lnTo>
                  <a:pt x="1104727" y="596741"/>
                </a:lnTo>
                <a:lnTo>
                  <a:pt x="1212669" y="577397"/>
                </a:lnTo>
                <a:lnTo>
                  <a:pt x="1321506" y="556988"/>
                </a:lnTo>
                <a:lnTo>
                  <a:pt x="1430709" y="536607"/>
                </a:lnTo>
                <a:lnTo>
                  <a:pt x="1541050" y="514481"/>
                </a:lnTo>
                <a:lnTo>
                  <a:pt x="1652805" y="492202"/>
                </a:lnTo>
                <a:lnTo>
                  <a:pt x="1763708" y="469161"/>
                </a:lnTo>
                <a:lnTo>
                  <a:pt x="1875795" y="444641"/>
                </a:lnTo>
                <a:lnTo>
                  <a:pt x="1989128" y="418995"/>
                </a:lnTo>
                <a:lnTo>
                  <a:pt x="2102476" y="393438"/>
                </a:lnTo>
                <a:lnTo>
                  <a:pt x="2215549" y="366291"/>
                </a:lnTo>
                <a:lnTo>
                  <a:pt x="2330490" y="337455"/>
                </a:lnTo>
                <a:lnTo>
                  <a:pt x="2443333" y="308983"/>
                </a:lnTo>
                <a:lnTo>
                  <a:pt x="2558014" y="278646"/>
                </a:lnTo>
                <a:lnTo>
                  <a:pt x="2673621" y="247421"/>
                </a:lnTo>
                <a:lnTo>
                  <a:pt x="2787008" y="215853"/>
                </a:lnTo>
                <a:lnTo>
                  <a:pt x="2901442" y="182011"/>
                </a:lnTo>
                <a:lnTo>
                  <a:pt x="3015722" y="147286"/>
                </a:lnTo>
                <a:lnTo>
                  <a:pt x="3130018" y="112649"/>
                </a:lnTo>
                <a:lnTo>
                  <a:pt x="3243551" y="75688"/>
                </a:lnTo>
                <a:lnTo>
                  <a:pt x="3356992" y="38197"/>
                </a:lnTo>
                <a:lnTo>
                  <a:pt x="3470310" y="0"/>
                </a:lnTo>
                <a:close/>
              </a:path>
            </a:pathLst>
          </a:custGeom>
          <a:solidFill>
            <a:schemeClr val="bg1"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 useBgFill="1">
        <p:nvSpPr>
          <p:cNvPr id="14" name="Freeform: Shape 13">
            <a:extLst>
              <a:ext uri="{FF2B5EF4-FFF2-40B4-BE49-F238E27FC236}">
                <a16:creationId xmlns:a16="http://schemas.microsoft.com/office/drawing/2014/main" id="{6A681326-1C9D-44A3-A627-3871BDAE41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>
            <a:off x="1" y="1762067"/>
            <a:ext cx="12192417" cy="5095933"/>
          </a:xfrm>
          <a:custGeom>
            <a:avLst/>
            <a:gdLst>
              <a:gd name="connsiteX0" fmla="*/ 0 w 12192417"/>
              <a:gd name="connsiteY0" fmla="*/ 0 h 5095933"/>
              <a:gd name="connsiteX1" fmla="*/ 71931 w 12192417"/>
              <a:gd name="connsiteY1" fmla="*/ 12261 h 5095933"/>
              <a:gd name="connsiteX2" fmla="*/ 282848 w 12192417"/>
              <a:gd name="connsiteY2" fmla="*/ 48343 h 5095933"/>
              <a:gd name="connsiteX3" fmla="*/ 436463 w 12192417"/>
              <a:gd name="connsiteY3" fmla="*/ 73565 h 5095933"/>
              <a:gd name="connsiteX4" fmla="*/ 619338 w 12192417"/>
              <a:gd name="connsiteY4" fmla="*/ 100188 h 5095933"/>
              <a:gd name="connsiteX5" fmla="*/ 836350 w 12192417"/>
              <a:gd name="connsiteY5" fmla="*/ 132066 h 5095933"/>
              <a:gd name="connsiteX6" fmla="*/ 1076527 w 12192417"/>
              <a:gd name="connsiteY6" fmla="*/ 165696 h 5095933"/>
              <a:gd name="connsiteX7" fmla="*/ 1347183 w 12192417"/>
              <a:gd name="connsiteY7" fmla="*/ 201077 h 5095933"/>
              <a:gd name="connsiteX8" fmla="*/ 1642222 w 12192417"/>
              <a:gd name="connsiteY8" fmla="*/ 238560 h 5095933"/>
              <a:gd name="connsiteX9" fmla="*/ 1962863 w 12192417"/>
              <a:gd name="connsiteY9" fmla="*/ 276043 h 5095933"/>
              <a:gd name="connsiteX10" fmla="*/ 2304231 w 12192417"/>
              <a:gd name="connsiteY10" fmla="*/ 314227 h 5095933"/>
              <a:gd name="connsiteX11" fmla="*/ 2672420 w 12192417"/>
              <a:gd name="connsiteY11" fmla="*/ 349608 h 5095933"/>
              <a:gd name="connsiteX12" fmla="*/ 3057677 w 12192417"/>
              <a:gd name="connsiteY12" fmla="*/ 383588 h 5095933"/>
              <a:gd name="connsiteX13" fmla="*/ 3464880 w 12192417"/>
              <a:gd name="connsiteY13" fmla="*/ 414415 h 5095933"/>
              <a:gd name="connsiteX14" fmla="*/ 3889151 w 12192417"/>
              <a:gd name="connsiteY14" fmla="*/ 443841 h 5095933"/>
              <a:gd name="connsiteX15" fmla="*/ 4331709 w 12192417"/>
              <a:gd name="connsiteY15" fmla="*/ 471515 h 5095933"/>
              <a:gd name="connsiteX16" fmla="*/ 4558475 w 12192417"/>
              <a:gd name="connsiteY16" fmla="*/ 481324 h 5095933"/>
              <a:gd name="connsiteX17" fmla="*/ 4790117 w 12192417"/>
              <a:gd name="connsiteY17" fmla="*/ 492183 h 5095933"/>
              <a:gd name="connsiteX18" fmla="*/ 5025417 w 12192417"/>
              <a:gd name="connsiteY18" fmla="*/ 502342 h 5095933"/>
              <a:gd name="connsiteX19" fmla="*/ 5261936 w 12192417"/>
              <a:gd name="connsiteY19" fmla="*/ 508998 h 5095933"/>
              <a:gd name="connsiteX20" fmla="*/ 5503331 w 12192417"/>
              <a:gd name="connsiteY20" fmla="*/ 514953 h 5095933"/>
              <a:gd name="connsiteX21" fmla="*/ 5747166 w 12192417"/>
              <a:gd name="connsiteY21" fmla="*/ 521259 h 5095933"/>
              <a:gd name="connsiteX22" fmla="*/ 5995876 w 12192417"/>
              <a:gd name="connsiteY22" fmla="*/ 525463 h 5095933"/>
              <a:gd name="connsiteX23" fmla="*/ 6247025 w 12192417"/>
              <a:gd name="connsiteY23" fmla="*/ 525463 h 5095933"/>
              <a:gd name="connsiteX24" fmla="*/ 6500612 w 12192417"/>
              <a:gd name="connsiteY24" fmla="*/ 527565 h 5095933"/>
              <a:gd name="connsiteX25" fmla="*/ 6756638 w 12192417"/>
              <a:gd name="connsiteY25" fmla="*/ 525463 h 5095933"/>
              <a:gd name="connsiteX26" fmla="*/ 7016321 w 12192417"/>
              <a:gd name="connsiteY26" fmla="*/ 521259 h 5095933"/>
              <a:gd name="connsiteX27" fmla="*/ 7276004 w 12192417"/>
              <a:gd name="connsiteY27" fmla="*/ 517406 h 5095933"/>
              <a:gd name="connsiteX28" fmla="*/ 7539344 w 12192417"/>
              <a:gd name="connsiteY28" fmla="*/ 508998 h 5095933"/>
              <a:gd name="connsiteX29" fmla="*/ 7805123 w 12192417"/>
              <a:gd name="connsiteY29" fmla="*/ 500241 h 5095933"/>
              <a:gd name="connsiteX30" fmla="*/ 8070902 w 12192417"/>
              <a:gd name="connsiteY30" fmla="*/ 490082 h 5095933"/>
              <a:gd name="connsiteX31" fmla="*/ 8339120 w 12192417"/>
              <a:gd name="connsiteY31" fmla="*/ 475719 h 5095933"/>
              <a:gd name="connsiteX32" fmla="*/ 8609775 w 12192417"/>
              <a:gd name="connsiteY32" fmla="*/ 458554 h 5095933"/>
              <a:gd name="connsiteX33" fmla="*/ 8881650 w 12192417"/>
              <a:gd name="connsiteY33" fmla="*/ 442089 h 5095933"/>
              <a:gd name="connsiteX34" fmla="*/ 9153525 w 12192417"/>
              <a:gd name="connsiteY34" fmla="*/ 421071 h 5095933"/>
              <a:gd name="connsiteX35" fmla="*/ 9429057 w 12192417"/>
              <a:gd name="connsiteY35" fmla="*/ 395849 h 5095933"/>
              <a:gd name="connsiteX36" fmla="*/ 9700932 w 12192417"/>
              <a:gd name="connsiteY36" fmla="*/ 370626 h 5095933"/>
              <a:gd name="connsiteX37" fmla="*/ 9977683 w 12192417"/>
              <a:gd name="connsiteY37" fmla="*/ 341551 h 5095933"/>
              <a:gd name="connsiteX38" fmla="*/ 10255654 w 12192417"/>
              <a:gd name="connsiteY38" fmla="*/ 309673 h 5095933"/>
              <a:gd name="connsiteX39" fmla="*/ 10529967 w 12192417"/>
              <a:gd name="connsiteY39" fmla="*/ 276043 h 5095933"/>
              <a:gd name="connsiteX40" fmla="*/ 10807938 w 12192417"/>
              <a:gd name="connsiteY40" fmla="*/ 236809 h 5095933"/>
              <a:gd name="connsiteX41" fmla="*/ 11084689 w 12192417"/>
              <a:gd name="connsiteY41" fmla="*/ 194772 h 5095933"/>
              <a:gd name="connsiteX42" fmla="*/ 11362660 w 12192417"/>
              <a:gd name="connsiteY42" fmla="*/ 153085 h 5095933"/>
              <a:gd name="connsiteX43" fmla="*/ 11639411 w 12192417"/>
              <a:gd name="connsiteY43" fmla="*/ 104392 h 5095933"/>
              <a:gd name="connsiteX44" fmla="*/ 11914944 w 12192417"/>
              <a:gd name="connsiteY44" fmla="*/ 54648 h 5095933"/>
              <a:gd name="connsiteX45" fmla="*/ 12191695 w 12192417"/>
              <a:gd name="connsiteY45" fmla="*/ 2452 h 5095933"/>
              <a:gd name="connsiteX46" fmla="*/ 12191695 w 12192417"/>
              <a:gd name="connsiteY46" fmla="*/ 2162231 h 5095933"/>
              <a:gd name="connsiteX47" fmla="*/ 12192417 w 12192417"/>
              <a:gd name="connsiteY47" fmla="*/ 2162231 h 5095933"/>
              <a:gd name="connsiteX48" fmla="*/ 12192417 w 12192417"/>
              <a:gd name="connsiteY48" fmla="*/ 5095933 h 5095933"/>
              <a:gd name="connsiteX49" fmla="*/ 0 w 12192417"/>
              <a:gd name="connsiteY49" fmla="*/ 5095933 h 5095933"/>
              <a:gd name="connsiteX50" fmla="*/ 0 w 12192417"/>
              <a:gd name="connsiteY50" fmla="*/ 2791958 h 5095933"/>
              <a:gd name="connsiteX51" fmla="*/ 0 w 12192417"/>
              <a:gd name="connsiteY51" fmla="*/ 2162231 h 50959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12192417" h="5095933">
                <a:moveTo>
                  <a:pt x="0" y="0"/>
                </a:moveTo>
                <a:lnTo>
                  <a:pt x="71931" y="12261"/>
                </a:lnTo>
                <a:lnTo>
                  <a:pt x="282848" y="48343"/>
                </a:lnTo>
                <a:lnTo>
                  <a:pt x="436463" y="73565"/>
                </a:lnTo>
                <a:lnTo>
                  <a:pt x="619338" y="100188"/>
                </a:lnTo>
                <a:lnTo>
                  <a:pt x="836350" y="132066"/>
                </a:lnTo>
                <a:lnTo>
                  <a:pt x="1076527" y="165696"/>
                </a:lnTo>
                <a:lnTo>
                  <a:pt x="1347183" y="201077"/>
                </a:lnTo>
                <a:lnTo>
                  <a:pt x="1642222" y="238560"/>
                </a:lnTo>
                <a:lnTo>
                  <a:pt x="1962863" y="276043"/>
                </a:lnTo>
                <a:lnTo>
                  <a:pt x="2304231" y="314227"/>
                </a:lnTo>
                <a:lnTo>
                  <a:pt x="2672420" y="349608"/>
                </a:lnTo>
                <a:lnTo>
                  <a:pt x="3057677" y="383588"/>
                </a:lnTo>
                <a:lnTo>
                  <a:pt x="3464880" y="414415"/>
                </a:lnTo>
                <a:lnTo>
                  <a:pt x="3889151" y="443841"/>
                </a:lnTo>
                <a:lnTo>
                  <a:pt x="4331709" y="471515"/>
                </a:lnTo>
                <a:lnTo>
                  <a:pt x="4558475" y="481324"/>
                </a:lnTo>
                <a:lnTo>
                  <a:pt x="4790117" y="492183"/>
                </a:lnTo>
                <a:lnTo>
                  <a:pt x="5025417" y="502342"/>
                </a:lnTo>
                <a:lnTo>
                  <a:pt x="5261936" y="508998"/>
                </a:lnTo>
                <a:lnTo>
                  <a:pt x="5503331" y="514953"/>
                </a:lnTo>
                <a:lnTo>
                  <a:pt x="5747166" y="521259"/>
                </a:lnTo>
                <a:lnTo>
                  <a:pt x="5995876" y="525463"/>
                </a:lnTo>
                <a:lnTo>
                  <a:pt x="6247025" y="525463"/>
                </a:lnTo>
                <a:lnTo>
                  <a:pt x="6500612" y="527565"/>
                </a:lnTo>
                <a:lnTo>
                  <a:pt x="6756638" y="525463"/>
                </a:lnTo>
                <a:lnTo>
                  <a:pt x="7016321" y="521259"/>
                </a:lnTo>
                <a:lnTo>
                  <a:pt x="7276004" y="517406"/>
                </a:lnTo>
                <a:lnTo>
                  <a:pt x="7539344" y="508998"/>
                </a:lnTo>
                <a:lnTo>
                  <a:pt x="7805123" y="500241"/>
                </a:lnTo>
                <a:lnTo>
                  <a:pt x="8070902" y="490082"/>
                </a:lnTo>
                <a:lnTo>
                  <a:pt x="8339120" y="475719"/>
                </a:lnTo>
                <a:lnTo>
                  <a:pt x="8609775" y="458554"/>
                </a:lnTo>
                <a:lnTo>
                  <a:pt x="8881650" y="442089"/>
                </a:lnTo>
                <a:lnTo>
                  <a:pt x="9153525" y="421071"/>
                </a:lnTo>
                <a:lnTo>
                  <a:pt x="9429057" y="395849"/>
                </a:lnTo>
                <a:lnTo>
                  <a:pt x="9700932" y="370626"/>
                </a:lnTo>
                <a:lnTo>
                  <a:pt x="9977683" y="341551"/>
                </a:lnTo>
                <a:lnTo>
                  <a:pt x="10255654" y="309673"/>
                </a:lnTo>
                <a:lnTo>
                  <a:pt x="10529967" y="276043"/>
                </a:lnTo>
                <a:lnTo>
                  <a:pt x="10807938" y="236809"/>
                </a:lnTo>
                <a:lnTo>
                  <a:pt x="11084689" y="194772"/>
                </a:lnTo>
                <a:lnTo>
                  <a:pt x="11362660" y="153085"/>
                </a:lnTo>
                <a:lnTo>
                  <a:pt x="11639411" y="104392"/>
                </a:lnTo>
                <a:lnTo>
                  <a:pt x="11914944" y="54648"/>
                </a:lnTo>
                <a:lnTo>
                  <a:pt x="12191695" y="2452"/>
                </a:lnTo>
                <a:lnTo>
                  <a:pt x="12191695" y="2162231"/>
                </a:lnTo>
                <a:lnTo>
                  <a:pt x="12192417" y="2162231"/>
                </a:lnTo>
                <a:lnTo>
                  <a:pt x="12192417" y="5095933"/>
                </a:lnTo>
                <a:lnTo>
                  <a:pt x="0" y="5095933"/>
                </a:lnTo>
                <a:lnTo>
                  <a:pt x="0" y="2791958"/>
                </a:lnTo>
                <a:lnTo>
                  <a:pt x="0" y="2162231"/>
                </a:lnTo>
                <a:close/>
              </a:path>
            </a:pathLst>
          </a:custGeom>
          <a:ln>
            <a:noFill/>
          </a:ln>
        </p:spPr>
        <p:txBody>
          <a:bodyPr/>
          <a:lstStyle/>
          <a:p>
            <a:endParaRPr lang="en-CA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30EB0AF-ABD0-5EED-4C8B-8EB55A15E0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03312" y="452718"/>
            <a:ext cx="8947522" cy="1400530"/>
          </a:xfrm>
        </p:spPr>
        <p:txBody>
          <a:bodyPr anchor="ctr">
            <a:normAutofit/>
          </a:bodyPr>
          <a:lstStyle/>
          <a:p>
            <a:r>
              <a:rPr lang="en-CA" sz="3600" dirty="0">
                <a:solidFill>
                  <a:srgbClr val="FFFFFF"/>
                </a:solidFill>
              </a:rPr>
              <a:t>Top 5 Product Categories Over time</a:t>
            </a:r>
          </a:p>
        </p:txBody>
      </p:sp>
      <p:sp>
        <p:nvSpPr>
          <p:cNvPr id="16" name="Content Placeholder 15">
            <a:extLst>
              <a:ext uri="{FF2B5EF4-FFF2-40B4-BE49-F238E27FC236}">
                <a16:creationId xmlns:a16="http://schemas.microsoft.com/office/drawing/2014/main" id="{60B478E9-B7E4-0C27-FAA2-B879AD4B63F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48472" y="2720400"/>
            <a:ext cx="2775140" cy="3179266"/>
          </a:xfrm>
        </p:spPr>
        <p:txBody>
          <a:bodyPr>
            <a:normAutofit/>
          </a:bodyPr>
          <a:lstStyle/>
          <a:p>
            <a:pPr marL="0" indent="0">
              <a:buClr>
                <a:srgbClr val="34343F"/>
              </a:buClr>
              <a:buNone/>
            </a:pPr>
            <a:r>
              <a:rPr lang="en-US" dirty="0"/>
              <a:t>Most categories showed consistent growth until a general decline began in April 2018. Health Beauty is the notable exception, maintaining a positive projected growth trajectory.</a:t>
            </a:r>
            <a:endParaRPr lang="en-CA" dirty="0">
              <a:solidFill>
                <a:srgbClr val="34343F"/>
              </a:solidFill>
            </a:endParaRP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DDBAB44E-2F0B-D56C-E685-3A44D81739F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3771" y="2897866"/>
            <a:ext cx="7524283" cy="28243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113477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69000"/>
                <a:hueMod val="108000"/>
                <a:satMod val="164000"/>
                <a:lumMod val="74000"/>
              </a:schemeClr>
              <a:schemeClr val="bg2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7AF0014-39A4-93A2-5470-B49CCE3FE3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C3C340-162B-DCCF-87DA-B5FE1F4CB8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2" y="452718"/>
            <a:ext cx="4165580" cy="1400530"/>
          </a:xfrm>
        </p:spPr>
        <p:txBody>
          <a:bodyPr>
            <a:normAutofit fontScale="90000"/>
          </a:bodyPr>
          <a:lstStyle/>
          <a:p>
            <a:r>
              <a:rPr lang="en-CA" dirty="0"/>
              <a:t>Customer Demand vs Seller Workload</a:t>
            </a:r>
          </a:p>
        </p:txBody>
      </p:sp>
      <p:sp>
        <p:nvSpPr>
          <p:cNvPr id="21" name="Freeform: Shape 20">
            <a:extLst>
              <a:ext uri="{FF2B5EF4-FFF2-40B4-BE49-F238E27FC236}">
                <a16:creationId xmlns:a16="http://schemas.microsoft.com/office/drawing/2014/main" id="{7DAA46B9-B7E8-4487-B28E-C63A6EB7AA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 rot="16200000">
            <a:off x="5270819" y="-63600"/>
            <a:ext cx="6858001" cy="6985200"/>
          </a:xfrm>
          <a:custGeom>
            <a:avLst/>
            <a:gdLst>
              <a:gd name="connsiteX0" fmla="*/ 6858001 w 6858001"/>
              <a:gd name="connsiteY0" fmla="*/ 1177 h 6985200"/>
              <a:gd name="connsiteX1" fmla="*/ 6858001 w 6858001"/>
              <a:gd name="connsiteY1" fmla="*/ 1344715 h 6985200"/>
              <a:gd name="connsiteX2" fmla="*/ 6858000 w 6858001"/>
              <a:gd name="connsiteY2" fmla="*/ 1344715 h 6985200"/>
              <a:gd name="connsiteX3" fmla="*/ 6858000 w 6858001"/>
              <a:gd name="connsiteY3" fmla="*/ 6985200 h 6985200"/>
              <a:gd name="connsiteX4" fmla="*/ 0 w 6858001"/>
              <a:gd name="connsiteY4" fmla="*/ 6985199 h 6985200"/>
              <a:gd name="connsiteX5" fmla="*/ 0 w 6858001"/>
              <a:gd name="connsiteY5" fmla="*/ 887191 h 6985200"/>
              <a:gd name="connsiteX6" fmla="*/ 1 w 6858001"/>
              <a:gd name="connsiteY6" fmla="*/ 887191 h 6985200"/>
              <a:gd name="connsiteX7" fmla="*/ 1 w 6858001"/>
              <a:gd name="connsiteY7" fmla="*/ 0 h 6985200"/>
              <a:gd name="connsiteX8" fmla="*/ 40463 w 6858001"/>
              <a:gd name="connsiteY8" fmla="*/ 5883 h 6985200"/>
              <a:gd name="connsiteX9" fmla="*/ 159107 w 6858001"/>
              <a:gd name="connsiteY9" fmla="*/ 23196 h 6985200"/>
              <a:gd name="connsiteX10" fmla="*/ 245518 w 6858001"/>
              <a:gd name="connsiteY10" fmla="*/ 35299 h 6985200"/>
              <a:gd name="connsiteX11" fmla="*/ 348388 w 6858001"/>
              <a:gd name="connsiteY11" fmla="*/ 48073 h 6985200"/>
              <a:gd name="connsiteX12" fmla="*/ 470460 w 6858001"/>
              <a:gd name="connsiteY12" fmla="*/ 63369 h 6985200"/>
              <a:gd name="connsiteX13" fmla="*/ 605563 w 6858001"/>
              <a:gd name="connsiteY13" fmla="*/ 79506 h 6985200"/>
              <a:gd name="connsiteX14" fmla="*/ 757810 w 6858001"/>
              <a:gd name="connsiteY14" fmla="*/ 96483 h 6985200"/>
              <a:gd name="connsiteX15" fmla="*/ 923774 w 6858001"/>
              <a:gd name="connsiteY15" fmla="*/ 114469 h 6985200"/>
              <a:gd name="connsiteX16" fmla="*/ 1104139 w 6858001"/>
              <a:gd name="connsiteY16" fmla="*/ 132454 h 6985200"/>
              <a:gd name="connsiteX17" fmla="*/ 1296163 w 6858001"/>
              <a:gd name="connsiteY17" fmla="*/ 150776 h 6985200"/>
              <a:gd name="connsiteX18" fmla="*/ 1503275 w 6858001"/>
              <a:gd name="connsiteY18" fmla="*/ 167753 h 6985200"/>
              <a:gd name="connsiteX19" fmla="*/ 1719988 w 6858001"/>
              <a:gd name="connsiteY19" fmla="*/ 184058 h 6985200"/>
              <a:gd name="connsiteX20" fmla="*/ 1949045 w 6858001"/>
              <a:gd name="connsiteY20" fmla="*/ 198849 h 6985200"/>
              <a:gd name="connsiteX21" fmla="*/ 2187703 w 6858001"/>
              <a:gd name="connsiteY21" fmla="*/ 212969 h 6985200"/>
              <a:gd name="connsiteX22" fmla="*/ 2436649 w 6858001"/>
              <a:gd name="connsiteY22" fmla="*/ 226248 h 6985200"/>
              <a:gd name="connsiteX23" fmla="*/ 2564208 w 6858001"/>
              <a:gd name="connsiteY23" fmla="*/ 230955 h 6985200"/>
              <a:gd name="connsiteX24" fmla="*/ 2694509 w 6858001"/>
              <a:gd name="connsiteY24" fmla="*/ 236165 h 6985200"/>
              <a:gd name="connsiteX25" fmla="*/ 2826869 w 6858001"/>
              <a:gd name="connsiteY25" fmla="*/ 241040 h 6985200"/>
              <a:gd name="connsiteX26" fmla="*/ 2959914 w 6858001"/>
              <a:gd name="connsiteY26" fmla="*/ 244234 h 6985200"/>
              <a:gd name="connsiteX27" fmla="*/ 3095702 w 6858001"/>
              <a:gd name="connsiteY27" fmla="*/ 247091 h 6985200"/>
              <a:gd name="connsiteX28" fmla="*/ 3232862 w 6858001"/>
              <a:gd name="connsiteY28" fmla="*/ 250117 h 6985200"/>
              <a:gd name="connsiteX29" fmla="*/ 3372766 w 6858001"/>
              <a:gd name="connsiteY29" fmla="*/ 252134 h 6985200"/>
              <a:gd name="connsiteX30" fmla="*/ 3514040 w 6858001"/>
              <a:gd name="connsiteY30" fmla="*/ 252134 h 6985200"/>
              <a:gd name="connsiteX31" fmla="*/ 3656686 w 6858001"/>
              <a:gd name="connsiteY31" fmla="*/ 253142 h 6985200"/>
              <a:gd name="connsiteX32" fmla="*/ 3800705 w 6858001"/>
              <a:gd name="connsiteY32" fmla="*/ 252134 h 6985200"/>
              <a:gd name="connsiteX33" fmla="*/ 3946780 w 6858001"/>
              <a:gd name="connsiteY33" fmla="*/ 250117 h 6985200"/>
              <a:gd name="connsiteX34" fmla="*/ 4092856 w 6858001"/>
              <a:gd name="connsiteY34" fmla="*/ 248268 h 6985200"/>
              <a:gd name="connsiteX35" fmla="*/ 4240988 w 6858001"/>
              <a:gd name="connsiteY35" fmla="*/ 244234 h 6985200"/>
              <a:gd name="connsiteX36" fmla="*/ 4390492 w 6858001"/>
              <a:gd name="connsiteY36" fmla="*/ 240032 h 6985200"/>
              <a:gd name="connsiteX37" fmla="*/ 4539997 w 6858001"/>
              <a:gd name="connsiteY37" fmla="*/ 235157 h 6985200"/>
              <a:gd name="connsiteX38" fmla="*/ 4690873 w 6858001"/>
              <a:gd name="connsiteY38" fmla="*/ 228266 h 6985200"/>
              <a:gd name="connsiteX39" fmla="*/ 4843120 w 6858001"/>
              <a:gd name="connsiteY39" fmla="*/ 220029 h 6985200"/>
              <a:gd name="connsiteX40" fmla="*/ 4996054 w 6858001"/>
              <a:gd name="connsiteY40" fmla="*/ 212129 h 6985200"/>
              <a:gd name="connsiteX41" fmla="*/ 5148987 w 6858001"/>
              <a:gd name="connsiteY41" fmla="*/ 202044 h 6985200"/>
              <a:gd name="connsiteX42" fmla="*/ 5303978 w 6858001"/>
              <a:gd name="connsiteY42" fmla="*/ 189941 h 6985200"/>
              <a:gd name="connsiteX43" fmla="*/ 5456911 w 6858001"/>
              <a:gd name="connsiteY43" fmla="*/ 177839 h 6985200"/>
              <a:gd name="connsiteX44" fmla="*/ 5612588 w 6858001"/>
              <a:gd name="connsiteY44" fmla="*/ 163887 h 6985200"/>
              <a:gd name="connsiteX45" fmla="*/ 5768950 w 6858001"/>
              <a:gd name="connsiteY45" fmla="*/ 148591 h 6985200"/>
              <a:gd name="connsiteX46" fmla="*/ 5923255 w 6858001"/>
              <a:gd name="connsiteY46" fmla="*/ 132455 h 6985200"/>
              <a:gd name="connsiteX47" fmla="*/ 6079618 w 6858001"/>
              <a:gd name="connsiteY47" fmla="*/ 113629 h 6985200"/>
              <a:gd name="connsiteX48" fmla="*/ 6235294 w 6858001"/>
              <a:gd name="connsiteY48" fmla="*/ 93458 h 6985200"/>
              <a:gd name="connsiteX49" fmla="*/ 6391657 w 6858001"/>
              <a:gd name="connsiteY49" fmla="*/ 73455 h 6985200"/>
              <a:gd name="connsiteX50" fmla="*/ 6547333 w 6858001"/>
              <a:gd name="connsiteY50" fmla="*/ 50091 h 6985200"/>
              <a:gd name="connsiteX51" fmla="*/ 6702324 w 6858001"/>
              <a:gd name="connsiteY51" fmla="*/ 26222 h 6985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6858001" h="6985200">
                <a:moveTo>
                  <a:pt x="6858001" y="1177"/>
                </a:moveTo>
                <a:lnTo>
                  <a:pt x="6858001" y="1344715"/>
                </a:lnTo>
                <a:lnTo>
                  <a:pt x="6858000" y="1344715"/>
                </a:lnTo>
                <a:lnTo>
                  <a:pt x="6858000" y="6985200"/>
                </a:lnTo>
                <a:lnTo>
                  <a:pt x="0" y="6985199"/>
                </a:lnTo>
                <a:lnTo>
                  <a:pt x="0" y="887191"/>
                </a:lnTo>
                <a:lnTo>
                  <a:pt x="1" y="887191"/>
                </a:lnTo>
                <a:lnTo>
                  <a:pt x="1" y="0"/>
                </a:lnTo>
                <a:lnTo>
                  <a:pt x="40463" y="5883"/>
                </a:lnTo>
                <a:lnTo>
                  <a:pt x="159107" y="23196"/>
                </a:lnTo>
                <a:lnTo>
                  <a:pt x="245518" y="35299"/>
                </a:lnTo>
                <a:lnTo>
                  <a:pt x="348388" y="48073"/>
                </a:lnTo>
                <a:lnTo>
                  <a:pt x="470460" y="63369"/>
                </a:lnTo>
                <a:lnTo>
                  <a:pt x="605563" y="79506"/>
                </a:lnTo>
                <a:lnTo>
                  <a:pt x="757810" y="96483"/>
                </a:lnTo>
                <a:lnTo>
                  <a:pt x="923774" y="114469"/>
                </a:lnTo>
                <a:lnTo>
                  <a:pt x="1104139" y="132454"/>
                </a:lnTo>
                <a:lnTo>
                  <a:pt x="1296163" y="150776"/>
                </a:lnTo>
                <a:lnTo>
                  <a:pt x="1503275" y="167753"/>
                </a:lnTo>
                <a:lnTo>
                  <a:pt x="1719988" y="184058"/>
                </a:lnTo>
                <a:lnTo>
                  <a:pt x="1949045" y="198849"/>
                </a:lnTo>
                <a:lnTo>
                  <a:pt x="2187703" y="212969"/>
                </a:lnTo>
                <a:lnTo>
                  <a:pt x="2436649" y="226248"/>
                </a:lnTo>
                <a:lnTo>
                  <a:pt x="2564208" y="230955"/>
                </a:lnTo>
                <a:lnTo>
                  <a:pt x="2694509" y="236165"/>
                </a:lnTo>
                <a:lnTo>
                  <a:pt x="2826869" y="241040"/>
                </a:lnTo>
                <a:lnTo>
                  <a:pt x="2959914" y="244234"/>
                </a:lnTo>
                <a:lnTo>
                  <a:pt x="3095702" y="247091"/>
                </a:lnTo>
                <a:lnTo>
                  <a:pt x="3232862" y="250117"/>
                </a:lnTo>
                <a:lnTo>
                  <a:pt x="3372766" y="252134"/>
                </a:lnTo>
                <a:lnTo>
                  <a:pt x="3514040" y="252134"/>
                </a:lnTo>
                <a:lnTo>
                  <a:pt x="3656686" y="253142"/>
                </a:lnTo>
                <a:lnTo>
                  <a:pt x="3800705" y="252134"/>
                </a:lnTo>
                <a:lnTo>
                  <a:pt x="3946780" y="250117"/>
                </a:lnTo>
                <a:lnTo>
                  <a:pt x="4092856" y="248268"/>
                </a:lnTo>
                <a:lnTo>
                  <a:pt x="4240988" y="244234"/>
                </a:lnTo>
                <a:lnTo>
                  <a:pt x="4390492" y="240032"/>
                </a:lnTo>
                <a:lnTo>
                  <a:pt x="4539997" y="235157"/>
                </a:lnTo>
                <a:lnTo>
                  <a:pt x="4690873" y="228266"/>
                </a:lnTo>
                <a:lnTo>
                  <a:pt x="4843120" y="220029"/>
                </a:lnTo>
                <a:lnTo>
                  <a:pt x="4996054" y="212129"/>
                </a:lnTo>
                <a:lnTo>
                  <a:pt x="5148987" y="202044"/>
                </a:lnTo>
                <a:lnTo>
                  <a:pt x="5303978" y="189941"/>
                </a:lnTo>
                <a:lnTo>
                  <a:pt x="5456911" y="177839"/>
                </a:lnTo>
                <a:lnTo>
                  <a:pt x="5612588" y="163887"/>
                </a:lnTo>
                <a:lnTo>
                  <a:pt x="5768950" y="148591"/>
                </a:lnTo>
                <a:lnTo>
                  <a:pt x="5923255" y="132455"/>
                </a:lnTo>
                <a:lnTo>
                  <a:pt x="6079618" y="113629"/>
                </a:lnTo>
                <a:lnTo>
                  <a:pt x="6235294" y="93458"/>
                </a:lnTo>
                <a:lnTo>
                  <a:pt x="6391657" y="73455"/>
                </a:lnTo>
                <a:lnTo>
                  <a:pt x="6547333" y="50091"/>
                </a:lnTo>
                <a:lnTo>
                  <a:pt x="6702324" y="26222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CA"/>
          </a:p>
        </p:txBody>
      </p:sp>
      <p:sp>
        <p:nvSpPr>
          <p:cNvPr id="23" name="Freeform 23">
            <a:extLst>
              <a:ext uri="{FF2B5EF4-FFF2-40B4-BE49-F238E27FC236}">
                <a16:creationId xmlns:a16="http://schemas.microsoft.com/office/drawing/2014/main" id="{C866818C-1E5F-475A-B310-3C06B555FB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94020" y="-1"/>
            <a:ext cx="559472" cy="3709642"/>
          </a:xfrm>
          <a:custGeom>
            <a:avLst/>
            <a:gdLst>
              <a:gd name="connsiteX0" fmla="*/ 0 w 559472"/>
              <a:gd name="connsiteY0" fmla="*/ 0 h 3709642"/>
              <a:gd name="connsiteX1" fmla="*/ 473952 w 559472"/>
              <a:gd name="connsiteY1" fmla="*/ 0 h 3709642"/>
              <a:gd name="connsiteX2" fmla="*/ 485840 w 559472"/>
              <a:gd name="connsiteY2" fmla="*/ 161194 h 3709642"/>
              <a:gd name="connsiteX3" fmla="*/ 523949 w 559472"/>
              <a:gd name="connsiteY3" fmla="*/ 3672197 h 3709642"/>
              <a:gd name="connsiteX4" fmla="*/ 454748 w 559472"/>
              <a:gd name="connsiteY4" fmla="*/ 3709642 h 3709642"/>
              <a:gd name="connsiteX5" fmla="*/ 448224 w 559472"/>
              <a:gd name="connsiteY5" fmla="*/ 3510471 h 3709642"/>
              <a:gd name="connsiteX6" fmla="*/ 443564 w 559472"/>
              <a:gd name="connsiteY6" fmla="*/ 3408563 h 3709642"/>
              <a:gd name="connsiteX7" fmla="*/ 438902 w 559472"/>
              <a:gd name="connsiteY7" fmla="*/ 3304407 h 3709642"/>
              <a:gd name="connsiteX8" fmla="*/ 433941 w 559472"/>
              <a:gd name="connsiteY8" fmla="*/ 3198777 h 3709642"/>
              <a:gd name="connsiteX9" fmla="*/ 427584 w 559472"/>
              <a:gd name="connsiteY9" fmla="*/ 3092510 h 3709642"/>
              <a:gd name="connsiteX10" fmla="*/ 420988 w 559472"/>
              <a:gd name="connsiteY10" fmla="*/ 2984390 h 3709642"/>
              <a:gd name="connsiteX11" fmla="*/ 414330 w 559472"/>
              <a:gd name="connsiteY11" fmla="*/ 2874401 h 3709642"/>
              <a:gd name="connsiteX12" fmla="*/ 406840 w 559472"/>
              <a:gd name="connsiteY12" fmla="*/ 2762980 h 3709642"/>
              <a:gd name="connsiteX13" fmla="*/ 397745 w 559472"/>
              <a:gd name="connsiteY13" fmla="*/ 2650566 h 3709642"/>
              <a:gd name="connsiteX14" fmla="*/ 389154 w 559472"/>
              <a:gd name="connsiteY14" fmla="*/ 2536612 h 3709642"/>
              <a:gd name="connsiteX15" fmla="*/ 379225 w 559472"/>
              <a:gd name="connsiteY15" fmla="*/ 2421642 h 3709642"/>
              <a:gd name="connsiteX16" fmla="*/ 368316 w 559472"/>
              <a:gd name="connsiteY16" fmla="*/ 2305627 h 3709642"/>
              <a:gd name="connsiteX17" fmla="*/ 357466 w 559472"/>
              <a:gd name="connsiteY17" fmla="*/ 2189233 h 3709642"/>
              <a:gd name="connsiteX18" fmla="*/ 344982 w 559472"/>
              <a:gd name="connsiteY18" fmla="*/ 2071473 h 3709642"/>
              <a:gd name="connsiteX19" fmla="*/ 332466 w 559472"/>
              <a:gd name="connsiteY19" fmla="*/ 1952216 h 3709642"/>
              <a:gd name="connsiteX20" fmla="*/ 319121 w 559472"/>
              <a:gd name="connsiteY20" fmla="*/ 1833776 h 3709642"/>
              <a:gd name="connsiteX21" fmla="*/ 304408 w 559472"/>
              <a:gd name="connsiteY21" fmla="*/ 1713948 h 3709642"/>
              <a:gd name="connsiteX22" fmla="*/ 288685 w 559472"/>
              <a:gd name="connsiteY22" fmla="*/ 1592703 h 3709642"/>
              <a:gd name="connsiteX23" fmla="*/ 273050 w 559472"/>
              <a:gd name="connsiteY23" fmla="*/ 1471451 h 3709642"/>
              <a:gd name="connsiteX24" fmla="*/ 255813 w 559472"/>
              <a:gd name="connsiteY24" fmla="*/ 1350328 h 3709642"/>
              <a:gd name="connsiteX25" fmla="*/ 237060 w 559472"/>
              <a:gd name="connsiteY25" fmla="*/ 1227080 h 3709642"/>
              <a:gd name="connsiteX26" fmla="*/ 218488 w 559472"/>
              <a:gd name="connsiteY26" fmla="*/ 1106065 h 3709642"/>
              <a:gd name="connsiteX27" fmla="*/ 198221 w 559472"/>
              <a:gd name="connsiteY27" fmla="*/ 982940 h 3709642"/>
              <a:gd name="connsiteX28" fmla="*/ 177152 w 559472"/>
              <a:gd name="connsiteY28" fmla="*/ 858755 h 3709642"/>
              <a:gd name="connsiteX29" fmla="*/ 155551 w 559472"/>
              <a:gd name="connsiteY29" fmla="*/ 736861 h 3709642"/>
              <a:gd name="connsiteX30" fmla="*/ 131782 w 559472"/>
              <a:gd name="connsiteY30" fmla="*/ 613645 h 3709642"/>
              <a:gd name="connsiteX31" fmla="*/ 107123 w 559472"/>
              <a:gd name="connsiteY31" fmla="*/ 490500 h 3709642"/>
              <a:gd name="connsiteX32" fmla="*/ 82552 w 559472"/>
              <a:gd name="connsiteY32" fmla="*/ 367348 h 3709642"/>
              <a:gd name="connsiteX33" fmla="*/ 55608 w 559472"/>
              <a:gd name="connsiteY33" fmla="*/ 244762 h 3709642"/>
              <a:gd name="connsiteX34" fmla="*/ 28130 w 559472"/>
              <a:gd name="connsiteY34" fmla="*/ 122220 h 3709642"/>
              <a:gd name="connsiteX35" fmla="*/ 0 w 559472"/>
              <a:gd name="connsiteY35" fmla="*/ 0 h 37096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559472" h="3709642">
                <a:moveTo>
                  <a:pt x="0" y="0"/>
                </a:moveTo>
                <a:lnTo>
                  <a:pt x="473952" y="0"/>
                </a:lnTo>
                <a:lnTo>
                  <a:pt x="485840" y="161194"/>
                </a:lnTo>
                <a:cubicBezTo>
                  <a:pt x="552063" y="1147770"/>
                  <a:pt x="592441" y="3086737"/>
                  <a:pt x="523949" y="3672197"/>
                </a:cubicBezTo>
                <a:cubicBezTo>
                  <a:pt x="500842" y="3684557"/>
                  <a:pt x="477855" y="3697282"/>
                  <a:pt x="454748" y="3709642"/>
                </a:cubicBezTo>
                <a:lnTo>
                  <a:pt x="448224" y="3510471"/>
                </a:lnTo>
                <a:lnTo>
                  <a:pt x="443564" y="3408563"/>
                </a:lnTo>
                <a:lnTo>
                  <a:pt x="438902" y="3304407"/>
                </a:lnTo>
                <a:lnTo>
                  <a:pt x="433941" y="3198777"/>
                </a:lnTo>
                <a:lnTo>
                  <a:pt x="427584" y="3092510"/>
                </a:lnTo>
                <a:lnTo>
                  <a:pt x="420988" y="2984390"/>
                </a:lnTo>
                <a:lnTo>
                  <a:pt x="414330" y="2874401"/>
                </a:lnTo>
                <a:lnTo>
                  <a:pt x="406840" y="2762980"/>
                </a:lnTo>
                <a:lnTo>
                  <a:pt x="397745" y="2650566"/>
                </a:lnTo>
                <a:lnTo>
                  <a:pt x="389154" y="2536612"/>
                </a:lnTo>
                <a:lnTo>
                  <a:pt x="379225" y="2421642"/>
                </a:lnTo>
                <a:lnTo>
                  <a:pt x="368316" y="2305627"/>
                </a:lnTo>
                <a:lnTo>
                  <a:pt x="357466" y="2189233"/>
                </a:lnTo>
                <a:lnTo>
                  <a:pt x="344982" y="2071473"/>
                </a:lnTo>
                <a:lnTo>
                  <a:pt x="332466" y="1952216"/>
                </a:lnTo>
                <a:lnTo>
                  <a:pt x="319121" y="1833776"/>
                </a:lnTo>
                <a:lnTo>
                  <a:pt x="304408" y="1713948"/>
                </a:lnTo>
                <a:lnTo>
                  <a:pt x="288685" y="1592703"/>
                </a:lnTo>
                <a:lnTo>
                  <a:pt x="273050" y="1471451"/>
                </a:lnTo>
                <a:lnTo>
                  <a:pt x="255813" y="1350328"/>
                </a:lnTo>
                <a:lnTo>
                  <a:pt x="237060" y="1227080"/>
                </a:lnTo>
                <a:lnTo>
                  <a:pt x="218488" y="1106065"/>
                </a:lnTo>
                <a:lnTo>
                  <a:pt x="198221" y="982940"/>
                </a:lnTo>
                <a:lnTo>
                  <a:pt x="177152" y="858755"/>
                </a:lnTo>
                <a:lnTo>
                  <a:pt x="155551" y="736861"/>
                </a:lnTo>
                <a:lnTo>
                  <a:pt x="131782" y="613645"/>
                </a:lnTo>
                <a:lnTo>
                  <a:pt x="107123" y="490500"/>
                </a:lnTo>
                <a:lnTo>
                  <a:pt x="82552" y="367348"/>
                </a:lnTo>
                <a:lnTo>
                  <a:pt x="55608" y="244762"/>
                </a:lnTo>
                <a:lnTo>
                  <a:pt x="28130" y="122220"/>
                </a:lnTo>
                <a:lnTo>
                  <a:pt x="0" y="0"/>
                </a:lnTo>
                <a:close/>
              </a:path>
            </a:pathLst>
          </a:custGeom>
          <a:solidFill>
            <a:schemeClr val="tx1"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D12AFDE8-E1ED-4A49-B8B3-4953F4B8AC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42448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CA"/>
          </a:p>
        </p:txBody>
      </p:sp>
      <p:sp>
        <p:nvSpPr>
          <p:cNvPr id="16" name="Content Placeholder 15">
            <a:extLst>
              <a:ext uri="{FF2B5EF4-FFF2-40B4-BE49-F238E27FC236}">
                <a16:creationId xmlns:a16="http://schemas.microsoft.com/office/drawing/2014/main" id="{2799FA2B-2AF6-6FC5-CC9B-D803A61B97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6113" y="2538757"/>
            <a:ext cx="4165146" cy="3709642"/>
          </a:xfrm>
        </p:spPr>
        <p:txBody>
          <a:bodyPr>
            <a:normAutofit/>
          </a:bodyPr>
          <a:lstStyle/>
          <a:p>
            <a:pPr>
              <a:buClr>
                <a:schemeClr val="tx1"/>
              </a:buClr>
            </a:pPr>
            <a:r>
              <a:rPr lang="en-US" dirty="0"/>
              <a:t>Demand is heavily concentrated in five Brazilian states: SP, MG, PR, RJ, SC</a:t>
            </a:r>
          </a:p>
          <a:p>
            <a:pPr>
              <a:buClr>
                <a:schemeClr val="tx1"/>
              </a:buClr>
            </a:pPr>
            <a:r>
              <a:rPr lang="en-US" dirty="0"/>
              <a:t>However, these high-demand regions are among the lowest in seller distribution</a:t>
            </a:r>
          </a:p>
          <a:p>
            <a:pPr>
              <a:buClr>
                <a:schemeClr val="tx1"/>
              </a:buClr>
            </a:pPr>
            <a:r>
              <a:rPr lang="en-US" dirty="0"/>
              <a:t>Top 5 in demand states are in the top 11/27 states for most seller workload</a:t>
            </a:r>
            <a:endParaRPr lang="en-CA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7EF0418-6BB7-9184-D09C-BB9A3BCEB0A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15041" y="647700"/>
            <a:ext cx="3431364" cy="2683328"/>
          </a:xfrm>
          <a:prstGeom prst="rect">
            <a:avLst/>
          </a:prstGeom>
          <a:ln>
            <a:noFill/>
          </a:ln>
          <a:effectLst/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5200B9AC-CB0F-5676-9577-E40DAD9A757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15041" y="3331028"/>
            <a:ext cx="3431363" cy="2781302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56478110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DF015AF-39C8-019E-923C-6B7682DF41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A7D883D1-6CDF-20D5-5390-B48C0FFC46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8974488-93BC-35B8-DB11-5CBCBCC1AE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CA"/>
          </a:p>
        </p:txBody>
      </p:sp>
      <p:sp>
        <p:nvSpPr>
          <p:cNvPr id="12" name="Freeform 7">
            <a:extLst>
              <a:ext uri="{FF2B5EF4-FFF2-40B4-BE49-F238E27FC236}">
                <a16:creationId xmlns:a16="http://schemas.microsoft.com/office/drawing/2014/main" id="{273E0A6A-6384-14C9-118A-5AC9606675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719939" y="1460230"/>
            <a:ext cx="3472060" cy="825932"/>
          </a:xfrm>
          <a:custGeom>
            <a:avLst/>
            <a:gdLst>
              <a:gd name="connsiteX0" fmla="*/ 3470310 w 3472060"/>
              <a:gd name="connsiteY0" fmla="*/ 0 h 825932"/>
              <a:gd name="connsiteX1" fmla="*/ 3472060 w 3472060"/>
              <a:gd name="connsiteY1" fmla="*/ 12850 h 825932"/>
              <a:gd name="connsiteX2" fmla="*/ 3472060 w 3472060"/>
              <a:gd name="connsiteY2" fmla="*/ 480529 h 825932"/>
              <a:gd name="connsiteX3" fmla="*/ 3363699 w 3472060"/>
              <a:gd name="connsiteY3" fmla="*/ 498471 h 825932"/>
              <a:gd name="connsiteX4" fmla="*/ 42060 w 3472060"/>
              <a:gd name="connsiteY4" fmla="*/ 824486 h 825932"/>
              <a:gd name="connsiteX5" fmla="*/ 0 w 3472060"/>
              <a:gd name="connsiteY5" fmla="*/ 758452 h 825932"/>
              <a:gd name="connsiteX6" fmla="*/ 188014 w 3472060"/>
              <a:gd name="connsiteY6" fmla="*/ 735602 h 825932"/>
              <a:gd name="connsiteX7" fmla="*/ 284087 w 3472060"/>
              <a:gd name="connsiteY7" fmla="*/ 722590 h 825932"/>
              <a:gd name="connsiteX8" fmla="*/ 382288 w 3472060"/>
              <a:gd name="connsiteY8" fmla="*/ 709392 h 825932"/>
              <a:gd name="connsiteX9" fmla="*/ 481858 w 3472060"/>
              <a:gd name="connsiteY9" fmla="*/ 695774 h 825932"/>
              <a:gd name="connsiteX10" fmla="*/ 581897 w 3472060"/>
              <a:gd name="connsiteY10" fmla="*/ 680711 h 825932"/>
              <a:gd name="connsiteX11" fmla="*/ 683670 w 3472060"/>
              <a:gd name="connsiteY11" fmla="*/ 665256 h 825932"/>
              <a:gd name="connsiteX12" fmla="*/ 787206 w 3472060"/>
              <a:gd name="connsiteY12" fmla="*/ 649587 h 825932"/>
              <a:gd name="connsiteX13" fmla="*/ 892019 w 3472060"/>
              <a:gd name="connsiteY13" fmla="*/ 632968 h 825932"/>
              <a:gd name="connsiteX14" fmla="*/ 997620 w 3472060"/>
              <a:gd name="connsiteY14" fmla="*/ 614667 h 825932"/>
              <a:gd name="connsiteX15" fmla="*/ 1104727 w 3472060"/>
              <a:gd name="connsiteY15" fmla="*/ 596741 h 825932"/>
              <a:gd name="connsiteX16" fmla="*/ 1212669 w 3472060"/>
              <a:gd name="connsiteY16" fmla="*/ 577397 h 825932"/>
              <a:gd name="connsiteX17" fmla="*/ 1321506 w 3472060"/>
              <a:gd name="connsiteY17" fmla="*/ 556988 h 825932"/>
              <a:gd name="connsiteX18" fmla="*/ 1430709 w 3472060"/>
              <a:gd name="connsiteY18" fmla="*/ 536607 h 825932"/>
              <a:gd name="connsiteX19" fmla="*/ 1541050 w 3472060"/>
              <a:gd name="connsiteY19" fmla="*/ 514481 h 825932"/>
              <a:gd name="connsiteX20" fmla="*/ 1652805 w 3472060"/>
              <a:gd name="connsiteY20" fmla="*/ 492202 h 825932"/>
              <a:gd name="connsiteX21" fmla="*/ 1763708 w 3472060"/>
              <a:gd name="connsiteY21" fmla="*/ 469161 h 825932"/>
              <a:gd name="connsiteX22" fmla="*/ 1875795 w 3472060"/>
              <a:gd name="connsiteY22" fmla="*/ 444641 h 825932"/>
              <a:gd name="connsiteX23" fmla="*/ 1989128 w 3472060"/>
              <a:gd name="connsiteY23" fmla="*/ 418995 h 825932"/>
              <a:gd name="connsiteX24" fmla="*/ 2102476 w 3472060"/>
              <a:gd name="connsiteY24" fmla="*/ 393438 h 825932"/>
              <a:gd name="connsiteX25" fmla="*/ 2215549 w 3472060"/>
              <a:gd name="connsiteY25" fmla="*/ 366291 h 825932"/>
              <a:gd name="connsiteX26" fmla="*/ 2330490 w 3472060"/>
              <a:gd name="connsiteY26" fmla="*/ 337455 h 825932"/>
              <a:gd name="connsiteX27" fmla="*/ 2443333 w 3472060"/>
              <a:gd name="connsiteY27" fmla="*/ 308983 h 825932"/>
              <a:gd name="connsiteX28" fmla="*/ 2558014 w 3472060"/>
              <a:gd name="connsiteY28" fmla="*/ 278646 h 825932"/>
              <a:gd name="connsiteX29" fmla="*/ 2673621 w 3472060"/>
              <a:gd name="connsiteY29" fmla="*/ 247421 h 825932"/>
              <a:gd name="connsiteX30" fmla="*/ 2787008 w 3472060"/>
              <a:gd name="connsiteY30" fmla="*/ 215853 h 825932"/>
              <a:gd name="connsiteX31" fmla="*/ 2901442 w 3472060"/>
              <a:gd name="connsiteY31" fmla="*/ 182011 h 825932"/>
              <a:gd name="connsiteX32" fmla="*/ 3015722 w 3472060"/>
              <a:gd name="connsiteY32" fmla="*/ 147286 h 825932"/>
              <a:gd name="connsiteX33" fmla="*/ 3130018 w 3472060"/>
              <a:gd name="connsiteY33" fmla="*/ 112649 h 825932"/>
              <a:gd name="connsiteX34" fmla="*/ 3243551 w 3472060"/>
              <a:gd name="connsiteY34" fmla="*/ 75688 h 825932"/>
              <a:gd name="connsiteX35" fmla="*/ 3356992 w 3472060"/>
              <a:gd name="connsiteY35" fmla="*/ 38197 h 825932"/>
              <a:gd name="connsiteX36" fmla="*/ 3470310 w 3472060"/>
              <a:gd name="connsiteY36" fmla="*/ 0 h 8259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</a:cxnLst>
            <a:rect l="l" t="t" r="r" b="b"/>
            <a:pathLst>
              <a:path w="3472060" h="825932">
                <a:moveTo>
                  <a:pt x="3470310" y="0"/>
                </a:moveTo>
                <a:lnTo>
                  <a:pt x="3472060" y="12850"/>
                </a:lnTo>
                <a:lnTo>
                  <a:pt x="3472060" y="480529"/>
                </a:lnTo>
                <a:lnTo>
                  <a:pt x="3363699" y="498471"/>
                </a:lnTo>
                <a:cubicBezTo>
                  <a:pt x="2435623" y="645518"/>
                  <a:pt x="603076" y="844866"/>
                  <a:pt x="42060" y="824486"/>
                </a:cubicBezTo>
                <a:cubicBezTo>
                  <a:pt x="28151" y="802425"/>
                  <a:pt x="13909" y="780513"/>
                  <a:pt x="0" y="758452"/>
                </a:cubicBezTo>
                <a:lnTo>
                  <a:pt x="188014" y="735602"/>
                </a:lnTo>
                <a:lnTo>
                  <a:pt x="284087" y="722590"/>
                </a:lnTo>
                <a:lnTo>
                  <a:pt x="382288" y="709392"/>
                </a:lnTo>
                <a:lnTo>
                  <a:pt x="481858" y="695774"/>
                </a:lnTo>
                <a:lnTo>
                  <a:pt x="581897" y="680711"/>
                </a:lnTo>
                <a:lnTo>
                  <a:pt x="683670" y="665256"/>
                </a:lnTo>
                <a:lnTo>
                  <a:pt x="787206" y="649587"/>
                </a:lnTo>
                <a:lnTo>
                  <a:pt x="892019" y="632968"/>
                </a:lnTo>
                <a:lnTo>
                  <a:pt x="997620" y="614667"/>
                </a:lnTo>
                <a:lnTo>
                  <a:pt x="1104727" y="596741"/>
                </a:lnTo>
                <a:lnTo>
                  <a:pt x="1212669" y="577397"/>
                </a:lnTo>
                <a:lnTo>
                  <a:pt x="1321506" y="556988"/>
                </a:lnTo>
                <a:lnTo>
                  <a:pt x="1430709" y="536607"/>
                </a:lnTo>
                <a:lnTo>
                  <a:pt x="1541050" y="514481"/>
                </a:lnTo>
                <a:lnTo>
                  <a:pt x="1652805" y="492202"/>
                </a:lnTo>
                <a:lnTo>
                  <a:pt x="1763708" y="469161"/>
                </a:lnTo>
                <a:lnTo>
                  <a:pt x="1875795" y="444641"/>
                </a:lnTo>
                <a:lnTo>
                  <a:pt x="1989128" y="418995"/>
                </a:lnTo>
                <a:lnTo>
                  <a:pt x="2102476" y="393438"/>
                </a:lnTo>
                <a:lnTo>
                  <a:pt x="2215549" y="366291"/>
                </a:lnTo>
                <a:lnTo>
                  <a:pt x="2330490" y="337455"/>
                </a:lnTo>
                <a:lnTo>
                  <a:pt x="2443333" y="308983"/>
                </a:lnTo>
                <a:lnTo>
                  <a:pt x="2558014" y="278646"/>
                </a:lnTo>
                <a:lnTo>
                  <a:pt x="2673621" y="247421"/>
                </a:lnTo>
                <a:lnTo>
                  <a:pt x="2787008" y="215853"/>
                </a:lnTo>
                <a:lnTo>
                  <a:pt x="2901442" y="182011"/>
                </a:lnTo>
                <a:lnTo>
                  <a:pt x="3015722" y="147286"/>
                </a:lnTo>
                <a:lnTo>
                  <a:pt x="3130018" y="112649"/>
                </a:lnTo>
                <a:lnTo>
                  <a:pt x="3243551" y="75688"/>
                </a:lnTo>
                <a:lnTo>
                  <a:pt x="3356992" y="38197"/>
                </a:lnTo>
                <a:lnTo>
                  <a:pt x="3470310" y="0"/>
                </a:lnTo>
                <a:close/>
              </a:path>
            </a:pathLst>
          </a:custGeom>
          <a:solidFill>
            <a:schemeClr val="bg1"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 useBgFill="1">
        <p:nvSpPr>
          <p:cNvPr id="14" name="Freeform: Shape 13">
            <a:extLst>
              <a:ext uri="{FF2B5EF4-FFF2-40B4-BE49-F238E27FC236}">
                <a16:creationId xmlns:a16="http://schemas.microsoft.com/office/drawing/2014/main" id="{E93F5F55-3C36-873E-E4E4-E062415395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>
            <a:off x="1" y="1762067"/>
            <a:ext cx="12192417" cy="5095933"/>
          </a:xfrm>
          <a:custGeom>
            <a:avLst/>
            <a:gdLst>
              <a:gd name="connsiteX0" fmla="*/ 0 w 12192417"/>
              <a:gd name="connsiteY0" fmla="*/ 0 h 5095933"/>
              <a:gd name="connsiteX1" fmla="*/ 71931 w 12192417"/>
              <a:gd name="connsiteY1" fmla="*/ 12261 h 5095933"/>
              <a:gd name="connsiteX2" fmla="*/ 282848 w 12192417"/>
              <a:gd name="connsiteY2" fmla="*/ 48343 h 5095933"/>
              <a:gd name="connsiteX3" fmla="*/ 436463 w 12192417"/>
              <a:gd name="connsiteY3" fmla="*/ 73565 h 5095933"/>
              <a:gd name="connsiteX4" fmla="*/ 619338 w 12192417"/>
              <a:gd name="connsiteY4" fmla="*/ 100188 h 5095933"/>
              <a:gd name="connsiteX5" fmla="*/ 836350 w 12192417"/>
              <a:gd name="connsiteY5" fmla="*/ 132066 h 5095933"/>
              <a:gd name="connsiteX6" fmla="*/ 1076527 w 12192417"/>
              <a:gd name="connsiteY6" fmla="*/ 165696 h 5095933"/>
              <a:gd name="connsiteX7" fmla="*/ 1347183 w 12192417"/>
              <a:gd name="connsiteY7" fmla="*/ 201077 h 5095933"/>
              <a:gd name="connsiteX8" fmla="*/ 1642222 w 12192417"/>
              <a:gd name="connsiteY8" fmla="*/ 238560 h 5095933"/>
              <a:gd name="connsiteX9" fmla="*/ 1962863 w 12192417"/>
              <a:gd name="connsiteY9" fmla="*/ 276043 h 5095933"/>
              <a:gd name="connsiteX10" fmla="*/ 2304231 w 12192417"/>
              <a:gd name="connsiteY10" fmla="*/ 314227 h 5095933"/>
              <a:gd name="connsiteX11" fmla="*/ 2672420 w 12192417"/>
              <a:gd name="connsiteY11" fmla="*/ 349608 h 5095933"/>
              <a:gd name="connsiteX12" fmla="*/ 3057677 w 12192417"/>
              <a:gd name="connsiteY12" fmla="*/ 383588 h 5095933"/>
              <a:gd name="connsiteX13" fmla="*/ 3464880 w 12192417"/>
              <a:gd name="connsiteY13" fmla="*/ 414415 h 5095933"/>
              <a:gd name="connsiteX14" fmla="*/ 3889151 w 12192417"/>
              <a:gd name="connsiteY14" fmla="*/ 443841 h 5095933"/>
              <a:gd name="connsiteX15" fmla="*/ 4331709 w 12192417"/>
              <a:gd name="connsiteY15" fmla="*/ 471515 h 5095933"/>
              <a:gd name="connsiteX16" fmla="*/ 4558475 w 12192417"/>
              <a:gd name="connsiteY16" fmla="*/ 481324 h 5095933"/>
              <a:gd name="connsiteX17" fmla="*/ 4790117 w 12192417"/>
              <a:gd name="connsiteY17" fmla="*/ 492183 h 5095933"/>
              <a:gd name="connsiteX18" fmla="*/ 5025417 w 12192417"/>
              <a:gd name="connsiteY18" fmla="*/ 502342 h 5095933"/>
              <a:gd name="connsiteX19" fmla="*/ 5261936 w 12192417"/>
              <a:gd name="connsiteY19" fmla="*/ 508998 h 5095933"/>
              <a:gd name="connsiteX20" fmla="*/ 5503331 w 12192417"/>
              <a:gd name="connsiteY20" fmla="*/ 514953 h 5095933"/>
              <a:gd name="connsiteX21" fmla="*/ 5747166 w 12192417"/>
              <a:gd name="connsiteY21" fmla="*/ 521259 h 5095933"/>
              <a:gd name="connsiteX22" fmla="*/ 5995876 w 12192417"/>
              <a:gd name="connsiteY22" fmla="*/ 525463 h 5095933"/>
              <a:gd name="connsiteX23" fmla="*/ 6247025 w 12192417"/>
              <a:gd name="connsiteY23" fmla="*/ 525463 h 5095933"/>
              <a:gd name="connsiteX24" fmla="*/ 6500612 w 12192417"/>
              <a:gd name="connsiteY24" fmla="*/ 527565 h 5095933"/>
              <a:gd name="connsiteX25" fmla="*/ 6756638 w 12192417"/>
              <a:gd name="connsiteY25" fmla="*/ 525463 h 5095933"/>
              <a:gd name="connsiteX26" fmla="*/ 7016321 w 12192417"/>
              <a:gd name="connsiteY26" fmla="*/ 521259 h 5095933"/>
              <a:gd name="connsiteX27" fmla="*/ 7276004 w 12192417"/>
              <a:gd name="connsiteY27" fmla="*/ 517406 h 5095933"/>
              <a:gd name="connsiteX28" fmla="*/ 7539344 w 12192417"/>
              <a:gd name="connsiteY28" fmla="*/ 508998 h 5095933"/>
              <a:gd name="connsiteX29" fmla="*/ 7805123 w 12192417"/>
              <a:gd name="connsiteY29" fmla="*/ 500241 h 5095933"/>
              <a:gd name="connsiteX30" fmla="*/ 8070902 w 12192417"/>
              <a:gd name="connsiteY30" fmla="*/ 490082 h 5095933"/>
              <a:gd name="connsiteX31" fmla="*/ 8339120 w 12192417"/>
              <a:gd name="connsiteY31" fmla="*/ 475719 h 5095933"/>
              <a:gd name="connsiteX32" fmla="*/ 8609775 w 12192417"/>
              <a:gd name="connsiteY32" fmla="*/ 458554 h 5095933"/>
              <a:gd name="connsiteX33" fmla="*/ 8881650 w 12192417"/>
              <a:gd name="connsiteY33" fmla="*/ 442089 h 5095933"/>
              <a:gd name="connsiteX34" fmla="*/ 9153525 w 12192417"/>
              <a:gd name="connsiteY34" fmla="*/ 421071 h 5095933"/>
              <a:gd name="connsiteX35" fmla="*/ 9429057 w 12192417"/>
              <a:gd name="connsiteY35" fmla="*/ 395849 h 5095933"/>
              <a:gd name="connsiteX36" fmla="*/ 9700932 w 12192417"/>
              <a:gd name="connsiteY36" fmla="*/ 370626 h 5095933"/>
              <a:gd name="connsiteX37" fmla="*/ 9977683 w 12192417"/>
              <a:gd name="connsiteY37" fmla="*/ 341551 h 5095933"/>
              <a:gd name="connsiteX38" fmla="*/ 10255654 w 12192417"/>
              <a:gd name="connsiteY38" fmla="*/ 309673 h 5095933"/>
              <a:gd name="connsiteX39" fmla="*/ 10529967 w 12192417"/>
              <a:gd name="connsiteY39" fmla="*/ 276043 h 5095933"/>
              <a:gd name="connsiteX40" fmla="*/ 10807938 w 12192417"/>
              <a:gd name="connsiteY40" fmla="*/ 236809 h 5095933"/>
              <a:gd name="connsiteX41" fmla="*/ 11084689 w 12192417"/>
              <a:gd name="connsiteY41" fmla="*/ 194772 h 5095933"/>
              <a:gd name="connsiteX42" fmla="*/ 11362660 w 12192417"/>
              <a:gd name="connsiteY42" fmla="*/ 153085 h 5095933"/>
              <a:gd name="connsiteX43" fmla="*/ 11639411 w 12192417"/>
              <a:gd name="connsiteY43" fmla="*/ 104392 h 5095933"/>
              <a:gd name="connsiteX44" fmla="*/ 11914944 w 12192417"/>
              <a:gd name="connsiteY44" fmla="*/ 54648 h 5095933"/>
              <a:gd name="connsiteX45" fmla="*/ 12191695 w 12192417"/>
              <a:gd name="connsiteY45" fmla="*/ 2452 h 5095933"/>
              <a:gd name="connsiteX46" fmla="*/ 12191695 w 12192417"/>
              <a:gd name="connsiteY46" fmla="*/ 2162231 h 5095933"/>
              <a:gd name="connsiteX47" fmla="*/ 12192417 w 12192417"/>
              <a:gd name="connsiteY47" fmla="*/ 2162231 h 5095933"/>
              <a:gd name="connsiteX48" fmla="*/ 12192417 w 12192417"/>
              <a:gd name="connsiteY48" fmla="*/ 5095933 h 5095933"/>
              <a:gd name="connsiteX49" fmla="*/ 0 w 12192417"/>
              <a:gd name="connsiteY49" fmla="*/ 5095933 h 5095933"/>
              <a:gd name="connsiteX50" fmla="*/ 0 w 12192417"/>
              <a:gd name="connsiteY50" fmla="*/ 2791958 h 5095933"/>
              <a:gd name="connsiteX51" fmla="*/ 0 w 12192417"/>
              <a:gd name="connsiteY51" fmla="*/ 2162231 h 50959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12192417" h="5095933">
                <a:moveTo>
                  <a:pt x="0" y="0"/>
                </a:moveTo>
                <a:lnTo>
                  <a:pt x="71931" y="12261"/>
                </a:lnTo>
                <a:lnTo>
                  <a:pt x="282848" y="48343"/>
                </a:lnTo>
                <a:lnTo>
                  <a:pt x="436463" y="73565"/>
                </a:lnTo>
                <a:lnTo>
                  <a:pt x="619338" y="100188"/>
                </a:lnTo>
                <a:lnTo>
                  <a:pt x="836350" y="132066"/>
                </a:lnTo>
                <a:lnTo>
                  <a:pt x="1076527" y="165696"/>
                </a:lnTo>
                <a:lnTo>
                  <a:pt x="1347183" y="201077"/>
                </a:lnTo>
                <a:lnTo>
                  <a:pt x="1642222" y="238560"/>
                </a:lnTo>
                <a:lnTo>
                  <a:pt x="1962863" y="276043"/>
                </a:lnTo>
                <a:lnTo>
                  <a:pt x="2304231" y="314227"/>
                </a:lnTo>
                <a:lnTo>
                  <a:pt x="2672420" y="349608"/>
                </a:lnTo>
                <a:lnTo>
                  <a:pt x="3057677" y="383588"/>
                </a:lnTo>
                <a:lnTo>
                  <a:pt x="3464880" y="414415"/>
                </a:lnTo>
                <a:lnTo>
                  <a:pt x="3889151" y="443841"/>
                </a:lnTo>
                <a:lnTo>
                  <a:pt x="4331709" y="471515"/>
                </a:lnTo>
                <a:lnTo>
                  <a:pt x="4558475" y="481324"/>
                </a:lnTo>
                <a:lnTo>
                  <a:pt x="4790117" y="492183"/>
                </a:lnTo>
                <a:lnTo>
                  <a:pt x="5025417" y="502342"/>
                </a:lnTo>
                <a:lnTo>
                  <a:pt x="5261936" y="508998"/>
                </a:lnTo>
                <a:lnTo>
                  <a:pt x="5503331" y="514953"/>
                </a:lnTo>
                <a:lnTo>
                  <a:pt x="5747166" y="521259"/>
                </a:lnTo>
                <a:lnTo>
                  <a:pt x="5995876" y="525463"/>
                </a:lnTo>
                <a:lnTo>
                  <a:pt x="6247025" y="525463"/>
                </a:lnTo>
                <a:lnTo>
                  <a:pt x="6500612" y="527565"/>
                </a:lnTo>
                <a:lnTo>
                  <a:pt x="6756638" y="525463"/>
                </a:lnTo>
                <a:lnTo>
                  <a:pt x="7016321" y="521259"/>
                </a:lnTo>
                <a:lnTo>
                  <a:pt x="7276004" y="517406"/>
                </a:lnTo>
                <a:lnTo>
                  <a:pt x="7539344" y="508998"/>
                </a:lnTo>
                <a:lnTo>
                  <a:pt x="7805123" y="500241"/>
                </a:lnTo>
                <a:lnTo>
                  <a:pt x="8070902" y="490082"/>
                </a:lnTo>
                <a:lnTo>
                  <a:pt x="8339120" y="475719"/>
                </a:lnTo>
                <a:lnTo>
                  <a:pt x="8609775" y="458554"/>
                </a:lnTo>
                <a:lnTo>
                  <a:pt x="8881650" y="442089"/>
                </a:lnTo>
                <a:lnTo>
                  <a:pt x="9153525" y="421071"/>
                </a:lnTo>
                <a:lnTo>
                  <a:pt x="9429057" y="395849"/>
                </a:lnTo>
                <a:lnTo>
                  <a:pt x="9700932" y="370626"/>
                </a:lnTo>
                <a:lnTo>
                  <a:pt x="9977683" y="341551"/>
                </a:lnTo>
                <a:lnTo>
                  <a:pt x="10255654" y="309673"/>
                </a:lnTo>
                <a:lnTo>
                  <a:pt x="10529967" y="276043"/>
                </a:lnTo>
                <a:lnTo>
                  <a:pt x="10807938" y="236809"/>
                </a:lnTo>
                <a:lnTo>
                  <a:pt x="11084689" y="194772"/>
                </a:lnTo>
                <a:lnTo>
                  <a:pt x="11362660" y="153085"/>
                </a:lnTo>
                <a:lnTo>
                  <a:pt x="11639411" y="104392"/>
                </a:lnTo>
                <a:lnTo>
                  <a:pt x="11914944" y="54648"/>
                </a:lnTo>
                <a:lnTo>
                  <a:pt x="12191695" y="2452"/>
                </a:lnTo>
                <a:lnTo>
                  <a:pt x="12191695" y="2162231"/>
                </a:lnTo>
                <a:lnTo>
                  <a:pt x="12192417" y="2162231"/>
                </a:lnTo>
                <a:lnTo>
                  <a:pt x="12192417" y="5095933"/>
                </a:lnTo>
                <a:lnTo>
                  <a:pt x="0" y="5095933"/>
                </a:lnTo>
                <a:lnTo>
                  <a:pt x="0" y="2791958"/>
                </a:lnTo>
                <a:lnTo>
                  <a:pt x="0" y="2162231"/>
                </a:lnTo>
                <a:close/>
              </a:path>
            </a:pathLst>
          </a:custGeom>
          <a:ln>
            <a:noFill/>
          </a:ln>
        </p:spPr>
        <p:txBody>
          <a:bodyPr/>
          <a:lstStyle/>
          <a:p>
            <a:endParaRPr lang="en-CA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F46D095-46BE-FE7D-8D69-14EEE2A87F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03312" y="452718"/>
            <a:ext cx="8947522" cy="1400530"/>
          </a:xfrm>
        </p:spPr>
        <p:txBody>
          <a:bodyPr anchor="ctr">
            <a:normAutofit/>
          </a:bodyPr>
          <a:lstStyle/>
          <a:p>
            <a:r>
              <a:rPr lang="en-CA" dirty="0">
                <a:solidFill>
                  <a:srgbClr val="FFFFFF"/>
                </a:solidFill>
              </a:rPr>
              <a:t>Does the Average Lead Time Ever Exceed Average Estimated Time?</a:t>
            </a:r>
          </a:p>
        </p:txBody>
      </p:sp>
      <p:sp>
        <p:nvSpPr>
          <p:cNvPr id="16" name="Content Placeholder 15">
            <a:extLst>
              <a:ext uri="{FF2B5EF4-FFF2-40B4-BE49-F238E27FC236}">
                <a16:creationId xmlns:a16="http://schemas.microsoft.com/office/drawing/2014/main" id="{C1B7D73E-81F1-0A19-E25D-33F983879FD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05081" y="2587999"/>
            <a:ext cx="4063195" cy="3585386"/>
          </a:xfrm>
        </p:spPr>
        <p:txBody>
          <a:bodyPr>
            <a:normAutofit fontScale="92500" lnSpcReduction="10000"/>
          </a:bodyPr>
          <a:lstStyle/>
          <a:p>
            <a:pPr>
              <a:buClr>
                <a:srgbClr val="34343F"/>
              </a:buClr>
            </a:pPr>
            <a:r>
              <a:rPr lang="en-US" dirty="0"/>
              <a:t>Currently, no state averages exceed their estimated delivery dates, resulting in a 92.1% delivery promise accuracy</a:t>
            </a:r>
          </a:p>
          <a:p>
            <a:pPr>
              <a:buClr>
                <a:srgbClr val="34343F"/>
              </a:buClr>
            </a:pPr>
            <a:r>
              <a:rPr lang="en-US" dirty="0"/>
              <a:t>The average lead time is 12.5 days</a:t>
            </a:r>
          </a:p>
          <a:p>
            <a:pPr>
              <a:buClr>
                <a:srgbClr val="34343F"/>
              </a:buClr>
            </a:pPr>
            <a:r>
              <a:rPr lang="en-US" dirty="0"/>
              <a:t>The average seller processing time takes 2.4 days</a:t>
            </a:r>
          </a:p>
          <a:p>
            <a:pPr>
              <a:buClr>
                <a:srgbClr val="34343F"/>
              </a:buClr>
            </a:pPr>
            <a:r>
              <a:rPr lang="en-US" dirty="0">
                <a:solidFill>
                  <a:srgbClr val="34343F"/>
                </a:solidFill>
              </a:rPr>
              <a:t>A list of top 10% sellers is listed in the interactive dashboard</a:t>
            </a:r>
            <a:endParaRPr lang="en-CA" dirty="0">
              <a:solidFill>
                <a:srgbClr val="34343F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58467B3-7073-7329-7DDC-B0450617748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2894" y="2591678"/>
            <a:ext cx="5502187" cy="35853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398320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215363B-A287-75C2-E186-9A3488C707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C89CB0B3-6686-8F6B-F721-1B0EA44514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FF5F4CF-2CCF-C745-B84E-D47AE0A66D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CA"/>
          </a:p>
        </p:txBody>
      </p:sp>
      <p:sp>
        <p:nvSpPr>
          <p:cNvPr id="12" name="Freeform 7">
            <a:extLst>
              <a:ext uri="{FF2B5EF4-FFF2-40B4-BE49-F238E27FC236}">
                <a16:creationId xmlns:a16="http://schemas.microsoft.com/office/drawing/2014/main" id="{528950FF-0656-21EE-2C4C-D12BB63DC9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719939" y="1460230"/>
            <a:ext cx="3472060" cy="825932"/>
          </a:xfrm>
          <a:custGeom>
            <a:avLst/>
            <a:gdLst>
              <a:gd name="connsiteX0" fmla="*/ 3470310 w 3472060"/>
              <a:gd name="connsiteY0" fmla="*/ 0 h 825932"/>
              <a:gd name="connsiteX1" fmla="*/ 3472060 w 3472060"/>
              <a:gd name="connsiteY1" fmla="*/ 12850 h 825932"/>
              <a:gd name="connsiteX2" fmla="*/ 3472060 w 3472060"/>
              <a:gd name="connsiteY2" fmla="*/ 480529 h 825932"/>
              <a:gd name="connsiteX3" fmla="*/ 3363699 w 3472060"/>
              <a:gd name="connsiteY3" fmla="*/ 498471 h 825932"/>
              <a:gd name="connsiteX4" fmla="*/ 42060 w 3472060"/>
              <a:gd name="connsiteY4" fmla="*/ 824486 h 825932"/>
              <a:gd name="connsiteX5" fmla="*/ 0 w 3472060"/>
              <a:gd name="connsiteY5" fmla="*/ 758452 h 825932"/>
              <a:gd name="connsiteX6" fmla="*/ 188014 w 3472060"/>
              <a:gd name="connsiteY6" fmla="*/ 735602 h 825932"/>
              <a:gd name="connsiteX7" fmla="*/ 284087 w 3472060"/>
              <a:gd name="connsiteY7" fmla="*/ 722590 h 825932"/>
              <a:gd name="connsiteX8" fmla="*/ 382288 w 3472060"/>
              <a:gd name="connsiteY8" fmla="*/ 709392 h 825932"/>
              <a:gd name="connsiteX9" fmla="*/ 481858 w 3472060"/>
              <a:gd name="connsiteY9" fmla="*/ 695774 h 825932"/>
              <a:gd name="connsiteX10" fmla="*/ 581897 w 3472060"/>
              <a:gd name="connsiteY10" fmla="*/ 680711 h 825932"/>
              <a:gd name="connsiteX11" fmla="*/ 683670 w 3472060"/>
              <a:gd name="connsiteY11" fmla="*/ 665256 h 825932"/>
              <a:gd name="connsiteX12" fmla="*/ 787206 w 3472060"/>
              <a:gd name="connsiteY12" fmla="*/ 649587 h 825932"/>
              <a:gd name="connsiteX13" fmla="*/ 892019 w 3472060"/>
              <a:gd name="connsiteY13" fmla="*/ 632968 h 825932"/>
              <a:gd name="connsiteX14" fmla="*/ 997620 w 3472060"/>
              <a:gd name="connsiteY14" fmla="*/ 614667 h 825932"/>
              <a:gd name="connsiteX15" fmla="*/ 1104727 w 3472060"/>
              <a:gd name="connsiteY15" fmla="*/ 596741 h 825932"/>
              <a:gd name="connsiteX16" fmla="*/ 1212669 w 3472060"/>
              <a:gd name="connsiteY16" fmla="*/ 577397 h 825932"/>
              <a:gd name="connsiteX17" fmla="*/ 1321506 w 3472060"/>
              <a:gd name="connsiteY17" fmla="*/ 556988 h 825932"/>
              <a:gd name="connsiteX18" fmla="*/ 1430709 w 3472060"/>
              <a:gd name="connsiteY18" fmla="*/ 536607 h 825932"/>
              <a:gd name="connsiteX19" fmla="*/ 1541050 w 3472060"/>
              <a:gd name="connsiteY19" fmla="*/ 514481 h 825932"/>
              <a:gd name="connsiteX20" fmla="*/ 1652805 w 3472060"/>
              <a:gd name="connsiteY20" fmla="*/ 492202 h 825932"/>
              <a:gd name="connsiteX21" fmla="*/ 1763708 w 3472060"/>
              <a:gd name="connsiteY21" fmla="*/ 469161 h 825932"/>
              <a:gd name="connsiteX22" fmla="*/ 1875795 w 3472060"/>
              <a:gd name="connsiteY22" fmla="*/ 444641 h 825932"/>
              <a:gd name="connsiteX23" fmla="*/ 1989128 w 3472060"/>
              <a:gd name="connsiteY23" fmla="*/ 418995 h 825932"/>
              <a:gd name="connsiteX24" fmla="*/ 2102476 w 3472060"/>
              <a:gd name="connsiteY24" fmla="*/ 393438 h 825932"/>
              <a:gd name="connsiteX25" fmla="*/ 2215549 w 3472060"/>
              <a:gd name="connsiteY25" fmla="*/ 366291 h 825932"/>
              <a:gd name="connsiteX26" fmla="*/ 2330490 w 3472060"/>
              <a:gd name="connsiteY26" fmla="*/ 337455 h 825932"/>
              <a:gd name="connsiteX27" fmla="*/ 2443333 w 3472060"/>
              <a:gd name="connsiteY27" fmla="*/ 308983 h 825932"/>
              <a:gd name="connsiteX28" fmla="*/ 2558014 w 3472060"/>
              <a:gd name="connsiteY28" fmla="*/ 278646 h 825932"/>
              <a:gd name="connsiteX29" fmla="*/ 2673621 w 3472060"/>
              <a:gd name="connsiteY29" fmla="*/ 247421 h 825932"/>
              <a:gd name="connsiteX30" fmla="*/ 2787008 w 3472060"/>
              <a:gd name="connsiteY30" fmla="*/ 215853 h 825932"/>
              <a:gd name="connsiteX31" fmla="*/ 2901442 w 3472060"/>
              <a:gd name="connsiteY31" fmla="*/ 182011 h 825932"/>
              <a:gd name="connsiteX32" fmla="*/ 3015722 w 3472060"/>
              <a:gd name="connsiteY32" fmla="*/ 147286 h 825932"/>
              <a:gd name="connsiteX33" fmla="*/ 3130018 w 3472060"/>
              <a:gd name="connsiteY33" fmla="*/ 112649 h 825932"/>
              <a:gd name="connsiteX34" fmla="*/ 3243551 w 3472060"/>
              <a:gd name="connsiteY34" fmla="*/ 75688 h 825932"/>
              <a:gd name="connsiteX35" fmla="*/ 3356992 w 3472060"/>
              <a:gd name="connsiteY35" fmla="*/ 38197 h 825932"/>
              <a:gd name="connsiteX36" fmla="*/ 3470310 w 3472060"/>
              <a:gd name="connsiteY36" fmla="*/ 0 h 8259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</a:cxnLst>
            <a:rect l="l" t="t" r="r" b="b"/>
            <a:pathLst>
              <a:path w="3472060" h="825932">
                <a:moveTo>
                  <a:pt x="3470310" y="0"/>
                </a:moveTo>
                <a:lnTo>
                  <a:pt x="3472060" y="12850"/>
                </a:lnTo>
                <a:lnTo>
                  <a:pt x="3472060" y="480529"/>
                </a:lnTo>
                <a:lnTo>
                  <a:pt x="3363699" y="498471"/>
                </a:lnTo>
                <a:cubicBezTo>
                  <a:pt x="2435623" y="645518"/>
                  <a:pt x="603076" y="844866"/>
                  <a:pt x="42060" y="824486"/>
                </a:cubicBezTo>
                <a:cubicBezTo>
                  <a:pt x="28151" y="802425"/>
                  <a:pt x="13909" y="780513"/>
                  <a:pt x="0" y="758452"/>
                </a:cubicBezTo>
                <a:lnTo>
                  <a:pt x="188014" y="735602"/>
                </a:lnTo>
                <a:lnTo>
                  <a:pt x="284087" y="722590"/>
                </a:lnTo>
                <a:lnTo>
                  <a:pt x="382288" y="709392"/>
                </a:lnTo>
                <a:lnTo>
                  <a:pt x="481858" y="695774"/>
                </a:lnTo>
                <a:lnTo>
                  <a:pt x="581897" y="680711"/>
                </a:lnTo>
                <a:lnTo>
                  <a:pt x="683670" y="665256"/>
                </a:lnTo>
                <a:lnTo>
                  <a:pt x="787206" y="649587"/>
                </a:lnTo>
                <a:lnTo>
                  <a:pt x="892019" y="632968"/>
                </a:lnTo>
                <a:lnTo>
                  <a:pt x="997620" y="614667"/>
                </a:lnTo>
                <a:lnTo>
                  <a:pt x="1104727" y="596741"/>
                </a:lnTo>
                <a:lnTo>
                  <a:pt x="1212669" y="577397"/>
                </a:lnTo>
                <a:lnTo>
                  <a:pt x="1321506" y="556988"/>
                </a:lnTo>
                <a:lnTo>
                  <a:pt x="1430709" y="536607"/>
                </a:lnTo>
                <a:lnTo>
                  <a:pt x="1541050" y="514481"/>
                </a:lnTo>
                <a:lnTo>
                  <a:pt x="1652805" y="492202"/>
                </a:lnTo>
                <a:lnTo>
                  <a:pt x="1763708" y="469161"/>
                </a:lnTo>
                <a:lnTo>
                  <a:pt x="1875795" y="444641"/>
                </a:lnTo>
                <a:lnTo>
                  <a:pt x="1989128" y="418995"/>
                </a:lnTo>
                <a:lnTo>
                  <a:pt x="2102476" y="393438"/>
                </a:lnTo>
                <a:lnTo>
                  <a:pt x="2215549" y="366291"/>
                </a:lnTo>
                <a:lnTo>
                  <a:pt x="2330490" y="337455"/>
                </a:lnTo>
                <a:lnTo>
                  <a:pt x="2443333" y="308983"/>
                </a:lnTo>
                <a:lnTo>
                  <a:pt x="2558014" y="278646"/>
                </a:lnTo>
                <a:lnTo>
                  <a:pt x="2673621" y="247421"/>
                </a:lnTo>
                <a:lnTo>
                  <a:pt x="2787008" y="215853"/>
                </a:lnTo>
                <a:lnTo>
                  <a:pt x="2901442" y="182011"/>
                </a:lnTo>
                <a:lnTo>
                  <a:pt x="3015722" y="147286"/>
                </a:lnTo>
                <a:lnTo>
                  <a:pt x="3130018" y="112649"/>
                </a:lnTo>
                <a:lnTo>
                  <a:pt x="3243551" y="75688"/>
                </a:lnTo>
                <a:lnTo>
                  <a:pt x="3356992" y="38197"/>
                </a:lnTo>
                <a:lnTo>
                  <a:pt x="3470310" y="0"/>
                </a:lnTo>
                <a:close/>
              </a:path>
            </a:pathLst>
          </a:custGeom>
          <a:solidFill>
            <a:schemeClr val="bg1"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 useBgFill="1">
        <p:nvSpPr>
          <p:cNvPr id="14" name="Freeform: Shape 13">
            <a:extLst>
              <a:ext uri="{FF2B5EF4-FFF2-40B4-BE49-F238E27FC236}">
                <a16:creationId xmlns:a16="http://schemas.microsoft.com/office/drawing/2014/main" id="{FF4C5EF5-27A5-07EA-635C-47E1B5EDCD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>
            <a:off x="1" y="1762067"/>
            <a:ext cx="12192417" cy="5095933"/>
          </a:xfrm>
          <a:custGeom>
            <a:avLst/>
            <a:gdLst>
              <a:gd name="connsiteX0" fmla="*/ 0 w 12192417"/>
              <a:gd name="connsiteY0" fmla="*/ 0 h 5095933"/>
              <a:gd name="connsiteX1" fmla="*/ 71931 w 12192417"/>
              <a:gd name="connsiteY1" fmla="*/ 12261 h 5095933"/>
              <a:gd name="connsiteX2" fmla="*/ 282848 w 12192417"/>
              <a:gd name="connsiteY2" fmla="*/ 48343 h 5095933"/>
              <a:gd name="connsiteX3" fmla="*/ 436463 w 12192417"/>
              <a:gd name="connsiteY3" fmla="*/ 73565 h 5095933"/>
              <a:gd name="connsiteX4" fmla="*/ 619338 w 12192417"/>
              <a:gd name="connsiteY4" fmla="*/ 100188 h 5095933"/>
              <a:gd name="connsiteX5" fmla="*/ 836350 w 12192417"/>
              <a:gd name="connsiteY5" fmla="*/ 132066 h 5095933"/>
              <a:gd name="connsiteX6" fmla="*/ 1076527 w 12192417"/>
              <a:gd name="connsiteY6" fmla="*/ 165696 h 5095933"/>
              <a:gd name="connsiteX7" fmla="*/ 1347183 w 12192417"/>
              <a:gd name="connsiteY7" fmla="*/ 201077 h 5095933"/>
              <a:gd name="connsiteX8" fmla="*/ 1642222 w 12192417"/>
              <a:gd name="connsiteY8" fmla="*/ 238560 h 5095933"/>
              <a:gd name="connsiteX9" fmla="*/ 1962863 w 12192417"/>
              <a:gd name="connsiteY9" fmla="*/ 276043 h 5095933"/>
              <a:gd name="connsiteX10" fmla="*/ 2304231 w 12192417"/>
              <a:gd name="connsiteY10" fmla="*/ 314227 h 5095933"/>
              <a:gd name="connsiteX11" fmla="*/ 2672420 w 12192417"/>
              <a:gd name="connsiteY11" fmla="*/ 349608 h 5095933"/>
              <a:gd name="connsiteX12" fmla="*/ 3057677 w 12192417"/>
              <a:gd name="connsiteY12" fmla="*/ 383588 h 5095933"/>
              <a:gd name="connsiteX13" fmla="*/ 3464880 w 12192417"/>
              <a:gd name="connsiteY13" fmla="*/ 414415 h 5095933"/>
              <a:gd name="connsiteX14" fmla="*/ 3889151 w 12192417"/>
              <a:gd name="connsiteY14" fmla="*/ 443841 h 5095933"/>
              <a:gd name="connsiteX15" fmla="*/ 4331709 w 12192417"/>
              <a:gd name="connsiteY15" fmla="*/ 471515 h 5095933"/>
              <a:gd name="connsiteX16" fmla="*/ 4558475 w 12192417"/>
              <a:gd name="connsiteY16" fmla="*/ 481324 h 5095933"/>
              <a:gd name="connsiteX17" fmla="*/ 4790117 w 12192417"/>
              <a:gd name="connsiteY17" fmla="*/ 492183 h 5095933"/>
              <a:gd name="connsiteX18" fmla="*/ 5025417 w 12192417"/>
              <a:gd name="connsiteY18" fmla="*/ 502342 h 5095933"/>
              <a:gd name="connsiteX19" fmla="*/ 5261936 w 12192417"/>
              <a:gd name="connsiteY19" fmla="*/ 508998 h 5095933"/>
              <a:gd name="connsiteX20" fmla="*/ 5503331 w 12192417"/>
              <a:gd name="connsiteY20" fmla="*/ 514953 h 5095933"/>
              <a:gd name="connsiteX21" fmla="*/ 5747166 w 12192417"/>
              <a:gd name="connsiteY21" fmla="*/ 521259 h 5095933"/>
              <a:gd name="connsiteX22" fmla="*/ 5995876 w 12192417"/>
              <a:gd name="connsiteY22" fmla="*/ 525463 h 5095933"/>
              <a:gd name="connsiteX23" fmla="*/ 6247025 w 12192417"/>
              <a:gd name="connsiteY23" fmla="*/ 525463 h 5095933"/>
              <a:gd name="connsiteX24" fmla="*/ 6500612 w 12192417"/>
              <a:gd name="connsiteY24" fmla="*/ 527565 h 5095933"/>
              <a:gd name="connsiteX25" fmla="*/ 6756638 w 12192417"/>
              <a:gd name="connsiteY25" fmla="*/ 525463 h 5095933"/>
              <a:gd name="connsiteX26" fmla="*/ 7016321 w 12192417"/>
              <a:gd name="connsiteY26" fmla="*/ 521259 h 5095933"/>
              <a:gd name="connsiteX27" fmla="*/ 7276004 w 12192417"/>
              <a:gd name="connsiteY27" fmla="*/ 517406 h 5095933"/>
              <a:gd name="connsiteX28" fmla="*/ 7539344 w 12192417"/>
              <a:gd name="connsiteY28" fmla="*/ 508998 h 5095933"/>
              <a:gd name="connsiteX29" fmla="*/ 7805123 w 12192417"/>
              <a:gd name="connsiteY29" fmla="*/ 500241 h 5095933"/>
              <a:gd name="connsiteX30" fmla="*/ 8070902 w 12192417"/>
              <a:gd name="connsiteY30" fmla="*/ 490082 h 5095933"/>
              <a:gd name="connsiteX31" fmla="*/ 8339120 w 12192417"/>
              <a:gd name="connsiteY31" fmla="*/ 475719 h 5095933"/>
              <a:gd name="connsiteX32" fmla="*/ 8609775 w 12192417"/>
              <a:gd name="connsiteY32" fmla="*/ 458554 h 5095933"/>
              <a:gd name="connsiteX33" fmla="*/ 8881650 w 12192417"/>
              <a:gd name="connsiteY33" fmla="*/ 442089 h 5095933"/>
              <a:gd name="connsiteX34" fmla="*/ 9153525 w 12192417"/>
              <a:gd name="connsiteY34" fmla="*/ 421071 h 5095933"/>
              <a:gd name="connsiteX35" fmla="*/ 9429057 w 12192417"/>
              <a:gd name="connsiteY35" fmla="*/ 395849 h 5095933"/>
              <a:gd name="connsiteX36" fmla="*/ 9700932 w 12192417"/>
              <a:gd name="connsiteY36" fmla="*/ 370626 h 5095933"/>
              <a:gd name="connsiteX37" fmla="*/ 9977683 w 12192417"/>
              <a:gd name="connsiteY37" fmla="*/ 341551 h 5095933"/>
              <a:gd name="connsiteX38" fmla="*/ 10255654 w 12192417"/>
              <a:gd name="connsiteY38" fmla="*/ 309673 h 5095933"/>
              <a:gd name="connsiteX39" fmla="*/ 10529967 w 12192417"/>
              <a:gd name="connsiteY39" fmla="*/ 276043 h 5095933"/>
              <a:gd name="connsiteX40" fmla="*/ 10807938 w 12192417"/>
              <a:gd name="connsiteY40" fmla="*/ 236809 h 5095933"/>
              <a:gd name="connsiteX41" fmla="*/ 11084689 w 12192417"/>
              <a:gd name="connsiteY41" fmla="*/ 194772 h 5095933"/>
              <a:gd name="connsiteX42" fmla="*/ 11362660 w 12192417"/>
              <a:gd name="connsiteY42" fmla="*/ 153085 h 5095933"/>
              <a:gd name="connsiteX43" fmla="*/ 11639411 w 12192417"/>
              <a:gd name="connsiteY43" fmla="*/ 104392 h 5095933"/>
              <a:gd name="connsiteX44" fmla="*/ 11914944 w 12192417"/>
              <a:gd name="connsiteY44" fmla="*/ 54648 h 5095933"/>
              <a:gd name="connsiteX45" fmla="*/ 12191695 w 12192417"/>
              <a:gd name="connsiteY45" fmla="*/ 2452 h 5095933"/>
              <a:gd name="connsiteX46" fmla="*/ 12191695 w 12192417"/>
              <a:gd name="connsiteY46" fmla="*/ 2162231 h 5095933"/>
              <a:gd name="connsiteX47" fmla="*/ 12192417 w 12192417"/>
              <a:gd name="connsiteY47" fmla="*/ 2162231 h 5095933"/>
              <a:gd name="connsiteX48" fmla="*/ 12192417 w 12192417"/>
              <a:gd name="connsiteY48" fmla="*/ 5095933 h 5095933"/>
              <a:gd name="connsiteX49" fmla="*/ 0 w 12192417"/>
              <a:gd name="connsiteY49" fmla="*/ 5095933 h 5095933"/>
              <a:gd name="connsiteX50" fmla="*/ 0 w 12192417"/>
              <a:gd name="connsiteY50" fmla="*/ 2791958 h 5095933"/>
              <a:gd name="connsiteX51" fmla="*/ 0 w 12192417"/>
              <a:gd name="connsiteY51" fmla="*/ 2162231 h 50959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12192417" h="5095933">
                <a:moveTo>
                  <a:pt x="0" y="0"/>
                </a:moveTo>
                <a:lnTo>
                  <a:pt x="71931" y="12261"/>
                </a:lnTo>
                <a:lnTo>
                  <a:pt x="282848" y="48343"/>
                </a:lnTo>
                <a:lnTo>
                  <a:pt x="436463" y="73565"/>
                </a:lnTo>
                <a:lnTo>
                  <a:pt x="619338" y="100188"/>
                </a:lnTo>
                <a:lnTo>
                  <a:pt x="836350" y="132066"/>
                </a:lnTo>
                <a:lnTo>
                  <a:pt x="1076527" y="165696"/>
                </a:lnTo>
                <a:lnTo>
                  <a:pt x="1347183" y="201077"/>
                </a:lnTo>
                <a:lnTo>
                  <a:pt x="1642222" y="238560"/>
                </a:lnTo>
                <a:lnTo>
                  <a:pt x="1962863" y="276043"/>
                </a:lnTo>
                <a:lnTo>
                  <a:pt x="2304231" y="314227"/>
                </a:lnTo>
                <a:lnTo>
                  <a:pt x="2672420" y="349608"/>
                </a:lnTo>
                <a:lnTo>
                  <a:pt x="3057677" y="383588"/>
                </a:lnTo>
                <a:lnTo>
                  <a:pt x="3464880" y="414415"/>
                </a:lnTo>
                <a:lnTo>
                  <a:pt x="3889151" y="443841"/>
                </a:lnTo>
                <a:lnTo>
                  <a:pt x="4331709" y="471515"/>
                </a:lnTo>
                <a:lnTo>
                  <a:pt x="4558475" y="481324"/>
                </a:lnTo>
                <a:lnTo>
                  <a:pt x="4790117" y="492183"/>
                </a:lnTo>
                <a:lnTo>
                  <a:pt x="5025417" y="502342"/>
                </a:lnTo>
                <a:lnTo>
                  <a:pt x="5261936" y="508998"/>
                </a:lnTo>
                <a:lnTo>
                  <a:pt x="5503331" y="514953"/>
                </a:lnTo>
                <a:lnTo>
                  <a:pt x="5747166" y="521259"/>
                </a:lnTo>
                <a:lnTo>
                  <a:pt x="5995876" y="525463"/>
                </a:lnTo>
                <a:lnTo>
                  <a:pt x="6247025" y="525463"/>
                </a:lnTo>
                <a:lnTo>
                  <a:pt x="6500612" y="527565"/>
                </a:lnTo>
                <a:lnTo>
                  <a:pt x="6756638" y="525463"/>
                </a:lnTo>
                <a:lnTo>
                  <a:pt x="7016321" y="521259"/>
                </a:lnTo>
                <a:lnTo>
                  <a:pt x="7276004" y="517406"/>
                </a:lnTo>
                <a:lnTo>
                  <a:pt x="7539344" y="508998"/>
                </a:lnTo>
                <a:lnTo>
                  <a:pt x="7805123" y="500241"/>
                </a:lnTo>
                <a:lnTo>
                  <a:pt x="8070902" y="490082"/>
                </a:lnTo>
                <a:lnTo>
                  <a:pt x="8339120" y="475719"/>
                </a:lnTo>
                <a:lnTo>
                  <a:pt x="8609775" y="458554"/>
                </a:lnTo>
                <a:lnTo>
                  <a:pt x="8881650" y="442089"/>
                </a:lnTo>
                <a:lnTo>
                  <a:pt x="9153525" y="421071"/>
                </a:lnTo>
                <a:lnTo>
                  <a:pt x="9429057" y="395849"/>
                </a:lnTo>
                <a:lnTo>
                  <a:pt x="9700932" y="370626"/>
                </a:lnTo>
                <a:lnTo>
                  <a:pt x="9977683" y="341551"/>
                </a:lnTo>
                <a:lnTo>
                  <a:pt x="10255654" y="309673"/>
                </a:lnTo>
                <a:lnTo>
                  <a:pt x="10529967" y="276043"/>
                </a:lnTo>
                <a:lnTo>
                  <a:pt x="10807938" y="236809"/>
                </a:lnTo>
                <a:lnTo>
                  <a:pt x="11084689" y="194772"/>
                </a:lnTo>
                <a:lnTo>
                  <a:pt x="11362660" y="153085"/>
                </a:lnTo>
                <a:lnTo>
                  <a:pt x="11639411" y="104392"/>
                </a:lnTo>
                <a:lnTo>
                  <a:pt x="11914944" y="54648"/>
                </a:lnTo>
                <a:lnTo>
                  <a:pt x="12191695" y="2452"/>
                </a:lnTo>
                <a:lnTo>
                  <a:pt x="12191695" y="2162231"/>
                </a:lnTo>
                <a:lnTo>
                  <a:pt x="12192417" y="2162231"/>
                </a:lnTo>
                <a:lnTo>
                  <a:pt x="12192417" y="5095933"/>
                </a:lnTo>
                <a:lnTo>
                  <a:pt x="0" y="5095933"/>
                </a:lnTo>
                <a:lnTo>
                  <a:pt x="0" y="2791958"/>
                </a:lnTo>
                <a:lnTo>
                  <a:pt x="0" y="2162231"/>
                </a:lnTo>
                <a:close/>
              </a:path>
            </a:pathLst>
          </a:custGeom>
          <a:ln>
            <a:noFill/>
          </a:ln>
        </p:spPr>
        <p:txBody>
          <a:bodyPr/>
          <a:lstStyle/>
          <a:p>
            <a:endParaRPr lang="en-CA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D751C45-4CC8-246C-3145-CA046D62BC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03312" y="452718"/>
            <a:ext cx="8947522" cy="1400530"/>
          </a:xfrm>
        </p:spPr>
        <p:txBody>
          <a:bodyPr anchor="ctr">
            <a:normAutofit fontScale="90000"/>
          </a:bodyPr>
          <a:lstStyle/>
          <a:p>
            <a:r>
              <a:rPr lang="en-CA" sz="4400" dirty="0">
                <a:solidFill>
                  <a:srgbClr val="FFFFFF"/>
                </a:solidFill>
              </a:rPr>
              <a:t>Shipping vs Customer Satisfaction</a:t>
            </a:r>
          </a:p>
        </p:txBody>
      </p:sp>
      <p:sp>
        <p:nvSpPr>
          <p:cNvPr id="16" name="Content Placeholder 15">
            <a:extLst>
              <a:ext uri="{FF2B5EF4-FFF2-40B4-BE49-F238E27FC236}">
                <a16:creationId xmlns:a16="http://schemas.microsoft.com/office/drawing/2014/main" id="{37E13C30-5058-5BA4-65E5-673DC6F184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08933" y="2660982"/>
            <a:ext cx="3333879" cy="3242105"/>
          </a:xfrm>
        </p:spPr>
        <p:txBody>
          <a:bodyPr>
            <a:normAutofit fontScale="92500" lnSpcReduction="20000"/>
          </a:bodyPr>
          <a:lstStyle/>
          <a:p>
            <a:pPr>
              <a:buClr>
                <a:srgbClr val="34343F"/>
              </a:buClr>
            </a:pPr>
            <a:r>
              <a:rPr lang="en-US" dirty="0"/>
              <a:t>There is a direct correlation between shipping delays and customer dissatisfaction</a:t>
            </a:r>
          </a:p>
          <a:p>
            <a:pPr>
              <a:buClr>
                <a:srgbClr val="34343F"/>
              </a:buClr>
            </a:pPr>
            <a:r>
              <a:rPr lang="en-US" dirty="0"/>
              <a:t>While the average rating is 4.0 stars, a delay of just 1 day drops the average to 3.68. Sentiment collapses at the 3-day mark (2.58 stars) and hits a floor of 1.5 stars for delays of 6+ days.</a:t>
            </a:r>
            <a:endParaRPr lang="en-CA" dirty="0">
              <a:solidFill>
                <a:srgbClr val="34343F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8C9BB7A-77D5-241B-E35C-938D13B0ECD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7057" y="2660982"/>
            <a:ext cx="7761875" cy="3242105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9902F61D-D0C4-E35D-0365-BA41BB307E13}"/>
              </a:ext>
            </a:extLst>
          </p:cNvPr>
          <p:cNvSpPr/>
          <p:nvPr/>
        </p:nvSpPr>
        <p:spPr>
          <a:xfrm>
            <a:off x="11644943" y="3595511"/>
            <a:ext cx="544926" cy="107128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02026045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7EB88A7-FD89-9A52-7FED-AF5D31E5DD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E9EB18B8-9770-616B-D314-373C4E3AA1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878F849-5B4A-C6EF-8CE8-D83BADDE1BD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CA"/>
          </a:p>
        </p:txBody>
      </p:sp>
      <p:sp>
        <p:nvSpPr>
          <p:cNvPr id="12" name="Freeform 7">
            <a:extLst>
              <a:ext uri="{FF2B5EF4-FFF2-40B4-BE49-F238E27FC236}">
                <a16:creationId xmlns:a16="http://schemas.microsoft.com/office/drawing/2014/main" id="{2347856C-8E96-BADB-67E4-6579BEC4B9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719939" y="1460230"/>
            <a:ext cx="3472060" cy="825932"/>
          </a:xfrm>
          <a:custGeom>
            <a:avLst/>
            <a:gdLst>
              <a:gd name="connsiteX0" fmla="*/ 3470310 w 3472060"/>
              <a:gd name="connsiteY0" fmla="*/ 0 h 825932"/>
              <a:gd name="connsiteX1" fmla="*/ 3472060 w 3472060"/>
              <a:gd name="connsiteY1" fmla="*/ 12850 h 825932"/>
              <a:gd name="connsiteX2" fmla="*/ 3472060 w 3472060"/>
              <a:gd name="connsiteY2" fmla="*/ 480529 h 825932"/>
              <a:gd name="connsiteX3" fmla="*/ 3363699 w 3472060"/>
              <a:gd name="connsiteY3" fmla="*/ 498471 h 825932"/>
              <a:gd name="connsiteX4" fmla="*/ 42060 w 3472060"/>
              <a:gd name="connsiteY4" fmla="*/ 824486 h 825932"/>
              <a:gd name="connsiteX5" fmla="*/ 0 w 3472060"/>
              <a:gd name="connsiteY5" fmla="*/ 758452 h 825932"/>
              <a:gd name="connsiteX6" fmla="*/ 188014 w 3472060"/>
              <a:gd name="connsiteY6" fmla="*/ 735602 h 825932"/>
              <a:gd name="connsiteX7" fmla="*/ 284087 w 3472060"/>
              <a:gd name="connsiteY7" fmla="*/ 722590 h 825932"/>
              <a:gd name="connsiteX8" fmla="*/ 382288 w 3472060"/>
              <a:gd name="connsiteY8" fmla="*/ 709392 h 825932"/>
              <a:gd name="connsiteX9" fmla="*/ 481858 w 3472060"/>
              <a:gd name="connsiteY9" fmla="*/ 695774 h 825932"/>
              <a:gd name="connsiteX10" fmla="*/ 581897 w 3472060"/>
              <a:gd name="connsiteY10" fmla="*/ 680711 h 825932"/>
              <a:gd name="connsiteX11" fmla="*/ 683670 w 3472060"/>
              <a:gd name="connsiteY11" fmla="*/ 665256 h 825932"/>
              <a:gd name="connsiteX12" fmla="*/ 787206 w 3472060"/>
              <a:gd name="connsiteY12" fmla="*/ 649587 h 825932"/>
              <a:gd name="connsiteX13" fmla="*/ 892019 w 3472060"/>
              <a:gd name="connsiteY13" fmla="*/ 632968 h 825932"/>
              <a:gd name="connsiteX14" fmla="*/ 997620 w 3472060"/>
              <a:gd name="connsiteY14" fmla="*/ 614667 h 825932"/>
              <a:gd name="connsiteX15" fmla="*/ 1104727 w 3472060"/>
              <a:gd name="connsiteY15" fmla="*/ 596741 h 825932"/>
              <a:gd name="connsiteX16" fmla="*/ 1212669 w 3472060"/>
              <a:gd name="connsiteY16" fmla="*/ 577397 h 825932"/>
              <a:gd name="connsiteX17" fmla="*/ 1321506 w 3472060"/>
              <a:gd name="connsiteY17" fmla="*/ 556988 h 825932"/>
              <a:gd name="connsiteX18" fmla="*/ 1430709 w 3472060"/>
              <a:gd name="connsiteY18" fmla="*/ 536607 h 825932"/>
              <a:gd name="connsiteX19" fmla="*/ 1541050 w 3472060"/>
              <a:gd name="connsiteY19" fmla="*/ 514481 h 825932"/>
              <a:gd name="connsiteX20" fmla="*/ 1652805 w 3472060"/>
              <a:gd name="connsiteY20" fmla="*/ 492202 h 825932"/>
              <a:gd name="connsiteX21" fmla="*/ 1763708 w 3472060"/>
              <a:gd name="connsiteY21" fmla="*/ 469161 h 825932"/>
              <a:gd name="connsiteX22" fmla="*/ 1875795 w 3472060"/>
              <a:gd name="connsiteY22" fmla="*/ 444641 h 825932"/>
              <a:gd name="connsiteX23" fmla="*/ 1989128 w 3472060"/>
              <a:gd name="connsiteY23" fmla="*/ 418995 h 825932"/>
              <a:gd name="connsiteX24" fmla="*/ 2102476 w 3472060"/>
              <a:gd name="connsiteY24" fmla="*/ 393438 h 825932"/>
              <a:gd name="connsiteX25" fmla="*/ 2215549 w 3472060"/>
              <a:gd name="connsiteY25" fmla="*/ 366291 h 825932"/>
              <a:gd name="connsiteX26" fmla="*/ 2330490 w 3472060"/>
              <a:gd name="connsiteY26" fmla="*/ 337455 h 825932"/>
              <a:gd name="connsiteX27" fmla="*/ 2443333 w 3472060"/>
              <a:gd name="connsiteY27" fmla="*/ 308983 h 825932"/>
              <a:gd name="connsiteX28" fmla="*/ 2558014 w 3472060"/>
              <a:gd name="connsiteY28" fmla="*/ 278646 h 825932"/>
              <a:gd name="connsiteX29" fmla="*/ 2673621 w 3472060"/>
              <a:gd name="connsiteY29" fmla="*/ 247421 h 825932"/>
              <a:gd name="connsiteX30" fmla="*/ 2787008 w 3472060"/>
              <a:gd name="connsiteY30" fmla="*/ 215853 h 825932"/>
              <a:gd name="connsiteX31" fmla="*/ 2901442 w 3472060"/>
              <a:gd name="connsiteY31" fmla="*/ 182011 h 825932"/>
              <a:gd name="connsiteX32" fmla="*/ 3015722 w 3472060"/>
              <a:gd name="connsiteY32" fmla="*/ 147286 h 825932"/>
              <a:gd name="connsiteX33" fmla="*/ 3130018 w 3472060"/>
              <a:gd name="connsiteY33" fmla="*/ 112649 h 825932"/>
              <a:gd name="connsiteX34" fmla="*/ 3243551 w 3472060"/>
              <a:gd name="connsiteY34" fmla="*/ 75688 h 825932"/>
              <a:gd name="connsiteX35" fmla="*/ 3356992 w 3472060"/>
              <a:gd name="connsiteY35" fmla="*/ 38197 h 825932"/>
              <a:gd name="connsiteX36" fmla="*/ 3470310 w 3472060"/>
              <a:gd name="connsiteY36" fmla="*/ 0 h 8259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</a:cxnLst>
            <a:rect l="l" t="t" r="r" b="b"/>
            <a:pathLst>
              <a:path w="3472060" h="825932">
                <a:moveTo>
                  <a:pt x="3470310" y="0"/>
                </a:moveTo>
                <a:lnTo>
                  <a:pt x="3472060" y="12850"/>
                </a:lnTo>
                <a:lnTo>
                  <a:pt x="3472060" y="480529"/>
                </a:lnTo>
                <a:lnTo>
                  <a:pt x="3363699" y="498471"/>
                </a:lnTo>
                <a:cubicBezTo>
                  <a:pt x="2435623" y="645518"/>
                  <a:pt x="603076" y="844866"/>
                  <a:pt x="42060" y="824486"/>
                </a:cubicBezTo>
                <a:cubicBezTo>
                  <a:pt x="28151" y="802425"/>
                  <a:pt x="13909" y="780513"/>
                  <a:pt x="0" y="758452"/>
                </a:cubicBezTo>
                <a:lnTo>
                  <a:pt x="188014" y="735602"/>
                </a:lnTo>
                <a:lnTo>
                  <a:pt x="284087" y="722590"/>
                </a:lnTo>
                <a:lnTo>
                  <a:pt x="382288" y="709392"/>
                </a:lnTo>
                <a:lnTo>
                  <a:pt x="481858" y="695774"/>
                </a:lnTo>
                <a:lnTo>
                  <a:pt x="581897" y="680711"/>
                </a:lnTo>
                <a:lnTo>
                  <a:pt x="683670" y="665256"/>
                </a:lnTo>
                <a:lnTo>
                  <a:pt x="787206" y="649587"/>
                </a:lnTo>
                <a:lnTo>
                  <a:pt x="892019" y="632968"/>
                </a:lnTo>
                <a:lnTo>
                  <a:pt x="997620" y="614667"/>
                </a:lnTo>
                <a:lnTo>
                  <a:pt x="1104727" y="596741"/>
                </a:lnTo>
                <a:lnTo>
                  <a:pt x="1212669" y="577397"/>
                </a:lnTo>
                <a:lnTo>
                  <a:pt x="1321506" y="556988"/>
                </a:lnTo>
                <a:lnTo>
                  <a:pt x="1430709" y="536607"/>
                </a:lnTo>
                <a:lnTo>
                  <a:pt x="1541050" y="514481"/>
                </a:lnTo>
                <a:lnTo>
                  <a:pt x="1652805" y="492202"/>
                </a:lnTo>
                <a:lnTo>
                  <a:pt x="1763708" y="469161"/>
                </a:lnTo>
                <a:lnTo>
                  <a:pt x="1875795" y="444641"/>
                </a:lnTo>
                <a:lnTo>
                  <a:pt x="1989128" y="418995"/>
                </a:lnTo>
                <a:lnTo>
                  <a:pt x="2102476" y="393438"/>
                </a:lnTo>
                <a:lnTo>
                  <a:pt x="2215549" y="366291"/>
                </a:lnTo>
                <a:lnTo>
                  <a:pt x="2330490" y="337455"/>
                </a:lnTo>
                <a:lnTo>
                  <a:pt x="2443333" y="308983"/>
                </a:lnTo>
                <a:lnTo>
                  <a:pt x="2558014" y="278646"/>
                </a:lnTo>
                <a:lnTo>
                  <a:pt x="2673621" y="247421"/>
                </a:lnTo>
                <a:lnTo>
                  <a:pt x="2787008" y="215853"/>
                </a:lnTo>
                <a:lnTo>
                  <a:pt x="2901442" y="182011"/>
                </a:lnTo>
                <a:lnTo>
                  <a:pt x="3015722" y="147286"/>
                </a:lnTo>
                <a:lnTo>
                  <a:pt x="3130018" y="112649"/>
                </a:lnTo>
                <a:lnTo>
                  <a:pt x="3243551" y="75688"/>
                </a:lnTo>
                <a:lnTo>
                  <a:pt x="3356992" y="38197"/>
                </a:lnTo>
                <a:lnTo>
                  <a:pt x="3470310" y="0"/>
                </a:lnTo>
                <a:close/>
              </a:path>
            </a:pathLst>
          </a:custGeom>
          <a:solidFill>
            <a:schemeClr val="bg1"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 useBgFill="1">
        <p:nvSpPr>
          <p:cNvPr id="14" name="Freeform: Shape 13">
            <a:extLst>
              <a:ext uri="{FF2B5EF4-FFF2-40B4-BE49-F238E27FC236}">
                <a16:creationId xmlns:a16="http://schemas.microsoft.com/office/drawing/2014/main" id="{055DCB4B-D6D9-14F4-D0AD-3253F79478F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>
            <a:off x="1" y="1762067"/>
            <a:ext cx="12192417" cy="5095933"/>
          </a:xfrm>
          <a:custGeom>
            <a:avLst/>
            <a:gdLst>
              <a:gd name="connsiteX0" fmla="*/ 0 w 12192417"/>
              <a:gd name="connsiteY0" fmla="*/ 0 h 5095933"/>
              <a:gd name="connsiteX1" fmla="*/ 71931 w 12192417"/>
              <a:gd name="connsiteY1" fmla="*/ 12261 h 5095933"/>
              <a:gd name="connsiteX2" fmla="*/ 282848 w 12192417"/>
              <a:gd name="connsiteY2" fmla="*/ 48343 h 5095933"/>
              <a:gd name="connsiteX3" fmla="*/ 436463 w 12192417"/>
              <a:gd name="connsiteY3" fmla="*/ 73565 h 5095933"/>
              <a:gd name="connsiteX4" fmla="*/ 619338 w 12192417"/>
              <a:gd name="connsiteY4" fmla="*/ 100188 h 5095933"/>
              <a:gd name="connsiteX5" fmla="*/ 836350 w 12192417"/>
              <a:gd name="connsiteY5" fmla="*/ 132066 h 5095933"/>
              <a:gd name="connsiteX6" fmla="*/ 1076527 w 12192417"/>
              <a:gd name="connsiteY6" fmla="*/ 165696 h 5095933"/>
              <a:gd name="connsiteX7" fmla="*/ 1347183 w 12192417"/>
              <a:gd name="connsiteY7" fmla="*/ 201077 h 5095933"/>
              <a:gd name="connsiteX8" fmla="*/ 1642222 w 12192417"/>
              <a:gd name="connsiteY8" fmla="*/ 238560 h 5095933"/>
              <a:gd name="connsiteX9" fmla="*/ 1962863 w 12192417"/>
              <a:gd name="connsiteY9" fmla="*/ 276043 h 5095933"/>
              <a:gd name="connsiteX10" fmla="*/ 2304231 w 12192417"/>
              <a:gd name="connsiteY10" fmla="*/ 314227 h 5095933"/>
              <a:gd name="connsiteX11" fmla="*/ 2672420 w 12192417"/>
              <a:gd name="connsiteY11" fmla="*/ 349608 h 5095933"/>
              <a:gd name="connsiteX12" fmla="*/ 3057677 w 12192417"/>
              <a:gd name="connsiteY12" fmla="*/ 383588 h 5095933"/>
              <a:gd name="connsiteX13" fmla="*/ 3464880 w 12192417"/>
              <a:gd name="connsiteY13" fmla="*/ 414415 h 5095933"/>
              <a:gd name="connsiteX14" fmla="*/ 3889151 w 12192417"/>
              <a:gd name="connsiteY14" fmla="*/ 443841 h 5095933"/>
              <a:gd name="connsiteX15" fmla="*/ 4331709 w 12192417"/>
              <a:gd name="connsiteY15" fmla="*/ 471515 h 5095933"/>
              <a:gd name="connsiteX16" fmla="*/ 4558475 w 12192417"/>
              <a:gd name="connsiteY16" fmla="*/ 481324 h 5095933"/>
              <a:gd name="connsiteX17" fmla="*/ 4790117 w 12192417"/>
              <a:gd name="connsiteY17" fmla="*/ 492183 h 5095933"/>
              <a:gd name="connsiteX18" fmla="*/ 5025417 w 12192417"/>
              <a:gd name="connsiteY18" fmla="*/ 502342 h 5095933"/>
              <a:gd name="connsiteX19" fmla="*/ 5261936 w 12192417"/>
              <a:gd name="connsiteY19" fmla="*/ 508998 h 5095933"/>
              <a:gd name="connsiteX20" fmla="*/ 5503331 w 12192417"/>
              <a:gd name="connsiteY20" fmla="*/ 514953 h 5095933"/>
              <a:gd name="connsiteX21" fmla="*/ 5747166 w 12192417"/>
              <a:gd name="connsiteY21" fmla="*/ 521259 h 5095933"/>
              <a:gd name="connsiteX22" fmla="*/ 5995876 w 12192417"/>
              <a:gd name="connsiteY22" fmla="*/ 525463 h 5095933"/>
              <a:gd name="connsiteX23" fmla="*/ 6247025 w 12192417"/>
              <a:gd name="connsiteY23" fmla="*/ 525463 h 5095933"/>
              <a:gd name="connsiteX24" fmla="*/ 6500612 w 12192417"/>
              <a:gd name="connsiteY24" fmla="*/ 527565 h 5095933"/>
              <a:gd name="connsiteX25" fmla="*/ 6756638 w 12192417"/>
              <a:gd name="connsiteY25" fmla="*/ 525463 h 5095933"/>
              <a:gd name="connsiteX26" fmla="*/ 7016321 w 12192417"/>
              <a:gd name="connsiteY26" fmla="*/ 521259 h 5095933"/>
              <a:gd name="connsiteX27" fmla="*/ 7276004 w 12192417"/>
              <a:gd name="connsiteY27" fmla="*/ 517406 h 5095933"/>
              <a:gd name="connsiteX28" fmla="*/ 7539344 w 12192417"/>
              <a:gd name="connsiteY28" fmla="*/ 508998 h 5095933"/>
              <a:gd name="connsiteX29" fmla="*/ 7805123 w 12192417"/>
              <a:gd name="connsiteY29" fmla="*/ 500241 h 5095933"/>
              <a:gd name="connsiteX30" fmla="*/ 8070902 w 12192417"/>
              <a:gd name="connsiteY30" fmla="*/ 490082 h 5095933"/>
              <a:gd name="connsiteX31" fmla="*/ 8339120 w 12192417"/>
              <a:gd name="connsiteY31" fmla="*/ 475719 h 5095933"/>
              <a:gd name="connsiteX32" fmla="*/ 8609775 w 12192417"/>
              <a:gd name="connsiteY32" fmla="*/ 458554 h 5095933"/>
              <a:gd name="connsiteX33" fmla="*/ 8881650 w 12192417"/>
              <a:gd name="connsiteY33" fmla="*/ 442089 h 5095933"/>
              <a:gd name="connsiteX34" fmla="*/ 9153525 w 12192417"/>
              <a:gd name="connsiteY34" fmla="*/ 421071 h 5095933"/>
              <a:gd name="connsiteX35" fmla="*/ 9429057 w 12192417"/>
              <a:gd name="connsiteY35" fmla="*/ 395849 h 5095933"/>
              <a:gd name="connsiteX36" fmla="*/ 9700932 w 12192417"/>
              <a:gd name="connsiteY36" fmla="*/ 370626 h 5095933"/>
              <a:gd name="connsiteX37" fmla="*/ 9977683 w 12192417"/>
              <a:gd name="connsiteY37" fmla="*/ 341551 h 5095933"/>
              <a:gd name="connsiteX38" fmla="*/ 10255654 w 12192417"/>
              <a:gd name="connsiteY38" fmla="*/ 309673 h 5095933"/>
              <a:gd name="connsiteX39" fmla="*/ 10529967 w 12192417"/>
              <a:gd name="connsiteY39" fmla="*/ 276043 h 5095933"/>
              <a:gd name="connsiteX40" fmla="*/ 10807938 w 12192417"/>
              <a:gd name="connsiteY40" fmla="*/ 236809 h 5095933"/>
              <a:gd name="connsiteX41" fmla="*/ 11084689 w 12192417"/>
              <a:gd name="connsiteY41" fmla="*/ 194772 h 5095933"/>
              <a:gd name="connsiteX42" fmla="*/ 11362660 w 12192417"/>
              <a:gd name="connsiteY42" fmla="*/ 153085 h 5095933"/>
              <a:gd name="connsiteX43" fmla="*/ 11639411 w 12192417"/>
              <a:gd name="connsiteY43" fmla="*/ 104392 h 5095933"/>
              <a:gd name="connsiteX44" fmla="*/ 11914944 w 12192417"/>
              <a:gd name="connsiteY44" fmla="*/ 54648 h 5095933"/>
              <a:gd name="connsiteX45" fmla="*/ 12191695 w 12192417"/>
              <a:gd name="connsiteY45" fmla="*/ 2452 h 5095933"/>
              <a:gd name="connsiteX46" fmla="*/ 12191695 w 12192417"/>
              <a:gd name="connsiteY46" fmla="*/ 2162231 h 5095933"/>
              <a:gd name="connsiteX47" fmla="*/ 12192417 w 12192417"/>
              <a:gd name="connsiteY47" fmla="*/ 2162231 h 5095933"/>
              <a:gd name="connsiteX48" fmla="*/ 12192417 w 12192417"/>
              <a:gd name="connsiteY48" fmla="*/ 5095933 h 5095933"/>
              <a:gd name="connsiteX49" fmla="*/ 0 w 12192417"/>
              <a:gd name="connsiteY49" fmla="*/ 5095933 h 5095933"/>
              <a:gd name="connsiteX50" fmla="*/ 0 w 12192417"/>
              <a:gd name="connsiteY50" fmla="*/ 2791958 h 5095933"/>
              <a:gd name="connsiteX51" fmla="*/ 0 w 12192417"/>
              <a:gd name="connsiteY51" fmla="*/ 2162231 h 50959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12192417" h="5095933">
                <a:moveTo>
                  <a:pt x="0" y="0"/>
                </a:moveTo>
                <a:lnTo>
                  <a:pt x="71931" y="12261"/>
                </a:lnTo>
                <a:lnTo>
                  <a:pt x="282848" y="48343"/>
                </a:lnTo>
                <a:lnTo>
                  <a:pt x="436463" y="73565"/>
                </a:lnTo>
                <a:lnTo>
                  <a:pt x="619338" y="100188"/>
                </a:lnTo>
                <a:lnTo>
                  <a:pt x="836350" y="132066"/>
                </a:lnTo>
                <a:lnTo>
                  <a:pt x="1076527" y="165696"/>
                </a:lnTo>
                <a:lnTo>
                  <a:pt x="1347183" y="201077"/>
                </a:lnTo>
                <a:lnTo>
                  <a:pt x="1642222" y="238560"/>
                </a:lnTo>
                <a:lnTo>
                  <a:pt x="1962863" y="276043"/>
                </a:lnTo>
                <a:lnTo>
                  <a:pt x="2304231" y="314227"/>
                </a:lnTo>
                <a:lnTo>
                  <a:pt x="2672420" y="349608"/>
                </a:lnTo>
                <a:lnTo>
                  <a:pt x="3057677" y="383588"/>
                </a:lnTo>
                <a:lnTo>
                  <a:pt x="3464880" y="414415"/>
                </a:lnTo>
                <a:lnTo>
                  <a:pt x="3889151" y="443841"/>
                </a:lnTo>
                <a:lnTo>
                  <a:pt x="4331709" y="471515"/>
                </a:lnTo>
                <a:lnTo>
                  <a:pt x="4558475" y="481324"/>
                </a:lnTo>
                <a:lnTo>
                  <a:pt x="4790117" y="492183"/>
                </a:lnTo>
                <a:lnTo>
                  <a:pt x="5025417" y="502342"/>
                </a:lnTo>
                <a:lnTo>
                  <a:pt x="5261936" y="508998"/>
                </a:lnTo>
                <a:lnTo>
                  <a:pt x="5503331" y="514953"/>
                </a:lnTo>
                <a:lnTo>
                  <a:pt x="5747166" y="521259"/>
                </a:lnTo>
                <a:lnTo>
                  <a:pt x="5995876" y="525463"/>
                </a:lnTo>
                <a:lnTo>
                  <a:pt x="6247025" y="525463"/>
                </a:lnTo>
                <a:lnTo>
                  <a:pt x="6500612" y="527565"/>
                </a:lnTo>
                <a:lnTo>
                  <a:pt x="6756638" y="525463"/>
                </a:lnTo>
                <a:lnTo>
                  <a:pt x="7016321" y="521259"/>
                </a:lnTo>
                <a:lnTo>
                  <a:pt x="7276004" y="517406"/>
                </a:lnTo>
                <a:lnTo>
                  <a:pt x="7539344" y="508998"/>
                </a:lnTo>
                <a:lnTo>
                  <a:pt x="7805123" y="500241"/>
                </a:lnTo>
                <a:lnTo>
                  <a:pt x="8070902" y="490082"/>
                </a:lnTo>
                <a:lnTo>
                  <a:pt x="8339120" y="475719"/>
                </a:lnTo>
                <a:lnTo>
                  <a:pt x="8609775" y="458554"/>
                </a:lnTo>
                <a:lnTo>
                  <a:pt x="8881650" y="442089"/>
                </a:lnTo>
                <a:lnTo>
                  <a:pt x="9153525" y="421071"/>
                </a:lnTo>
                <a:lnTo>
                  <a:pt x="9429057" y="395849"/>
                </a:lnTo>
                <a:lnTo>
                  <a:pt x="9700932" y="370626"/>
                </a:lnTo>
                <a:lnTo>
                  <a:pt x="9977683" y="341551"/>
                </a:lnTo>
                <a:lnTo>
                  <a:pt x="10255654" y="309673"/>
                </a:lnTo>
                <a:lnTo>
                  <a:pt x="10529967" y="276043"/>
                </a:lnTo>
                <a:lnTo>
                  <a:pt x="10807938" y="236809"/>
                </a:lnTo>
                <a:lnTo>
                  <a:pt x="11084689" y="194772"/>
                </a:lnTo>
                <a:lnTo>
                  <a:pt x="11362660" y="153085"/>
                </a:lnTo>
                <a:lnTo>
                  <a:pt x="11639411" y="104392"/>
                </a:lnTo>
                <a:lnTo>
                  <a:pt x="11914944" y="54648"/>
                </a:lnTo>
                <a:lnTo>
                  <a:pt x="12191695" y="2452"/>
                </a:lnTo>
                <a:lnTo>
                  <a:pt x="12191695" y="2162231"/>
                </a:lnTo>
                <a:lnTo>
                  <a:pt x="12192417" y="2162231"/>
                </a:lnTo>
                <a:lnTo>
                  <a:pt x="12192417" y="5095933"/>
                </a:lnTo>
                <a:lnTo>
                  <a:pt x="0" y="5095933"/>
                </a:lnTo>
                <a:lnTo>
                  <a:pt x="0" y="2791958"/>
                </a:lnTo>
                <a:lnTo>
                  <a:pt x="0" y="2162231"/>
                </a:lnTo>
                <a:close/>
              </a:path>
            </a:pathLst>
          </a:custGeom>
          <a:ln>
            <a:noFill/>
          </a:ln>
        </p:spPr>
        <p:txBody>
          <a:bodyPr/>
          <a:lstStyle/>
          <a:p>
            <a:endParaRPr lang="en-CA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A78D4D4-A51C-04FF-92AF-ABA74B81CF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03312" y="452718"/>
            <a:ext cx="8947522" cy="1400530"/>
          </a:xfrm>
        </p:spPr>
        <p:txBody>
          <a:bodyPr anchor="ctr">
            <a:normAutofit/>
          </a:bodyPr>
          <a:lstStyle/>
          <a:p>
            <a:r>
              <a:rPr lang="en-CA" sz="4000" dirty="0">
                <a:solidFill>
                  <a:srgbClr val="FFFFFF"/>
                </a:solidFill>
              </a:rPr>
              <a:t>Lead Time vs Customer Satisfaction </a:t>
            </a:r>
          </a:p>
        </p:txBody>
      </p:sp>
      <p:sp>
        <p:nvSpPr>
          <p:cNvPr id="16" name="Content Placeholder 15">
            <a:extLst>
              <a:ext uri="{FF2B5EF4-FFF2-40B4-BE49-F238E27FC236}">
                <a16:creationId xmlns:a16="http://schemas.microsoft.com/office/drawing/2014/main" id="{6820BB59-EF11-B0CF-2CD6-DBDA31F899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88341" y="3094697"/>
            <a:ext cx="4063195" cy="2430672"/>
          </a:xfrm>
        </p:spPr>
        <p:txBody>
          <a:bodyPr>
            <a:normAutofit/>
          </a:bodyPr>
          <a:lstStyle/>
          <a:p>
            <a:pPr>
              <a:buClr>
                <a:srgbClr val="34343F"/>
              </a:buClr>
            </a:pPr>
            <a:r>
              <a:rPr lang="en-US" dirty="0">
                <a:solidFill>
                  <a:srgbClr val="34343F"/>
                </a:solidFill>
              </a:rPr>
              <a:t>0.5, 0.9, 37.1 days all represent lead time within the 5.0 star rating group</a:t>
            </a:r>
          </a:p>
          <a:p>
            <a:pPr>
              <a:buClr>
                <a:srgbClr val="34343F"/>
              </a:buClr>
            </a:pPr>
            <a:r>
              <a:rPr lang="en-US" dirty="0"/>
              <a:t>Therefore, there is no direct correlation between lead time and customer satisfaction</a:t>
            </a:r>
          </a:p>
          <a:p>
            <a:pPr>
              <a:buClr>
                <a:srgbClr val="34343F"/>
              </a:buClr>
            </a:pPr>
            <a:endParaRPr lang="en-CA" dirty="0">
              <a:solidFill>
                <a:srgbClr val="34343F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D9C4A5E-32D4-148B-7A47-DB0A677E844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2894" y="2537434"/>
            <a:ext cx="5517680" cy="36396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795481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45BB4BD-999E-A745-AFBF-FD505AE87F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4EE03FA3-F9EC-B811-5036-49EEC8792A9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A083223-6D1C-6B1D-1A51-1AFAC01ADD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CA"/>
          </a:p>
        </p:txBody>
      </p:sp>
      <p:sp>
        <p:nvSpPr>
          <p:cNvPr id="12" name="Freeform 7">
            <a:extLst>
              <a:ext uri="{FF2B5EF4-FFF2-40B4-BE49-F238E27FC236}">
                <a16:creationId xmlns:a16="http://schemas.microsoft.com/office/drawing/2014/main" id="{2789C6F9-E377-E54B-F795-3FD0D71F19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719939" y="1460230"/>
            <a:ext cx="3472060" cy="825932"/>
          </a:xfrm>
          <a:custGeom>
            <a:avLst/>
            <a:gdLst>
              <a:gd name="connsiteX0" fmla="*/ 3470310 w 3472060"/>
              <a:gd name="connsiteY0" fmla="*/ 0 h 825932"/>
              <a:gd name="connsiteX1" fmla="*/ 3472060 w 3472060"/>
              <a:gd name="connsiteY1" fmla="*/ 12850 h 825932"/>
              <a:gd name="connsiteX2" fmla="*/ 3472060 w 3472060"/>
              <a:gd name="connsiteY2" fmla="*/ 480529 h 825932"/>
              <a:gd name="connsiteX3" fmla="*/ 3363699 w 3472060"/>
              <a:gd name="connsiteY3" fmla="*/ 498471 h 825932"/>
              <a:gd name="connsiteX4" fmla="*/ 42060 w 3472060"/>
              <a:gd name="connsiteY4" fmla="*/ 824486 h 825932"/>
              <a:gd name="connsiteX5" fmla="*/ 0 w 3472060"/>
              <a:gd name="connsiteY5" fmla="*/ 758452 h 825932"/>
              <a:gd name="connsiteX6" fmla="*/ 188014 w 3472060"/>
              <a:gd name="connsiteY6" fmla="*/ 735602 h 825932"/>
              <a:gd name="connsiteX7" fmla="*/ 284087 w 3472060"/>
              <a:gd name="connsiteY7" fmla="*/ 722590 h 825932"/>
              <a:gd name="connsiteX8" fmla="*/ 382288 w 3472060"/>
              <a:gd name="connsiteY8" fmla="*/ 709392 h 825932"/>
              <a:gd name="connsiteX9" fmla="*/ 481858 w 3472060"/>
              <a:gd name="connsiteY9" fmla="*/ 695774 h 825932"/>
              <a:gd name="connsiteX10" fmla="*/ 581897 w 3472060"/>
              <a:gd name="connsiteY10" fmla="*/ 680711 h 825932"/>
              <a:gd name="connsiteX11" fmla="*/ 683670 w 3472060"/>
              <a:gd name="connsiteY11" fmla="*/ 665256 h 825932"/>
              <a:gd name="connsiteX12" fmla="*/ 787206 w 3472060"/>
              <a:gd name="connsiteY12" fmla="*/ 649587 h 825932"/>
              <a:gd name="connsiteX13" fmla="*/ 892019 w 3472060"/>
              <a:gd name="connsiteY13" fmla="*/ 632968 h 825932"/>
              <a:gd name="connsiteX14" fmla="*/ 997620 w 3472060"/>
              <a:gd name="connsiteY14" fmla="*/ 614667 h 825932"/>
              <a:gd name="connsiteX15" fmla="*/ 1104727 w 3472060"/>
              <a:gd name="connsiteY15" fmla="*/ 596741 h 825932"/>
              <a:gd name="connsiteX16" fmla="*/ 1212669 w 3472060"/>
              <a:gd name="connsiteY16" fmla="*/ 577397 h 825932"/>
              <a:gd name="connsiteX17" fmla="*/ 1321506 w 3472060"/>
              <a:gd name="connsiteY17" fmla="*/ 556988 h 825932"/>
              <a:gd name="connsiteX18" fmla="*/ 1430709 w 3472060"/>
              <a:gd name="connsiteY18" fmla="*/ 536607 h 825932"/>
              <a:gd name="connsiteX19" fmla="*/ 1541050 w 3472060"/>
              <a:gd name="connsiteY19" fmla="*/ 514481 h 825932"/>
              <a:gd name="connsiteX20" fmla="*/ 1652805 w 3472060"/>
              <a:gd name="connsiteY20" fmla="*/ 492202 h 825932"/>
              <a:gd name="connsiteX21" fmla="*/ 1763708 w 3472060"/>
              <a:gd name="connsiteY21" fmla="*/ 469161 h 825932"/>
              <a:gd name="connsiteX22" fmla="*/ 1875795 w 3472060"/>
              <a:gd name="connsiteY22" fmla="*/ 444641 h 825932"/>
              <a:gd name="connsiteX23" fmla="*/ 1989128 w 3472060"/>
              <a:gd name="connsiteY23" fmla="*/ 418995 h 825932"/>
              <a:gd name="connsiteX24" fmla="*/ 2102476 w 3472060"/>
              <a:gd name="connsiteY24" fmla="*/ 393438 h 825932"/>
              <a:gd name="connsiteX25" fmla="*/ 2215549 w 3472060"/>
              <a:gd name="connsiteY25" fmla="*/ 366291 h 825932"/>
              <a:gd name="connsiteX26" fmla="*/ 2330490 w 3472060"/>
              <a:gd name="connsiteY26" fmla="*/ 337455 h 825932"/>
              <a:gd name="connsiteX27" fmla="*/ 2443333 w 3472060"/>
              <a:gd name="connsiteY27" fmla="*/ 308983 h 825932"/>
              <a:gd name="connsiteX28" fmla="*/ 2558014 w 3472060"/>
              <a:gd name="connsiteY28" fmla="*/ 278646 h 825932"/>
              <a:gd name="connsiteX29" fmla="*/ 2673621 w 3472060"/>
              <a:gd name="connsiteY29" fmla="*/ 247421 h 825932"/>
              <a:gd name="connsiteX30" fmla="*/ 2787008 w 3472060"/>
              <a:gd name="connsiteY30" fmla="*/ 215853 h 825932"/>
              <a:gd name="connsiteX31" fmla="*/ 2901442 w 3472060"/>
              <a:gd name="connsiteY31" fmla="*/ 182011 h 825932"/>
              <a:gd name="connsiteX32" fmla="*/ 3015722 w 3472060"/>
              <a:gd name="connsiteY32" fmla="*/ 147286 h 825932"/>
              <a:gd name="connsiteX33" fmla="*/ 3130018 w 3472060"/>
              <a:gd name="connsiteY33" fmla="*/ 112649 h 825932"/>
              <a:gd name="connsiteX34" fmla="*/ 3243551 w 3472060"/>
              <a:gd name="connsiteY34" fmla="*/ 75688 h 825932"/>
              <a:gd name="connsiteX35" fmla="*/ 3356992 w 3472060"/>
              <a:gd name="connsiteY35" fmla="*/ 38197 h 825932"/>
              <a:gd name="connsiteX36" fmla="*/ 3470310 w 3472060"/>
              <a:gd name="connsiteY36" fmla="*/ 0 h 8259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</a:cxnLst>
            <a:rect l="l" t="t" r="r" b="b"/>
            <a:pathLst>
              <a:path w="3472060" h="825932">
                <a:moveTo>
                  <a:pt x="3470310" y="0"/>
                </a:moveTo>
                <a:lnTo>
                  <a:pt x="3472060" y="12850"/>
                </a:lnTo>
                <a:lnTo>
                  <a:pt x="3472060" y="480529"/>
                </a:lnTo>
                <a:lnTo>
                  <a:pt x="3363699" y="498471"/>
                </a:lnTo>
                <a:cubicBezTo>
                  <a:pt x="2435623" y="645518"/>
                  <a:pt x="603076" y="844866"/>
                  <a:pt x="42060" y="824486"/>
                </a:cubicBezTo>
                <a:cubicBezTo>
                  <a:pt x="28151" y="802425"/>
                  <a:pt x="13909" y="780513"/>
                  <a:pt x="0" y="758452"/>
                </a:cubicBezTo>
                <a:lnTo>
                  <a:pt x="188014" y="735602"/>
                </a:lnTo>
                <a:lnTo>
                  <a:pt x="284087" y="722590"/>
                </a:lnTo>
                <a:lnTo>
                  <a:pt x="382288" y="709392"/>
                </a:lnTo>
                <a:lnTo>
                  <a:pt x="481858" y="695774"/>
                </a:lnTo>
                <a:lnTo>
                  <a:pt x="581897" y="680711"/>
                </a:lnTo>
                <a:lnTo>
                  <a:pt x="683670" y="665256"/>
                </a:lnTo>
                <a:lnTo>
                  <a:pt x="787206" y="649587"/>
                </a:lnTo>
                <a:lnTo>
                  <a:pt x="892019" y="632968"/>
                </a:lnTo>
                <a:lnTo>
                  <a:pt x="997620" y="614667"/>
                </a:lnTo>
                <a:lnTo>
                  <a:pt x="1104727" y="596741"/>
                </a:lnTo>
                <a:lnTo>
                  <a:pt x="1212669" y="577397"/>
                </a:lnTo>
                <a:lnTo>
                  <a:pt x="1321506" y="556988"/>
                </a:lnTo>
                <a:lnTo>
                  <a:pt x="1430709" y="536607"/>
                </a:lnTo>
                <a:lnTo>
                  <a:pt x="1541050" y="514481"/>
                </a:lnTo>
                <a:lnTo>
                  <a:pt x="1652805" y="492202"/>
                </a:lnTo>
                <a:lnTo>
                  <a:pt x="1763708" y="469161"/>
                </a:lnTo>
                <a:lnTo>
                  <a:pt x="1875795" y="444641"/>
                </a:lnTo>
                <a:lnTo>
                  <a:pt x="1989128" y="418995"/>
                </a:lnTo>
                <a:lnTo>
                  <a:pt x="2102476" y="393438"/>
                </a:lnTo>
                <a:lnTo>
                  <a:pt x="2215549" y="366291"/>
                </a:lnTo>
                <a:lnTo>
                  <a:pt x="2330490" y="337455"/>
                </a:lnTo>
                <a:lnTo>
                  <a:pt x="2443333" y="308983"/>
                </a:lnTo>
                <a:lnTo>
                  <a:pt x="2558014" y="278646"/>
                </a:lnTo>
                <a:lnTo>
                  <a:pt x="2673621" y="247421"/>
                </a:lnTo>
                <a:lnTo>
                  <a:pt x="2787008" y="215853"/>
                </a:lnTo>
                <a:lnTo>
                  <a:pt x="2901442" y="182011"/>
                </a:lnTo>
                <a:lnTo>
                  <a:pt x="3015722" y="147286"/>
                </a:lnTo>
                <a:lnTo>
                  <a:pt x="3130018" y="112649"/>
                </a:lnTo>
                <a:lnTo>
                  <a:pt x="3243551" y="75688"/>
                </a:lnTo>
                <a:lnTo>
                  <a:pt x="3356992" y="38197"/>
                </a:lnTo>
                <a:lnTo>
                  <a:pt x="3470310" y="0"/>
                </a:lnTo>
                <a:close/>
              </a:path>
            </a:pathLst>
          </a:custGeom>
          <a:solidFill>
            <a:schemeClr val="bg1"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 useBgFill="1">
        <p:nvSpPr>
          <p:cNvPr id="14" name="Freeform: Shape 13">
            <a:extLst>
              <a:ext uri="{FF2B5EF4-FFF2-40B4-BE49-F238E27FC236}">
                <a16:creationId xmlns:a16="http://schemas.microsoft.com/office/drawing/2014/main" id="{FC6D91EB-B8A6-7A4C-8F40-E2D48FB678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>
            <a:off x="1" y="1762067"/>
            <a:ext cx="12192417" cy="5095933"/>
          </a:xfrm>
          <a:custGeom>
            <a:avLst/>
            <a:gdLst>
              <a:gd name="connsiteX0" fmla="*/ 0 w 12192417"/>
              <a:gd name="connsiteY0" fmla="*/ 0 h 5095933"/>
              <a:gd name="connsiteX1" fmla="*/ 71931 w 12192417"/>
              <a:gd name="connsiteY1" fmla="*/ 12261 h 5095933"/>
              <a:gd name="connsiteX2" fmla="*/ 282848 w 12192417"/>
              <a:gd name="connsiteY2" fmla="*/ 48343 h 5095933"/>
              <a:gd name="connsiteX3" fmla="*/ 436463 w 12192417"/>
              <a:gd name="connsiteY3" fmla="*/ 73565 h 5095933"/>
              <a:gd name="connsiteX4" fmla="*/ 619338 w 12192417"/>
              <a:gd name="connsiteY4" fmla="*/ 100188 h 5095933"/>
              <a:gd name="connsiteX5" fmla="*/ 836350 w 12192417"/>
              <a:gd name="connsiteY5" fmla="*/ 132066 h 5095933"/>
              <a:gd name="connsiteX6" fmla="*/ 1076527 w 12192417"/>
              <a:gd name="connsiteY6" fmla="*/ 165696 h 5095933"/>
              <a:gd name="connsiteX7" fmla="*/ 1347183 w 12192417"/>
              <a:gd name="connsiteY7" fmla="*/ 201077 h 5095933"/>
              <a:gd name="connsiteX8" fmla="*/ 1642222 w 12192417"/>
              <a:gd name="connsiteY8" fmla="*/ 238560 h 5095933"/>
              <a:gd name="connsiteX9" fmla="*/ 1962863 w 12192417"/>
              <a:gd name="connsiteY9" fmla="*/ 276043 h 5095933"/>
              <a:gd name="connsiteX10" fmla="*/ 2304231 w 12192417"/>
              <a:gd name="connsiteY10" fmla="*/ 314227 h 5095933"/>
              <a:gd name="connsiteX11" fmla="*/ 2672420 w 12192417"/>
              <a:gd name="connsiteY11" fmla="*/ 349608 h 5095933"/>
              <a:gd name="connsiteX12" fmla="*/ 3057677 w 12192417"/>
              <a:gd name="connsiteY12" fmla="*/ 383588 h 5095933"/>
              <a:gd name="connsiteX13" fmla="*/ 3464880 w 12192417"/>
              <a:gd name="connsiteY13" fmla="*/ 414415 h 5095933"/>
              <a:gd name="connsiteX14" fmla="*/ 3889151 w 12192417"/>
              <a:gd name="connsiteY14" fmla="*/ 443841 h 5095933"/>
              <a:gd name="connsiteX15" fmla="*/ 4331709 w 12192417"/>
              <a:gd name="connsiteY15" fmla="*/ 471515 h 5095933"/>
              <a:gd name="connsiteX16" fmla="*/ 4558475 w 12192417"/>
              <a:gd name="connsiteY16" fmla="*/ 481324 h 5095933"/>
              <a:gd name="connsiteX17" fmla="*/ 4790117 w 12192417"/>
              <a:gd name="connsiteY17" fmla="*/ 492183 h 5095933"/>
              <a:gd name="connsiteX18" fmla="*/ 5025417 w 12192417"/>
              <a:gd name="connsiteY18" fmla="*/ 502342 h 5095933"/>
              <a:gd name="connsiteX19" fmla="*/ 5261936 w 12192417"/>
              <a:gd name="connsiteY19" fmla="*/ 508998 h 5095933"/>
              <a:gd name="connsiteX20" fmla="*/ 5503331 w 12192417"/>
              <a:gd name="connsiteY20" fmla="*/ 514953 h 5095933"/>
              <a:gd name="connsiteX21" fmla="*/ 5747166 w 12192417"/>
              <a:gd name="connsiteY21" fmla="*/ 521259 h 5095933"/>
              <a:gd name="connsiteX22" fmla="*/ 5995876 w 12192417"/>
              <a:gd name="connsiteY22" fmla="*/ 525463 h 5095933"/>
              <a:gd name="connsiteX23" fmla="*/ 6247025 w 12192417"/>
              <a:gd name="connsiteY23" fmla="*/ 525463 h 5095933"/>
              <a:gd name="connsiteX24" fmla="*/ 6500612 w 12192417"/>
              <a:gd name="connsiteY24" fmla="*/ 527565 h 5095933"/>
              <a:gd name="connsiteX25" fmla="*/ 6756638 w 12192417"/>
              <a:gd name="connsiteY25" fmla="*/ 525463 h 5095933"/>
              <a:gd name="connsiteX26" fmla="*/ 7016321 w 12192417"/>
              <a:gd name="connsiteY26" fmla="*/ 521259 h 5095933"/>
              <a:gd name="connsiteX27" fmla="*/ 7276004 w 12192417"/>
              <a:gd name="connsiteY27" fmla="*/ 517406 h 5095933"/>
              <a:gd name="connsiteX28" fmla="*/ 7539344 w 12192417"/>
              <a:gd name="connsiteY28" fmla="*/ 508998 h 5095933"/>
              <a:gd name="connsiteX29" fmla="*/ 7805123 w 12192417"/>
              <a:gd name="connsiteY29" fmla="*/ 500241 h 5095933"/>
              <a:gd name="connsiteX30" fmla="*/ 8070902 w 12192417"/>
              <a:gd name="connsiteY30" fmla="*/ 490082 h 5095933"/>
              <a:gd name="connsiteX31" fmla="*/ 8339120 w 12192417"/>
              <a:gd name="connsiteY31" fmla="*/ 475719 h 5095933"/>
              <a:gd name="connsiteX32" fmla="*/ 8609775 w 12192417"/>
              <a:gd name="connsiteY32" fmla="*/ 458554 h 5095933"/>
              <a:gd name="connsiteX33" fmla="*/ 8881650 w 12192417"/>
              <a:gd name="connsiteY33" fmla="*/ 442089 h 5095933"/>
              <a:gd name="connsiteX34" fmla="*/ 9153525 w 12192417"/>
              <a:gd name="connsiteY34" fmla="*/ 421071 h 5095933"/>
              <a:gd name="connsiteX35" fmla="*/ 9429057 w 12192417"/>
              <a:gd name="connsiteY35" fmla="*/ 395849 h 5095933"/>
              <a:gd name="connsiteX36" fmla="*/ 9700932 w 12192417"/>
              <a:gd name="connsiteY36" fmla="*/ 370626 h 5095933"/>
              <a:gd name="connsiteX37" fmla="*/ 9977683 w 12192417"/>
              <a:gd name="connsiteY37" fmla="*/ 341551 h 5095933"/>
              <a:gd name="connsiteX38" fmla="*/ 10255654 w 12192417"/>
              <a:gd name="connsiteY38" fmla="*/ 309673 h 5095933"/>
              <a:gd name="connsiteX39" fmla="*/ 10529967 w 12192417"/>
              <a:gd name="connsiteY39" fmla="*/ 276043 h 5095933"/>
              <a:gd name="connsiteX40" fmla="*/ 10807938 w 12192417"/>
              <a:gd name="connsiteY40" fmla="*/ 236809 h 5095933"/>
              <a:gd name="connsiteX41" fmla="*/ 11084689 w 12192417"/>
              <a:gd name="connsiteY41" fmla="*/ 194772 h 5095933"/>
              <a:gd name="connsiteX42" fmla="*/ 11362660 w 12192417"/>
              <a:gd name="connsiteY42" fmla="*/ 153085 h 5095933"/>
              <a:gd name="connsiteX43" fmla="*/ 11639411 w 12192417"/>
              <a:gd name="connsiteY43" fmla="*/ 104392 h 5095933"/>
              <a:gd name="connsiteX44" fmla="*/ 11914944 w 12192417"/>
              <a:gd name="connsiteY44" fmla="*/ 54648 h 5095933"/>
              <a:gd name="connsiteX45" fmla="*/ 12191695 w 12192417"/>
              <a:gd name="connsiteY45" fmla="*/ 2452 h 5095933"/>
              <a:gd name="connsiteX46" fmla="*/ 12191695 w 12192417"/>
              <a:gd name="connsiteY46" fmla="*/ 2162231 h 5095933"/>
              <a:gd name="connsiteX47" fmla="*/ 12192417 w 12192417"/>
              <a:gd name="connsiteY47" fmla="*/ 2162231 h 5095933"/>
              <a:gd name="connsiteX48" fmla="*/ 12192417 w 12192417"/>
              <a:gd name="connsiteY48" fmla="*/ 5095933 h 5095933"/>
              <a:gd name="connsiteX49" fmla="*/ 0 w 12192417"/>
              <a:gd name="connsiteY49" fmla="*/ 5095933 h 5095933"/>
              <a:gd name="connsiteX50" fmla="*/ 0 w 12192417"/>
              <a:gd name="connsiteY50" fmla="*/ 2791958 h 5095933"/>
              <a:gd name="connsiteX51" fmla="*/ 0 w 12192417"/>
              <a:gd name="connsiteY51" fmla="*/ 2162231 h 50959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12192417" h="5095933">
                <a:moveTo>
                  <a:pt x="0" y="0"/>
                </a:moveTo>
                <a:lnTo>
                  <a:pt x="71931" y="12261"/>
                </a:lnTo>
                <a:lnTo>
                  <a:pt x="282848" y="48343"/>
                </a:lnTo>
                <a:lnTo>
                  <a:pt x="436463" y="73565"/>
                </a:lnTo>
                <a:lnTo>
                  <a:pt x="619338" y="100188"/>
                </a:lnTo>
                <a:lnTo>
                  <a:pt x="836350" y="132066"/>
                </a:lnTo>
                <a:lnTo>
                  <a:pt x="1076527" y="165696"/>
                </a:lnTo>
                <a:lnTo>
                  <a:pt x="1347183" y="201077"/>
                </a:lnTo>
                <a:lnTo>
                  <a:pt x="1642222" y="238560"/>
                </a:lnTo>
                <a:lnTo>
                  <a:pt x="1962863" y="276043"/>
                </a:lnTo>
                <a:lnTo>
                  <a:pt x="2304231" y="314227"/>
                </a:lnTo>
                <a:lnTo>
                  <a:pt x="2672420" y="349608"/>
                </a:lnTo>
                <a:lnTo>
                  <a:pt x="3057677" y="383588"/>
                </a:lnTo>
                <a:lnTo>
                  <a:pt x="3464880" y="414415"/>
                </a:lnTo>
                <a:lnTo>
                  <a:pt x="3889151" y="443841"/>
                </a:lnTo>
                <a:lnTo>
                  <a:pt x="4331709" y="471515"/>
                </a:lnTo>
                <a:lnTo>
                  <a:pt x="4558475" y="481324"/>
                </a:lnTo>
                <a:lnTo>
                  <a:pt x="4790117" y="492183"/>
                </a:lnTo>
                <a:lnTo>
                  <a:pt x="5025417" y="502342"/>
                </a:lnTo>
                <a:lnTo>
                  <a:pt x="5261936" y="508998"/>
                </a:lnTo>
                <a:lnTo>
                  <a:pt x="5503331" y="514953"/>
                </a:lnTo>
                <a:lnTo>
                  <a:pt x="5747166" y="521259"/>
                </a:lnTo>
                <a:lnTo>
                  <a:pt x="5995876" y="525463"/>
                </a:lnTo>
                <a:lnTo>
                  <a:pt x="6247025" y="525463"/>
                </a:lnTo>
                <a:lnTo>
                  <a:pt x="6500612" y="527565"/>
                </a:lnTo>
                <a:lnTo>
                  <a:pt x="6756638" y="525463"/>
                </a:lnTo>
                <a:lnTo>
                  <a:pt x="7016321" y="521259"/>
                </a:lnTo>
                <a:lnTo>
                  <a:pt x="7276004" y="517406"/>
                </a:lnTo>
                <a:lnTo>
                  <a:pt x="7539344" y="508998"/>
                </a:lnTo>
                <a:lnTo>
                  <a:pt x="7805123" y="500241"/>
                </a:lnTo>
                <a:lnTo>
                  <a:pt x="8070902" y="490082"/>
                </a:lnTo>
                <a:lnTo>
                  <a:pt x="8339120" y="475719"/>
                </a:lnTo>
                <a:lnTo>
                  <a:pt x="8609775" y="458554"/>
                </a:lnTo>
                <a:lnTo>
                  <a:pt x="8881650" y="442089"/>
                </a:lnTo>
                <a:lnTo>
                  <a:pt x="9153525" y="421071"/>
                </a:lnTo>
                <a:lnTo>
                  <a:pt x="9429057" y="395849"/>
                </a:lnTo>
                <a:lnTo>
                  <a:pt x="9700932" y="370626"/>
                </a:lnTo>
                <a:lnTo>
                  <a:pt x="9977683" y="341551"/>
                </a:lnTo>
                <a:lnTo>
                  <a:pt x="10255654" y="309673"/>
                </a:lnTo>
                <a:lnTo>
                  <a:pt x="10529967" y="276043"/>
                </a:lnTo>
                <a:lnTo>
                  <a:pt x="10807938" y="236809"/>
                </a:lnTo>
                <a:lnTo>
                  <a:pt x="11084689" y="194772"/>
                </a:lnTo>
                <a:lnTo>
                  <a:pt x="11362660" y="153085"/>
                </a:lnTo>
                <a:lnTo>
                  <a:pt x="11639411" y="104392"/>
                </a:lnTo>
                <a:lnTo>
                  <a:pt x="11914944" y="54648"/>
                </a:lnTo>
                <a:lnTo>
                  <a:pt x="12191695" y="2452"/>
                </a:lnTo>
                <a:lnTo>
                  <a:pt x="12191695" y="2162231"/>
                </a:lnTo>
                <a:lnTo>
                  <a:pt x="12192417" y="2162231"/>
                </a:lnTo>
                <a:lnTo>
                  <a:pt x="12192417" y="5095933"/>
                </a:lnTo>
                <a:lnTo>
                  <a:pt x="0" y="5095933"/>
                </a:lnTo>
                <a:lnTo>
                  <a:pt x="0" y="2791958"/>
                </a:lnTo>
                <a:lnTo>
                  <a:pt x="0" y="2162231"/>
                </a:lnTo>
                <a:close/>
              </a:path>
            </a:pathLst>
          </a:custGeom>
          <a:ln>
            <a:noFill/>
          </a:ln>
        </p:spPr>
        <p:txBody>
          <a:bodyPr/>
          <a:lstStyle/>
          <a:p>
            <a:endParaRPr lang="en-CA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66949EE-48F9-BF4E-31DE-6D64E212E4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03312" y="452718"/>
            <a:ext cx="8947522" cy="1400530"/>
          </a:xfrm>
        </p:spPr>
        <p:txBody>
          <a:bodyPr anchor="ctr">
            <a:normAutofit/>
          </a:bodyPr>
          <a:lstStyle/>
          <a:p>
            <a:r>
              <a:rPr lang="en-CA" sz="3200" dirty="0">
                <a:solidFill>
                  <a:srgbClr val="FFFFFF"/>
                </a:solidFill>
              </a:rPr>
              <a:t>Late Order Percentages Within Top 5 States Based On Order Count Across Time</a:t>
            </a:r>
          </a:p>
        </p:txBody>
      </p:sp>
      <p:sp>
        <p:nvSpPr>
          <p:cNvPr id="16" name="Content Placeholder 15">
            <a:extLst>
              <a:ext uri="{FF2B5EF4-FFF2-40B4-BE49-F238E27FC236}">
                <a16:creationId xmlns:a16="http://schemas.microsoft.com/office/drawing/2014/main" id="{8874E9CA-85CD-407C-555A-379ABA0EEB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463159" y="2625632"/>
            <a:ext cx="2396609" cy="3779650"/>
          </a:xfrm>
        </p:spPr>
        <p:txBody>
          <a:bodyPr/>
          <a:lstStyle/>
          <a:p>
            <a:pPr>
              <a:buClr>
                <a:srgbClr val="34343F"/>
              </a:buClr>
            </a:pPr>
            <a:r>
              <a:rPr lang="en-US" dirty="0"/>
              <a:t>Late order percentages consistently spike during Q1 and Q4 across all years</a:t>
            </a:r>
          </a:p>
          <a:p>
            <a:pPr marL="0" indent="0">
              <a:buClr>
                <a:srgbClr val="34343F"/>
              </a:buClr>
              <a:buNone/>
            </a:pPr>
            <a:endParaRPr lang="en-CA" dirty="0">
              <a:solidFill>
                <a:srgbClr val="34343F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00B030C-19BB-0907-B532-AFA8ABF698C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8472" y="2625632"/>
            <a:ext cx="9044687" cy="3779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649707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74CD14DB-BB81-479F-A1FC-1C75640E9F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943A91B-7CA7-4592-A975-73B1BF8C4C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CA"/>
          </a:p>
        </p:txBody>
      </p:sp>
      <p:sp>
        <p:nvSpPr>
          <p:cNvPr id="12" name="Freeform 7">
            <a:extLst>
              <a:ext uri="{FF2B5EF4-FFF2-40B4-BE49-F238E27FC236}">
                <a16:creationId xmlns:a16="http://schemas.microsoft.com/office/drawing/2014/main" id="{EC471314-E46A-414B-8D91-74880E84F1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719939" y="1460230"/>
            <a:ext cx="3472060" cy="825932"/>
          </a:xfrm>
          <a:custGeom>
            <a:avLst/>
            <a:gdLst>
              <a:gd name="connsiteX0" fmla="*/ 3470310 w 3472060"/>
              <a:gd name="connsiteY0" fmla="*/ 0 h 825932"/>
              <a:gd name="connsiteX1" fmla="*/ 3472060 w 3472060"/>
              <a:gd name="connsiteY1" fmla="*/ 12850 h 825932"/>
              <a:gd name="connsiteX2" fmla="*/ 3472060 w 3472060"/>
              <a:gd name="connsiteY2" fmla="*/ 480529 h 825932"/>
              <a:gd name="connsiteX3" fmla="*/ 3363699 w 3472060"/>
              <a:gd name="connsiteY3" fmla="*/ 498471 h 825932"/>
              <a:gd name="connsiteX4" fmla="*/ 42060 w 3472060"/>
              <a:gd name="connsiteY4" fmla="*/ 824486 h 825932"/>
              <a:gd name="connsiteX5" fmla="*/ 0 w 3472060"/>
              <a:gd name="connsiteY5" fmla="*/ 758452 h 825932"/>
              <a:gd name="connsiteX6" fmla="*/ 188014 w 3472060"/>
              <a:gd name="connsiteY6" fmla="*/ 735602 h 825932"/>
              <a:gd name="connsiteX7" fmla="*/ 284087 w 3472060"/>
              <a:gd name="connsiteY7" fmla="*/ 722590 h 825932"/>
              <a:gd name="connsiteX8" fmla="*/ 382288 w 3472060"/>
              <a:gd name="connsiteY8" fmla="*/ 709392 h 825932"/>
              <a:gd name="connsiteX9" fmla="*/ 481858 w 3472060"/>
              <a:gd name="connsiteY9" fmla="*/ 695774 h 825932"/>
              <a:gd name="connsiteX10" fmla="*/ 581897 w 3472060"/>
              <a:gd name="connsiteY10" fmla="*/ 680711 h 825932"/>
              <a:gd name="connsiteX11" fmla="*/ 683670 w 3472060"/>
              <a:gd name="connsiteY11" fmla="*/ 665256 h 825932"/>
              <a:gd name="connsiteX12" fmla="*/ 787206 w 3472060"/>
              <a:gd name="connsiteY12" fmla="*/ 649587 h 825932"/>
              <a:gd name="connsiteX13" fmla="*/ 892019 w 3472060"/>
              <a:gd name="connsiteY13" fmla="*/ 632968 h 825932"/>
              <a:gd name="connsiteX14" fmla="*/ 997620 w 3472060"/>
              <a:gd name="connsiteY14" fmla="*/ 614667 h 825932"/>
              <a:gd name="connsiteX15" fmla="*/ 1104727 w 3472060"/>
              <a:gd name="connsiteY15" fmla="*/ 596741 h 825932"/>
              <a:gd name="connsiteX16" fmla="*/ 1212669 w 3472060"/>
              <a:gd name="connsiteY16" fmla="*/ 577397 h 825932"/>
              <a:gd name="connsiteX17" fmla="*/ 1321506 w 3472060"/>
              <a:gd name="connsiteY17" fmla="*/ 556988 h 825932"/>
              <a:gd name="connsiteX18" fmla="*/ 1430709 w 3472060"/>
              <a:gd name="connsiteY18" fmla="*/ 536607 h 825932"/>
              <a:gd name="connsiteX19" fmla="*/ 1541050 w 3472060"/>
              <a:gd name="connsiteY19" fmla="*/ 514481 h 825932"/>
              <a:gd name="connsiteX20" fmla="*/ 1652805 w 3472060"/>
              <a:gd name="connsiteY20" fmla="*/ 492202 h 825932"/>
              <a:gd name="connsiteX21" fmla="*/ 1763708 w 3472060"/>
              <a:gd name="connsiteY21" fmla="*/ 469161 h 825932"/>
              <a:gd name="connsiteX22" fmla="*/ 1875795 w 3472060"/>
              <a:gd name="connsiteY22" fmla="*/ 444641 h 825932"/>
              <a:gd name="connsiteX23" fmla="*/ 1989128 w 3472060"/>
              <a:gd name="connsiteY23" fmla="*/ 418995 h 825932"/>
              <a:gd name="connsiteX24" fmla="*/ 2102476 w 3472060"/>
              <a:gd name="connsiteY24" fmla="*/ 393438 h 825932"/>
              <a:gd name="connsiteX25" fmla="*/ 2215549 w 3472060"/>
              <a:gd name="connsiteY25" fmla="*/ 366291 h 825932"/>
              <a:gd name="connsiteX26" fmla="*/ 2330490 w 3472060"/>
              <a:gd name="connsiteY26" fmla="*/ 337455 h 825932"/>
              <a:gd name="connsiteX27" fmla="*/ 2443333 w 3472060"/>
              <a:gd name="connsiteY27" fmla="*/ 308983 h 825932"/>
              <a:gd name="connsiteX28" fmla="*/ 2558014 w 3472060"/>
              <a:gd name="connsiteY28" fmla="*/ 278646 h 825932"/>
              <a:gd name="connsiteX29" fmla="*/ 2673621 w 3472060"/>
              <a:gd name="connsiteY29" fmla="*/ 247421 h 825932"/>
              <a:gd name="connsiteX30" fmla="*/ 2787008 w 3472060"/>
              <a:gd name="connsiteY30" fmla="*/ 215853 h 825932"/>
              <a:gd name="connsiteX31" fmla="*/ 2901442 w 3472060"/>
              <a:gd name="connsiteY31" fmla="*/ 182011 h 825932"/>
              <a:gd name="connsiteX32" fmla="*/ 3015722 w 3472060"/>
              <a:gd name="connsiteY32" fmla="*/ 147286 h 825932"/>
              <a:gd name="connsiteX33" fmla="*/ 3130018 w 3472060"/>
              <a:gd name="connsiteY33" fmla="*/ 112649 h 825932"/>
              <a:gd name="connsiteX34" fmla="*/ 3243551 w 3472060"/>
              <a:gd name="connsiteY34" fmla="*/ 75688 h 825932"/>
              <a:gd name="connsiteX35" fmla="*/ 3356992 w 3472060"/>
              <a:gd name="connsiteY35" fmla="*/ 38197 h 825932"/>
              <a:gd name="connsiteX36" fmla="*/ 3470310 w 3472060"/>
              <a:gd name="connsiteY36" fmla="*/ 0 h 8259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</a:cxnLst>
            <a:rect l="l" t="t" r="r" b="b"/>
            <a:pathLst>
              <a:path w="3472060" h="825932">
                <a:moveTo>
                  <a:pt x="3470310" y="0"/>
                </a:moveTo>
                <a:lnTo>
                  <a:pt x="3472060" y="12850"/>
                </a:lnTo>
                <a:lnTo>
                  <a:pt x="3472060" y="480529"/>
                </a:lnTo>
                <a:lnTo>
                  <a:pt x="3363699" y="498471"/>
                </a:lnTo>
                <a:cubicBezTo>
                  <a:pt x="2435623" y="645518"/>
                  <a:pt x="603076" y="844866"/>
                  <a:pt x="42060" y="824486"/>
                </a:cubicBezTo>
                <a:cubicBezTo>
                  <a:pt x="28151" y="802425"/>
                  <a:pt x="13909" y="780513"/>
                  <a:pt x="0" y="758452"/>
                </a:cubicBezTo>
                <a:lnTo>
                  <a:pt x="188014" y="735602"/>
                </a:lnTo>
                <a:lnTo>
                  <a:pt x="284087" y="722590"/>
                </a:lnTo>
                <a:lnTo>
                  <a:pt x="382288" y="709392"/>
                </a:lnTo>
                <a:lnTo>
                  <a:pt x="481858" y="695774"/>
                </a:lnTo>
                <a:lnTo>
                  <a:pt x="581897" y="680711"/>
                </a:lnTo>
                <a:lnTo>
                  <a:pt x="683670" y="665256"/>
                </a:lnTo>
                <a:lnTo>
                  <a:pt x="787206" y="649587"/>
                </a:lnTo>
                <a:lnTo>
                  <a:pt x="892019" y="632968"/>
                </a:lnTo>
                <a:lnTo>
                  <a:pt x="997620" y="614667"/>
                </a:lnTo>
                <a:lnTo>
                  <a:pt x="1104727" y="596741"/>
                </a:lnTo>
                <a:lnTo>
                  <a:pt x="1212669" y="577397"/>
                </a:lnTo>
                <a:lnTo>
                  <a:pt x="1321506" y="556988"/>
                </a:lnTo>
                <a:lnTo>
                  <a:pt x="1430709" y="536607"/>
                </a:lnTo>
                <a:lnTo>
                  <a:pt x="1541050" y="514481"/>
                </a:lnTo>
                <a:lnTo>
                  <a:pt x="1652805" y="492202"/>
                </a:lnTo>
                <a:lnTo>
                  <a:pt x="1763708" y="469161"/>
                </a:lnTo>
                <a:lnTo>
                  <a:pt x="1875795" y="444641"/>
                </a:lnTo>
                <a:lnTo>
                  <a:pt x="1989128" y="418995"/>
                </a:lnTo>
                <a:lnTo>
                  <a:pt x="2102476" y="393438"/>
                </a:lnTo>
                <a:lnTo>
                  <a:pt x="2215549" y="366291"/>
                </a:lnTo>
                <a:lnTo>
                  <a:pt x="2330490" y="337455"/>
                </a:lnTo>
                <a:lnTo>
                  <a:pt x="2443333" y="308983"/>
                </a:lnTo>
                <a:lnTo>
                  <a:pt x="2558014" y="278646"/>
                </a:lnTo>
                <a:lnTo>
                  <a:pt x="2673621" y="247421"/>
                </a:lnTo>
                <a:lnTo>
                  <a:pt x="2787008" y="215853"/>
                </a:lnTo>
                <a:lnTo>
                  <a:pt x="2901442" y="182011"/>
                </a:lnTo>
                <a:lnTo>
                  <a:pt x="3015722" y="147286"/>
                </a:lnTo>
                <a:lnTo>
                  <a:pt x="3130018" y="112649"/>
                </a:lnTo>
                <a:lnTo>
                  <a:pt x="3243551" y="75688"/>
                </a:lnTo>
                <a:lnTo>
                  <a:pt x="3356992" y="38197"/>
                </a:lnTo>
                <a:lnTo>
                  <a:pt x="3470310" y="0"/>
                </a:lnTo>
                <a:close/>
              </a:path>
            </a:pathLst>
          </a:custGeom>
          <a:solidFill>
            <a:schemeClr val="bg1"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 useBgFill="1">
        <p:nvSpPr>
          <p:cNvPr id="14" name="Freeform: Shape 13">
            <a:extLst>
              <a:ext uri="{FF2B5EF4-FFF2-40B4-BE49-F238E27FC236}">
                <a16:creationId xmlns:a16="http://schemas.microsoft.com/office/drawing/2014/main" id="{6A681326-1C9D-44A3-A627-3871BDAE41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>
            <a:off x="1" y="1762067"/>
            <a:ext cx="12192417" cy="5095933"/>
          </a:xfrm>
          <a:custGeom>
            <a:avLst/>
            <a:gdLst>
              <a:gd name="connsiteX0" fmla="*/ 0 w 12192417"/>
              <a:gd name="connsiteY0" fmla="*/ 0 h 5095933"/>
              <a:gd name="connsiteX1" fmla="*/ 71931 w 12192417"/>
              <a:gd name="connsiteY1" fmla="*/ 12261 h 5095933"/>
              <a:gd name="connsiteX2" fmla="*/ 282848 w 12192417"/>
              <a:gd name="connsiteY2" fmla="*/ 48343 h 5095933"/>
              <a:gd name="connsiteX3" fmla="*/ 436463 w 12192417"/>
              <a:gd name="connsiteY3" fmla="*/ 73565 h 5095933"/>
              <a:gd name="connsiteX4" fmla="*/ 619338 w 12192417"/>
              <a:gd name="connsiteY4" fmla="*/ 100188 h 5095933"/>
              <a:gd name="connsiteX5" fmla="*/ 836350 w 12192417"/>
              <a:gd name="connsiteY5" fmla="*/ 132066 h 5095933"/>
              <a:gd name="connsiteX6" fmla="*/ 1076527 w 12192417"/>
              <a:gd name="connsiteY6" fmla="*/ 165696 h 5095933"/>
              <a:gd name="connsiteX7" fmla="*/ 1347183 w 12192417"/>
              <a:gd name="connsiteY7" fmla="*/ 201077 h 5095933"/>
              <a:gd name="connsiteX8" fmla="*/ 1642222 w 12192417"/>
              <a:gd name="connsiteY8" fmla="*/ 238560 h 5095933"/>
              <a:gd name="connsiteX9" fmla="*/ 1962863 w 12192417"/>
              <a:gd name="connsiteY9" fmla="*/ 276043 h 5095933"/>
              <a:gd name="connsiteX10" fmla="*/ 2304231 w 12192417"/>
              <a:gd name="connsiteY10" fmla="*/ 314227 h 5095933"/>
              <a:gd name="connsiteX11" fmla="*/ 2672420 w 12192417"/>
              <a:gd name="connsiteY11" fmla="*/ 349608 h 5095933"/>
              <a:gd name="connsiteX12" fmla="*/ 3057677 w 12192417"/>
              <a:gd name="connsiteY12" fmla="*/ 383588 h 5095933"/>
              <a:gd name="connsiteX13" fmla="*/ 3464880 w 12192417"/>
              <a:gd name="connsiteY13" fmla="*/ 414415 h 5095933"/>
              <a:gd name="connsiteX14" fmla="*/ 3889151 w 12192417"/>
              <a:gd name="connsiteY14" fmla="*/ 443841 h 5095933"/>
              <a:gd name="connsiteX15" fmla="*/ 4331709 w 12192417"/>
              <a:gd name="connsiteY15" fmla="*/ 471515 h 5095933"/>
              <a:gd name="connsiteX16" fmla="*/ 4558475 w 12192417"/>
              <a:gd name="connsiteY16" fmla="*/ 481324 h 5095933"/>
              <a:gd name="connsiteX17" fmla="*/ 4790117 w 12192417"/>
              <a:gd name="connsiteY17" fmla="*/ 492183 h 5095933"/>
              <a:gd name="connsiteX18" fmla="*/ 5025417 w 12192417"/>
              <a:gd name="connsiteY18" fmla="*/ 502342 h 5095933"/>
              <a:gd name="connsiteX19" fmla="*/ 5261936 w 12192417"/>
              <a:gd name="connsiteY19" fmla="*/ 508998 h 5095933"/>
              <a:gd name="connsiteX20" fmla="*/ 5503331 w 12192417"/>
              <a:gd name="connsiteY20" fmla="*/ 514953 h 5095933"/>
              <a:gd name="connsiteX21" fmla="*/ 5747166 w 12192417"/>
              <a:gd name="connsiteY21" fmla="*/ 521259 h 5095933"/>
              <a:gd name="connsiteX22" fmla="*/ 5995876 w 12192417"/>
              <a:gd name="connsiteY22" fmla="*/ 525463 h 5095933"/>
              <a:gd name="connsiteX23" fmla="*/ 6247025 w 12192417"/>
              <a:gd name="connsiteY23" fmla="*/ 525463 h 5095933"/>
              <a:gd name="connsiteX24" fmla="*/ 6500612 w 12192417"/>
              <a:gd name="connsiteY24" fmla="*/ 527565 h 5095933"/>
              <a:gd name="connsiteX25" fmla="*/ 6756638 w 12192417"/>
              <a:gd name="connsiteY25" fmla="*/ 525463 h 5095933"/>
              <a:gd name="connsiteX26" fmla="*/ 7016321 w 12192417"/>
              <a:gd name="connsiteY26" fmla="*/ 521259 h 5095933"/>
              <a:gd name="connsiteX27" fmla="*/ 7276004 w 12192417"/>
              <a:gd name="connsiteY27" fmla="*/ 517406 h 5095933"/>
              <a:gd name="connsiteX28" fmla="*/ 7539344 w 12192417"/>
              <a:gd name="connsiteY28" fmla="*/ 508998 h 5095933"/>
              <a:gd name="connsiteX29" fmla="*/ 7805123 w 12192417"/>
              <a:gd name="connsiteY29" fmla="*/ 500241 h 5095933"/>
              <a:gd name="connsiteX30" fmla="*/ 8070902 w 12192417"/>
              <a:gd name="connsiteY30" fmla="*/ 490082 h 5095933"/>
              <a:gd name="connsiteX31" fmla="*/ 8339120 w 12192417"/>
              <a:gd name="connsiteY31" fmla="*/ 475719 h 5095933"/>
              <a:gd name="connsiteX32" fmla="*/ 8609775 w 12192417"/>
              <a:gd name="connsiteY32" fmla="*/ 458554 h 5095933"/>
              <a:gd name="connsiteX33" fmla="*/ 8881650 w 12192417"/>
              <a:gd name="connsiteY33" fmla="*/ 442089 h 5095933"/>
              <a:gd name="connsiteX34" fmla="*/ 9153525 w 12192417"/>
              <a:gd name="connsiteY34" fmla="*/ 421071 h 5095933"/>
              <a:gd name="connsiteX35" fmla="*/ 9429057 w 12192417"/>
              <a:gd name="connsiteY35" fmla="*/ 395849 h 5095933"/>
              <a:gd name="connsiteX36" fmla="*/ 9700932 w 12192417"/>
              <a:gd name="connsiteY36" fmla="*/ 370626 h 5095933"/>
              <a:gd name="connsiteX37" fmla="*/ 9977683 w 12192417"/>
              <a:gd name="connsiteY37" fmla="*/ 341551 h 5095933"/>
              <a:gd name="connsiteX38" fmla="*/ 10255654 w 12192417"/>
              <a:gd name="connsiteY38" fmla="*/ 309673 h 5095933"/>
              <a:gd name="connsiteX39" fmla="*/ 10529967 w 12192417"/>
              <a:gd name="connsiteY39" fmla="*/ 276043 h 5095933"/>
              <a:gd name="connsiteX40" fmla="*/ 10807938 w 12192417"/>
              <a:gd name="connsiteY40" fmla="*/ 236809 h 5095933"/>
              <a:gd name="connsiteX41" fmla="*/ 11084689 w 12192417"/>
              <a:gd name="connsiteY41" fmla="*/ 194772 h 5095933"/>
              <a:gd name="connsiteX42" fmla="*/ 11362660 w 12192417"/>
              <a:gd name="connsiteY42" fmla="*/ 153085 h 5095933"/>
              <a:gd name="connsiteX43" fmla="*/ 11639411 w 12192417"/>
              <a:gd name="connsiteY43" fmla="*/ 104392 h 5095933"/>
              <a:gd name="connsiteX44" fmla="*/ 11914944 w 12192417"/>
              <a:gd name="connsiteY44" fmla="*/ 54648 h 5095933"/>
              <a:gd name="connsiteX45" fmla="*/ 12191695 w 12192417"/>
              <a:gd name="connsiteY45" fmla="*/ 2452 h 5095933"/>
              <a:gd name="connsiteX46" fmla="*/ 12191695 w 12192417"/>
              <a:gd name="connsiteY46" fmla="*/ 2162231 h 5095933"/>
              <a:gd name="connsiteX47" fmla="*/ 12192417 w 12192417"/>
              <a:gd name="connsiteY47" fmla="*/ 2162231 h 5095933"/>
              <a:gd name="connsiteX48" fmla="*/ 12192417 w 12192417"/>
              <a:gd name="connsiteY48" fmla="*/ 5095933 h 5095933"/>
              <a:gd name="connsiteX49" fmla="*/ 0 w 12192417"/>
              <a:gd name="connsiteY49" fmla="*/ 5095933 h 5095933"/>
              <a:gd name="connsiteX50" fmla="*/ 0 w 12192417"/>
              <a:gd name="connsiteY50" fmla="*/ 2791958 h 5095933"/>
              <a:gd name="connsiteX51" fmla="*/ 0 w 12192417"/>
              <a:gd name="connsiteY51" fmla="*/ 2162231 h 50959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12192417" h="5095933">
                <a:moveTo>
                  <a:pt x="0" y="0"/>
                </a:moveTo>
                <a:lnTo>
                  <a:pt x="71931" y="12261"/>
                </a:lnTo>
                <a:lnTo>
                  <a:pt x="282848" y="48343"/>
                </a:lnTo>
                <a:lnTo>
                  <a:pt x="436463" y="73565"/>
                </a:lnTo>
                <a:lnTo>
                  <a:pt x="619338" y="100188"/>
                </a:lnTo>
                <a:lnTo>
                  <a:pt x="836350" y="132066"/>
                </a:lnTo>
                <a:lnTo>
                  <a:pt x="1076527" y="165696"/>
                </a:lnTo>
                <a:lnTo>
                  <a:pt x="1347183" y="201077"/>
                </a:lnTo>
                <a:lnTo>
                  <a:pt x="1642222" y="238560"/>
                </a:lnTo>
                <a:lnTo>
                  <a:pt x="1962863" y="276043"/>
                </a:lnTo>
                <a:lnTo>
                  <a:pt x="2304231" y="314227"/>
                </a:lnTo>
                <a:lnTo>
                  <a:pt x="2672420" y="349608"/>
                </a:lnTo>
                <a:lnTo>
                  <a:pt x="3057677" y="383588"/>
                </a:lnTo>
                <a:lnTo>
                  <a:pt x="3464880" y="414415"/>
                </a:lnTo>
                <a:lnTo>
                  <a:pt x="3889151" y="443841"/>
                </a:lnTo>
                <a:lnTo>
                  <a:pt x="4331709" y="471515"/>
                </a:lnTo>
                <a:lnTo>
                  <a:pt x="4558475" y="481324"/>
                </a:lnTo>
                <a:lnTo>
                  <a:pt x="4790117" y="492183"/>
                </a:lnTo>
                <a:lnTo>
                  <a:pt x="5025417" y="502342"/>
                </a:lnTo>
                <a:lnTo>
                  <a:pt x="5261936" y="508998"/>
                </a:lnTo>
                <a:lnTo>
                  <a:pt x="5503331" y="514953"/>
                </a:lnTo>
                <a:lnTo>
                  <a:pt x="5747166" y="521259"/>
                </a:lnTo>
                <a:lnTo>
                  <a:pt x="5995876" y="525463"/>
                </a:lnTo>
                <a:lnTo>
                  <a:pt x="6247025" y="525463"/>
                </a:lnTo>
                <a:lnTo>
                  <a:pt x="6500612" y="527565"/>
                </a:lnTo>
                <a:lnTo>
                  <a:pt x="6756638" y="525463"/>
                </a:lnTo>
                <a:lnTo>
                  <a:pt x="7016321" y="521259"/>
                </a:lnTo>
                <a:lnTo>
                  <a:pt x="7276004" y="517406"/>
                </a:lnTo>
                <a:lnTo>
                  <a:pt x="7539344" y="508998"/>
                </a:lnTo>
                <a:lnTo>
                  <a:pt x="7805123" y="500241"/>
                </a:lnTo>
                <a:lnTo>
                  <a:pt x="8070902" y="490082"/>
                </a:lnTo>
                <a:lnTo>
                  <a:pt x="8339120" y="475719"/>
                </a:lnTo>
                <a:lnTo>
                  <a:pt x="8609775" y="458554"/>
                </a:lnTo>
                <a:lnTo>
                  <a:pt x="8881650" y="442089"/>
                </a:lnTo>
                <a:lnTo>
                  <a:pt x="9153525" y="421071"/>
                </a:lnTo>
                <a:lnTo>
                  <a:pt x="9429057" y="395849"/>
                </a:lnTo>
                <a:lnTo>
                  <a:pt x="9700932" y="370626"/>
                </a:lnTo>
                <a:lnTo>
                  <a:pt x="9977683" y="341551"/>
                </a:lnTo>
                <a:lnTo>
                  <a:pt x="10255654" y="309673"/>
                </a:lnTo>
                <a:lnTo>
                  <a:pt x="10529967" y="276043"/>
                </a:lnTo>
                <a:lnTo>
                  <a:pt x="10807938" y="236809"/>
                </a:lnTo>
                <a:lnTo>
                  <a:pt x="11084689" y="194772"/>
                </a:lnTo>
                <a:lnTo>
                  <a:pt x="11362660" y="153085"/>
                </a:lnTo>
                <a:lnTo>
                  <a:pt x="11639411" y="104392"/>
                </a:lnTo>
                <a:lnTo>
                  <a:pt x="11914944" y="54648"/>
                </a:lnTo>
                <a:lnTo>
                  <a:pt x="12191695" y="2452"/>
                </a:lnTo>
                <a:lnTo>
                  <a:pt x="12191695" y="2162231"/>
                </a:lnTo>
                <a:lnTo>
                  <a:pt x="12192417" y="2162231"/>
                </a:lnTo>
                <a:lnTo>
                  <a:pt x="12192417" y="5095933"/>
                </a:lnTo>
                <a:lnTo>
                  <a:pt x="0" y="5095933"/>
                </a:lnTo>
                <a:lnTo>
                  <a:pt x="0" y="2791958"/>
                </a:lnTo>
                <a:lnTo>
                  <a:pt x="0" y="2162231"/>
                </a:lnTo>
                <a:close/>
              </a:path>
            </a:pathLst>
          </a:custGeom>
          <a:ln>
            <a:noFill/>
          </a:ln>
        </p:spPr>
        <p:txBody>
          <a:bodyPr/>
          <a:lstStyle/>
          <a:p>
            <a:endParaRPr lang="en-CA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292676B-A6F2-1B85-1BE3-09C99C12EF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03312" y="452718"/>
            <a:ext cx="8947522" cy="1400530"/>
          </a:xfrm>
        </p:spPr>
        <p:txBody>
          <a:bodyPr anchor="ctr">
            <a:normAutofit/>
          </a:bodyPr>
          <a:lstStyle/>
          <a:p>
            <a:r>
              <a:rPr lang="en-CA" dirty="0">
                <a:solidFill>
                  <a:srgbClr val="FFFFFF"/>
                </a:solidFill>
              </a:rPr>
              <a:t>Sales and Seller Strategy Recommendations</a:t>
            </a:r>
          </a:p>
        </p:txBody>
      </p:sp>
      <p:graphicFrame>
        <p:nvGraphicFramePr>
          <p:cNvPr id="15" name="Content Placeholder 2">
            <a:extLst>
              <a:ext uri="{FF2B5EF4-FFF2-40B4-BE49-F238E27FC236}">
                <a16:creationId xmlns:a16="http://schemas.microsoft.com/office/drawing/2014/main" id="{C1CB66F8-D056-0B7D-FB41-E92DC4DF5AB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675925782"/>
              </p:ext>
              <p:ext uri="{E7BDC344-281C-4309-B0C6-D0EE65EED2A8}">
                <p202:designPr xmlns:p202="http://schemas.microsoft.com/office/powerpoint/2020/02/main">
                  <p202:designTagLst>
                    <p202:designTag name="ARCH:1:CLS" val="InformationBlock"/>
                    <p202:designTag name="ARCH:1:VSVAR" val="TitledTextBox"/>
                  </p202:designTagLst>
                </p202:designPr>
              </p:ext>
            </p:extLst>
          </p:nvPr>
        </p:nvGraphicFramePr>
        <p:xfrm>
          <a:off x="1103312" y="2763520"/>
          <a:ext cx="8946541" cy="348487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90566213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B19B0B5-0397-9583-38B8-A219EB20E6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AA7D9357-C220-4C72-0AA6-1190553BA0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354EAA8-051A-4FEF-57F6-4DA8DC8CFC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CA"/>
          </a:p>
        </p:txBody>
      </p:sp>
      <p:sp>
        <p:nvSpPr>
          <p:cNvPr id="12" name="Freeform 7">
            <a:extLst>
              <a:ext uri="{FF2B5EF4-FFF2-40B4-BE49-F238E27FC236}">
                <a16:creationId xmlns:a16="http://schemas.microsoft.com/office/drawing/2014/main" id="{ADE31701-D811-104D-9FF6-D29195164C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719939" y="1460230"/>
            <a:ext cx="3472060" cy="825932"/>
          </a:xfrm>
          <a:custGeom>
            <a:avLst/>
            <a:gdLst>
              <a:gd name="connsiteX0" fmla="*/ 3470310 w 3472060"/>
              <a:gd name="connsiteY0" fmla="*/ 0 h 825932"/>
              <a:gd name="connsiteX1" fmla="*/ 3472060 w 3472060"/>
              <a:gd name="connsiteY1" fmla="*/ 12850 h 825932"/>
              <a:gd name="connsiteX2" fmla="*/ 3472060 w 3472060"/>
              <a:gd name="connsiteY2" fmla="*/ 480529 h 825932"/>
              <a:gd name="connsiteX3" fmla="*/ 3363699 w 3472060"/>
              <a:gd name="connsiteY3" fmla="*/ 498471 h 825932"/>
              <a:gd name="connsiteX4" fmla="*/ 42060 w 3472060"/>
              <a:gd name="connsiteY4" fmla="*/ 824486 h 825932"/>
              <a:gd name="connsiteX5" fmla="*/ 0 w 3472060"/>
              <a:gd name="connsiteY5" fmla="*/ 758452 h 825932"/>
              <a:gd name="connsiteX6" fmla="*/ 188014 w 3472060"/>
              <a:gd name="connsiteY6" fmla="*/ 735602 h 825932"/>
              <a:gd name="connsiteX7" fmla="*/ 284087 w 3472060"/>
              <a:gd name="connsiteY7" fmla="*/ 722590 h 825932"/>
              <a:gd name="connsiteX8" fmla="*/ 382288 w 3472060"/>
              <a:gd name="connsiteY8" fmla="*/ 709392 h 825932"/>
              <a:gd name="connsiteX9" fmla="*/ 481858 w 3472060"/>
              <a:gd name="connsiteY9" fmla="*/ 695774 h 825932"/>
              <a:gd name="connsiteX10" fmla="*/ 581897 w 3472060"/>
              <a:gd name="connsiteY10" fmla="*/ 680711 h 825932"/>
              <a:gd name="connsiteX11" fmla="*/ 683670 w 3472060"/>
              <a:gd name="connsiteY11" fmla="*/ 665256 h 825932"/>
              <a:gd name="connsiteX12" fmla="*/ 787206 w 3472060"/>
              <a:gd name="connsiteY12" fmla="*/ 649587 h 825932"/>
              <a:gd name="connsiteX13" fmla="*/ 892019 w 3472060"/>
              <a:gd name="connsiteY13" fmla="*/ 632968 h 825932"/>
              <a:gd name="connsiteX14" fmla="*/ 997620 w 3472060"/>
              <a:gd name="connsiteY14" fmla="*/ 614667 h 825932"/>
              <a:gd name="connsiteX15" fmla="*/ 1104727 w 3472060"/>
              <a:gd name="connsiteY15" fmla="*/ 596741 h 825932"/>
              <a:gd name="connsiteX16" fmla="*/ 1212669 w 3472060"/>
              <a:gd name="connsiteY16" fmla="*/ 577397 h 825932"/>
              <a:gd name="connsiteX17" fmla="*/ 1321506 w 3472060"/>
              <a:gd name="connsiteY17" fmla="*/ 556988 h 825932"/>
              <a:gd name="connsiteX18" fmla="*/ 1430709 w 3472060"/>
              <a:gd name="connsiteY18" fmla="*/ 536607 h 825932"/>
              <a:gd name="connsiteX19" fmla="*/ 1541050 w 3472060"/>
              <a:gd name="connsiteY19" fmla="*/ 514481 h 825932"/>
              <a:gd name="connsiteX20" fmla="*/ 1652805 w 3472060"/>
              <a:gd name="connsiteY20" fmla="*/ 492202 h 825932"/>
              <a:gd name="connsiteX21" fmla="*/ 1763708 w 3472060"/>
              <a:gd name="connsiteY21" fmla="*/ 469161 h 825932"/>
              <a:gd name="connsiteX22" fmla="*/ 1875795 w 3472060"/>
              <a:gd name="connsiteY22" fmla="*/ 444641 h 825932"/>
              <a:gd name="connsiteX23" fmla="*/ 1989128 w 3472060"/>
              <a:gd name="connsiteY23" fmla="*/ 418995 h 825932"/>
              <a:gd name="connsiteX24" fmla="*/ 2102476 w 3472060"/>
              <a:gd name="connsiteY24" fmla="*/ 393438 h 825932"/>
              <a:gd name="connsiteX25" fmla="*/ 2215549 w 3472060"/>
              <a:gd name="connsiteY25" fmla="*/ 366291 h 825932"/>
              <a:gd name="connsiteX26" fmla="*/ 2330490 w 3472060"/>
              <a:gd name="connsiteY26" fmla="*/ 337455 h 825932"/>
              <a:gd name="connsiteX27" fmla="*/ 2443333 w 3472060"/>
              <a:gd name="connsiteY27" fmla="*/ 308983 h 825932"/>
              <a:gd name="connsiteX28" fmla="*/ 2558014 w 3472060"/>
              <a:gd name="connsiteY28" fmla="*/ 278646 h 825932"/>
              <a:gd name="connsiteX29" fmla="*/ 2673621 w 3472060"/>
              <a:gd name="connsiteY29" fmla="*/ 247421 h 825932"/>
              <a:gd name="connsiteX30" fmla="*/ 2787008 w 3472060"/>
              <a:gd name="connsiteY30" fmla="*/ 215853 h 825932"/>
              <a:gd name="connsiteX31" fmla="*/ 2901442 w 3472060"/>
              <a:gd name="connsiteY31" fmla="*/ 182011 h 825932"/>
              <a:gd name="connsiteX32" fmla="*/ 3015722 w 3472060"/>
              <a:gd name="connsiteY32" fmla="*/ 147286 h 825932"/>
              <a:gd name="connsiteX33" fmla="*/ 3130018 w 3472060"/>
              <a:gd name="connsiteY33" fmla="*/ 112649 h 825932"/>
              <a:gd name="connsiteX34" fmla="*/ 3243551 w 3472060"/>
              <a:gd name="connsiteY34" fmla="*/ 75688 h 825932"/>
              <a:gd name="connsiteX35" fmla="*/ 3356992 w 3472060"/>
              <a:gd name="connsiteY35" fmla="*/ 38197 h 825932"/>
              <a:gd name="connsiteX36" fmla="*/ 3470310 w 3472060"/>
              <a:gd name="connsiteY36" fmla="*/ 0 h 8259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</a:cxnLst>
            <a:rect l="l" t="t" r="r" b="b"/>
            <a:pathLst>
              <a:path w="3472060" h="825932">
                <a:moveTo>
                  <a:pt x="3470310" y="0"/>
                </a:moveTo>
                <a:lnTo>
                  <a:pt x="3472060" y="12850"/>
                </a:lnTo>
                <a:lnTo>
                  <a:pt x="3472060" y="480529"/>
                </a:lnTo>
                <a:lnTo>
                  <a:pt x="3363699" y="498471"/>
                </a:lnTo>
                <a:cubicBezTo>
                  <a:pt x="2435623" y="645518"/>
                  <a:pt x="603076" y="844866"/>
                  <a:pt x="42060" y="824486"/>
                </a:cubicBezTo>
                <a:cubicBezTo>
                  <a:pt x="28151" y="802425"/>
                  <a:pt x="13909" y="780513"/>
                  <a:pt x="0" y="758452"/>
                </a:cubicBezTo>
                <a:lnTo>
                  <a:pt x="188014" y="735602"/>
                </a:lnTo>
                <a:lnTo>
                  <a:pt x="284087" y="722590"/>
                </a:lnTo>
                <a:lnTo>
                  <a:pt x="382288" y="709392"/>
                </a:lnTo>
                <a:lnTo>
                  <a:pt x="481858" y="695774"/>
                </a:lnTo>
                <a:lnTo>
                  <a:pt x="581897" y="680711"/>
                </a:lnTo>
                <a:lnTo>
                  <a:pt x="683670" y="665256"/>
                </a:lnTo>
                <a:lnTo>
                  <a:pt x="787206" y="649587"/>
                </a:lnTo>
                <a:lnTo>
                  <a:pt x="892019" y="632968"/>
                </a:lnTo>
                <a:lnTo>
                  <a:pt x="997620" y="614667"/>
                </a:lnTo>
                <a:lnTo>
                  <a:pt x="1104727" y="596741"/>
                </a:lnTo>
                <a:lnTo>
                  <a:pt x="1212669" y="577397"/>
                </a:lnTo>
                <a:lnTo>
                  <a:pt x="1321506" y="556988"/>
                </a:lnTo>
                <a:lnTo>
                  <a:pt x="1430709" y="536607"/>
                </a:lnTo>
                <a:lnTo>
                  <a:pt x="1541050" y="514481"/>
                </a:lnTo>
                <a:lnTo>
                  <a:pt x="1652805" y="492202"/>
                </a:lnTo>
                <a:lnTo>
                  <a:pt x="1763708" y="469161"/>
                </a:lnTo>
                <a:lnTo>
                  <a:pt x="1875795" y="444641"/>
                </a:lnTo>
                <a:lnTo>
                  <a:pt x="1989128" y="418995"/>
                </a:lnTo>
                <a:lnTo>
                  <a:pt x="2102476" y="393438"/>
                </a:lnTo>
                <a:lnTo>
                  <a:pt x="2215549" y="366291"/>
                </a:lnTo>
                <a:lnTo>
                  <a:pt x="2330490" y="337455"/>
                </a:lnTo>
                <a:lnTo>
                  <a:pt x="2443333" y="308983"/>
                </a:lnTo>
                <a:lnTo>
                  <a:pt x="2558014" y="278646"/>
                </a:lnTo>
                <a:lnTo>
                  <a:pt x="2673621" y="247421"/>
                </a:lnTo>
                <a:lnTo>
                  <a:pt x="2787008" y="215853"/>
                </a:lnTo>
                <a:lnTo>
                  <a:pt x="2901442" y="182011"/>
                </a:lnTo>
                <a:lnTo>
                  <a:pt x="3015722" y="147286"/>
                </a:lnTo>
                <a:lnTo>
                  <a:pt x="3130018" y="112649"/>
                </a:lnTo>
                <a:lnTo>
                  <a:pt x="3243551" y="75688"/>
                </a:lnTo>
                <a:lnTo>
                  <a:pt x="3356992" y="38197"/>
                </a:lnTo>
                <a:lnTo>
                  <a:pt x="3470310" y="0"/>
                </a:lnTo>
                <a:close/>
              </a:path>
            </a:pathLst>
          </a:custGeom>
          <a:solidFill>
            <a:schemeClr val="bg1"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 useBgFill="1">
        <p:nvSpPr>
          <p:cNvPr id="14" name="Freeform: Shape 13">
            <a:extLst>
              <a:ext uri="{FF2B5EF4-FFF2-40B4-BE49-F238E27FC236}">
                <a16:creationId xmlns:a16="http://schemas.microsoft.com/office/drawing/2014/main" id="{C0AAC821-9524-B175-F334-18486AF1F8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>
            <a:off x="1" y="1762067"/>
            <a:ext cx="12192417" cy="5095933"/>
          </a:xfrm>
          <a:custGeom>
            <a:avLst/>
            <a:gdLst>
              <a:gd name="connsiteX0" fmla="*/ 0 w 12192417"/>
              <a:gd name="connsiteY0" fmla="*/ 0 h 5095933"/>
              <a:gd name="connsiteX1" fmla="*/ 71931 w 12192417"/>
              <a:gd name="connsiteY1" fmla="*/ 12261 h 5095933"/>
              <a:gd name="connsiteX2" fmla="*/ 282848 w 12192417"/>
              <a:gd name="connsiteY2" fmla="*/ 48343 h 5095933"/>
              <a:gd name="connsiteX3" fmla="*/ 436463 w 12192417"/>
              <a:gd name="connsiteY3" fmla="*/ 73565 h 5095933"/>
              <a:gd name="connsiteX4" fmla="*/ 619338 w 12192417"/>
              <a:gd name="connsiteY4" fmla="*/ 100188 h 5095933"/>
              <a:gd name="connsiteX5" fmla="*/ 836350 w 12192417"/>
              <a:gd name="connsiteY5" fmla="*/ 132066 h 5095933"/>
              <a:gd name="connsiteX6" fmla="*/ 1076527 w 12192417"/>
              <a:gd name="connsiteY6" fmla="*/ 165696 h 5095933"/>
              <a:gd name="connsiteX7" fmla="*/ 1347183 w 12192417"/>
              <a:gd name="connsiteY7" fmla="*/ 201077 h 5095933"/>
              <a:gd name="connsiteX8" fmla="*/ 1642222 w 12192417"/>
              <a:gd name="connsiteY8" fmla="*/ 238560 h 5095933"/>
              <a:gd name="connsiteX9" fmla="*/ 1962863 w 12192417"/>
              <a:gd name="connsiteY9" fmla="*/ 276043 h 5095933"/>
              <a:gd name="connsiteX10" fmla="*/ 2304231 w 12192417"/>
              <a:gd name="connsiteY10" fmla="*/ 314227 h 5095933"/>
              <a:gd name="connsiteX11" fmla="*/ 2672420 w 12192417"/>
              <a:gd name="connsiteY11" fmla="*/ 349608 h 5095933"/>
              <a:gd name="connsiteX12" fmla="*/ 3057677 w 12192417"/>
              <a:gd name="connsiteY12" fmla="*/ 383588 h 5095933"/>
              <a:gd name="connsiteX13" fmla="*/ 3464880 w 12192417"/>
              <a:gd name="connsiteY13" fmla="*/ 414415 h 5095933"/>
              <a:gd name="connsiteX14" fmla="*/ 3889151 w 12192417"/>
              <a:gd name="connsiteY14" fmla="*/ 443841 h 5095933"/>
              <a:gd name="connsiteX15" fmla="*/ 4331709 w 12192417"/>
              <a:gd name="connsiteY15" fmla="*/ 471515 h 5095933"/>
              <a:gd name="connsiteX16" fmla="*/ 4558475 w 12192417"/>
              <a:gd name="connsiteY16" fmla="*/ 481324 h 5095933"/>
              <a:gd name="connsiteX17" fmla="*/ 4790117 w 12192417"/>
              <a:gd name="connsiteY17" fmla="*/ 492183 h 5095933"/>
              <a:gd name="connsiteX18" fmla="*/ 5025417 w 12192417"/>
              <a:gd name="connsiteY18" fmla="*/ 502342 h 5095933"/>
              <a:gd name="connsiteX19" fmla="*/ 5261936 w 12192417"/>
              <a:gd name="connsiteY19" fmla="*/ 508998 h 5095933"/>
              <a:gd name="connsiteX20" fmla="*/ 5503331 w 12192417"/>
              <a:gd name="connsiteY20" fmla="*/ 514953 h 5095933"/>
              <a:gd name="connsiteX21" fmla="*/ 5747166 w 12192417"/>
              <a:gd name="connsiteY21" fmla="*/ 521259 h 5095933"/>
              <a:gd name="connsiteX22" fmla="*/ 5995876 w 12192417"/>
              <a:gd name="connsiteY22" fmla="*/ 525463 h 5095933"/>
              <a:gd name="connsiteX23" fmla="*/ 6247025 w 12192417"/>
              <a:gd name="connsiteY23" fmla="*/ 525463 h 5095933"/>
              <a:gd name="connsiteX24" fmla="*/ 6500612 w 12192417"/>
              <a:gd name="connsiteY24" fmla="*/ 527565 h 5095933"/>
              <a:gd name="connsiteX25" fmla="*/ 6756638 w 12192417"/>
              <a:gd name="connsiteY25" fmla="*/ 525463 h 5095933"/>
              <a:gd name="connsiteX26" fmla="*/ 7016321 w 12192417"/>
              <a:gd name="connsiteY26" fmla="*/ 521259 h 5095933"/>
              <a:gd name="connsiteX27" fmla="*/ 7276004 w 12192417"/>
              <a:gd name="connsiteY27" fmla="*/ 517406 h 5095933"/>
              <a:gd name="connsiteX28" fmla="*/ 7539344 w 12192417"/>
              <a:gd name="connsiteY28" fmla="*/ 508998 h 5095933"/>
              <a:gd name="connsiteX29" fmla="*/ 7805123 w 12192417"/>
              <a:gd name="connsiteY29" fmla="*/ 500241 h 5095933"/>
              <a:gd name="connsiteX30" fmla="*/ 8070902 w 12192417"/>
              <a:gd name="connsiteY30" fmla="*/ 490082 h 5095933"/>
              <a:gd name="connsiteX31" fmla="*/ 8339120 w 12192417"/>
              <a:gd name="connsiteY31" fmla="*/ 475719 h 5095933"/>
              <a:gd name="connsiteX32" fmla="*/ 8609775 w 12192417"/>
              <a:gd name="connsiteY32" fmla="*/ 458554 h 5095933"/>
              <a:gd name="connsiteX33" fmla="*/ 8881650 w 12192417"/>
              <a:gd name="connsiteY33" fmla="*/ 442089 h 5095933"/>
              <a:gd name="connsiteX34" fmla="*/ 9153525 w 12192417"/>
              <a:gd name="connsiteY34" fmla="*/ 421071 h 5095933"/>
              <a:gd name="connsiteX35" fmla="*/ 9429057 w 12192417"/>
              <a:gd name="connsiteY35" fmla="*/ 395849 h 5095933"/>
              <a:gd name="connsiteX36" fmla="*/ 9700932 w 12192417"/>
              <a:gd name="connsiteY36" fmla="*/ 370626 h 5095933"/>
              <a:gd name="connsiteX37" fmla="*/ 9977683 w 12192417"/>
              <a:gd name="connsiteY37" fmla="*/ 341551 h 5095933"/>
              <a:gd name="connsiteX38" fmla="*/ 10255654 w 12192417"/>
              <a:gd name="connsiteY38" fmla="*/ 309673 h 5095933"/>
              <a:gd name="connsiteX39" fmla="*/ 10529967 w 12192417"/>
              <a:gd name="connsiteY39" fmla="*/ 276043 h 5095933"/>
              <a:gd name="connsiteX40" fmla="*/ 10807938 w 12192417"/>
              <a:gd name="connsiteY40" fmla="*/ 236809 h 5095933"/>
              <a:gd name="connsiteX41" fmla="*/ 11084689 w 12192417"/>
              <a:gd name="connsiteY41" fmla="*/ 194772 h 5095933"/>
              <a:gd name="connsiteX42" fmla="*/ 11362660 w 12192417"/>
              <a:gd name="connsiteY42" fmla="*/ 153085 h 5095933"/>
              <a:gd name="connsiteX43" fmla="*/ 11639411 w 12192417"/>
              <a:gd name="connsiteY43" fmla="*/ 104392 h 5095933"/>
              <a:gd name="connsiteX44" fmla="*/ 11914944 w 12192417"/>
              <a:gd name="connsiteY44" fmla="*/ 54648 h 5095933"/>
              <a:gd name="connsiteX45" fmla="*/ 12191695 w 12192417"/>
              <a:gd name="connsiteY45" fmla="*/ 2452 h 5095933"/>
              <a:gd name="connsiteX46" fmla="*/ 12191695 w 12192417"/>
              <a:gd name="connsiteY46" fmla="*/ 2162231 h 5095933"/>
              <a:gd name="connsiteX47" fmla="*/ 12192417 w 12192417"/>
              <a:gd name="connsiteY47" fmla="*/ 2162231 h 5095933"/>
              <a:gd name="connsiteX48" fmla="*/ 12192417 w 12192417"/>
              <a:gd name="connsiteY48" fmla="*/ 5095933 h 5095933"/>
              <a:gd name="connsiteX49" fmla="*/ 0 w 12192417"/>
              <a:gd name="connsiteY49" fmla="*/ 5095933 h 5095933"/>
              <a:gd name="connsiteX50" fmla="*/ 0 w 12192417"/>
              <a:gd name="connsiteY50" fmla="*/ 2791958 h 5095933"/>
              <a:gd name="connsiteX51" fmla="*/ 0 w 12192417"/>
              <a:gd name="connsiteY51" fmla="*/ 2162231 h 50959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12192417" h="5095933">
                <a:moveTo>
                  <a:pt x="0" y="0"/>
                </a:moveTo>
                <a:lnTo>
                  <a:pt x="71931" y="12261"/>
                </a:lnTo>
                <a:lnTo>
                  <a:pt x="282848" y="48343"/>
                </a:lnTo>
                <a:lnTo>
                  <a:pt x="436463" y="73565"/>
                </a:lnTo>
                <a:lnTo>
                  <a:pt x="619338" y="100188"/>
                </a:lnTo>
                <a:lnTo>
                  <a:pt x="836350" y="132066"/>
                </a:lnTo>
                <a:lnTo>
                  <a:pt x="1076527" y="165696"/>
                </a:lnTo>
                <a:lnTo>
                  <a:pt x="1347183" y="201077"/>
                </a:lnTo>
                <a:lnTo>
                  <a:pt x="1642222" y="238560"/>
                </a:lnTo>
                <a:lnTo>
                  <a:pt x="1962863" y="276043"/>
                </a:lnTo>
                <a:lnTo>
                  <a:pt x="2304231" y="314227"/>
                </a:lnTo>
                <a:lnTo>
                  <a:pt x="2672420" y="349608"/>
                </a:lnTo>
                <a:lnTo>
                  <a:pt x="3057677" y="383588"/>
                </a:lnTo>
                <a:lnTo>
                  <a:pt x="3464880" y="414415"/>
                </a:lnTo>
                <a:lnTo>
                  <a:pt x="3889151" y="443841"/>
                </a:lnTo>
                <a:lnTo>
                  <a:pt x="4331709" y="471515"/>
                </a:lnTo>
                <a:lnTo>
                  <a:pt x="4558475" y="481324"/>
                </a:lnTo>
                <a:lnTo>
                  <a:pt x="4790117" y="492183"/>
                </a:lnTo>
                <a:lnTo>
                  <a:pt x="5025417" y="502342"/>
                </a:lnTo>
                <a:lnTo>
                  <a:pt x="5261936" y="508998"/>
                </a:lnTo>
                <a:lnTo>
                  <a:pt x="5503331" y="514953"/>
                </a:lnTo>
                <a:lnTo>
                  <a:pt x="5747166" y="521259"/>
                </a:lnTo>
                <a:lnTo>
                  <a:pt x="5995876" y="525463"/>
                </a:lnTo>
                <a:lnTo>
                  <a:pt x="6247025" y="525463"/>
                </a:lnTo>
                <a:lnTo>
                  <a:pt x="6500612" y="527565"/>
                </a:lnTo>
                <a:lnTo>
                  <a:pt x="6756638" y="525463"/>
                </a:lnTo>
                <a:lnTo>
                  <a:pt x="7016321" y="521259"/>
                </a:lnTo>
                <a:lnTo>
                  <a:pt x="7276004" y="517406"/>
                </a:lnTo>
                <a:lnTo>
                  <a:pt x="7539344" y="508998"/>
                </a:lnTo>
                <a:lnTo>
                  <a:pt x="7805123" y="500241"/>
                </a:lnTo>
                <a:lnTo>
                  <a:pt x="8070902" y="490082"/>
                </a:lnTo>
                <a:lnTo>
                  <a:pt x="8339120" y="475719"/>
                </a:lnTo>
                <a:lnTo>
                  <a:pt x="8609775" y="458554"/>
                </a:lnTo>
                <a:lnTo>
                  <a:pt x="8881650" y="442089"/>
                </a:lnTo>
                <a:lnTo>
                  <a:pt x="9153525" y="421071"/>
                </a:lnTo>
                <a:lnTo>
                  <a:pt x="9429057" y="395849"/>
                </a:lnTo>
                <a:lnTo>
                  <a:pt x="9700932" y="370626"/>
                </a:lnTo>
                <a:lnTo>
                  <a:pt x="9977683" y="341551"/>
                </a:lnTo>
                <a:lnTo>
                  <a:pt x="10255654" y="309673"/>
                </a:lnTo>
                <a:lnTo>
                  <a:pt x="10529967" y="276043"/>
                </a:lnTo>
                <a:lnTo>
                  <a:pt x="10807938" y="236809"/>
                </a:lnTo>
                <a:lnTo>
                  <a:pt x="11084689" y="194772"/>
                </a:lnTo>
                <a:lnTo>
                  <a:pt x="11362660" y="153085"/>
                </a:lnTo>
                <a:lnTo>
                  <a:pt x="11639411" y="104392"/>
                </a:lnTo>
                <a:lnTo>
                  <a:pt x="11914944" y="54648"/>
                </a:lnTo>
                <a:lnTo>
                  <a:pt x="12191695" y="2452"/>
                </a:lnTo>
                <a:lnTo>
                  <a:pt x="12191695" y="2162231"/>
                </a:lnTo>
                <a:lnTo>
                  <a:pt x="12192417" y="2162231"/>
                </a:lnTo>
                <a:lnTo>
                  <a:pt x="12192417" y="5095933"/>
                </a:lnTo>
                <a:lnTo>
                  <a:pt x="0" y="5095933"/>
                </a:lnTo>
                <a:lnTo>
                  <a:pt x="0" y="2791958"/>
                </a:lnTo>
                <a:lnTo>
                  <a:pt x="0" y="2162231"/>
                </a:lnTo>
                <a:close/>
              </a:path>
            </a:pathLst>
          </a:custGeom>
          <a:ln>
            <a:noFill/>
          </a:ln>
        </p:spPr>
        <p:txBody>
          <a:bodyPr/>
          <a:lstStyle/>
          <a:p>
            <a:endParaRPr lang="en-CA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5B1B68B-2C0E-DB9D-C076-3C883337F9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03312" y="452718"/>
            <a:ext cx="8947522" cy="1400530"/>
          </a:xfrm>
        </p:spPr>
        <p:txBody>
          <a:bodyPr anchor="ctr">
            <a:normAutofit/>
          </a:bodyPr>
          <a:lstStyle/>
          <a:p>
            <a:r>
              <a:rPr lang="en-CA" dirty="0">
                <a:solidFill>
                  <a:srgbClr val="FFFFFF"/>
                </a:solidFill>
              </a:rPr>
              <a:t>Logistics and Customer Experience Recommendations</a:t>
            </a:r>
          </a:p>
        </p:txBody>
      </p:sp>
      <p:graphicFrame>
        <p:nvGraphicFramePr>
          <p:cNvPr id="15" name="Content Placeholder 2">
            <a:extLst>
              <a:ext uri="{FF2B5EF4-FFF2-40B4-BE49-F238E27FC236}">
                <a16:creationId xmlns:a16="http://schemas.microsoft.com/office/drawing/2014/main" id="{1832D891-5A58-DF51-3FB2-FFA816D58FE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535373062"/>
              </p:ext>
              <p:ext uri="{E7BDC344-281C-4309-B0C6-D0EE65EED2A8}">
                <p202:designPr xmlns:p202="http://schemas.microsoft.com/office/powerpoint/2020/02/main">
                  <p202:designTagLst>
                    <p202:designTag name="ARCH:1:CLS" val="InformationBlock"/>
                    <p202:designTag name="ARCH:1:VSVAR" val="TitledTextBox"/>
                  </p202:designTagLst>
                </p202:designPr>
              </p:ext>
            </p:extLst>
          </p:nvPr>
        </p:nvGraphicFramePr>
        <p:xfrm>
          <a:off x="1103312" y="2763520"/>
          <a:ext cx="8946541" cy="348487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98473588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28E9BC5-6C64-5FCF-1E3E-D230EEE960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1AD4BBED-5CA3-EF27-1780-5943657FA6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9BDBFF5-0E1B-9B57-63D9-E2043E0486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CA"/>
          </a:p>
        </p:txBody>
      </p:sp>
      <p:sp>
        <p:nvSpPr>
          <p:cNvPr id="12" name="Freeform 7">
            <a:extLst>
              <a:ext uri="{FF2B5EF4-FFF2-40B4-BE49-F238E27FC236}">
                <a16:creationId xmlns:a16="http://schemas.microsoft.com/office/drawing/2014/main" id="{8EAA1202-409A-81CF-A900-C37B27587E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719939" y="1460230"/>
            <a:ext cx="3472060" cy="825932"/>
          </a:xfrm>
          <a:custGeom>
            <a:avLst/>
            <a:gdLst>
              <a:gd name="connsiteX0" fmla="*/ 3470310 w 3472060"/>
              <a:gd name="connsiteY0" fmla="*/ 0 h 825932"/>
              <a:gd name="connsiteX1" fmla="*/ 3472060 w 3472060"/>
              <a:gd name="connsiteY1" fmla="*/ 12850 h 825932"/>
              <a:gd name="connsiteX2" fmla="*/ 3472060 w 3472060"/>
              <a:gd name="connsiteY2" fmla="*/ 480529 h 825932"/>
              <a:gd name="connsiteX3" fmla="*/ 3363699 w 3472060"/>
              <a:gd name="connsiteY3" fmla="*/ 498471 h 825932"/>
              <a:gd name="connsiteX4" fmla="*/ 42060 w 3472060"/>
              <a:gd name="connsiteY4" fmla="*/ 824486 h 825932"/>
              <a:gd name="connsiteX5" fmla="*/ 0 w 3472060"/>
              <a:gd name="connsiteY5" fmla="*/ 758452 h 825932"/>
              <a:gd name="connsiteX6" fmla="*/ 188014 w 3472060"/>
              <a:gd name="connsiteY6" fmla="*/ 735602 h 825932"/>
              <a:gd name="connsiteX7" fmla="*/ 284087 w 3472060"/>
              <a:gd name="connsiteY7" fmla="*/ 722590 h 825932"/>
              <a:gd name="connsiteX8" fmla="*/ 382288 w 3472060"/>
              <a:gd name="connsiteY8" fmla="*/ 709392 h 825932"/>
              <a:gd name="connsiteX9" fmla="*/ 481858 w 3472060"/>
              <a:gd name="connsiteY9" fmla="*/ 695774 h 825932"/>
              <a:gd name="connsiteX10" fmla="*/ 581897 w 3472060"/>
              <a:gd name="connsiteY10" fmla="*/ 680711 h 825932"/>
              <a:gd name="connsiteX11" fmla="*/ 683670 w 3472060"/>
              <a:gd name="connsiteY11" fmla="*/ 665256 h 825932"/>
              <a:gd name="connsiteX12" fmla="*/ 787206 w 3472060"/>
              <a:gd name="connsiteY12" fmla="*/ 649587 h 825932"/>
              <a:gd name="connsiteX13" fmla="*/ 892019 w 3472060"/>
              <a:gd name="connsiteY13" fmla="*/ 632968 h 825932"/>
              <a:gd name="connsiteX14" fmla="*/ 997620 w 3472060"/>
              <a:gd name="connsiteY14" fmla="*/ 614667 h 825932"/>
              <a:gd name="connsiteX15" fmla="*/ 1104727 w 3472060"/>
              <a:gd name="connsiteY15" fmla="*/ 596741 h 825932"/>
              <a:gd name="connsiteX16" fmla="*/ 1212669 w 3472060"/>
              <a:gd name="connsiteY16" fmla="*/ 577397 h 825932"/>
              <a:gd name="connsiteX17" fmla="*/ 1321506 w 3472060"/>
              <a:gd name="connsiteY17" fmla="*/ 556988 h 825932"/>
              <a:gd name="connsiteX18" fmla="*/ 1430709 w 3472060"/>
              <a:gd name="connsiteY18" fmla="*/ 536607 h 825932"/>
              <a:gd name="connsiteX19" fmla="*/ 1541050 w 3472060"/>
              <a:gd name="connsiteY19" fmla="*/ 514481 h 825932"/>
              <a:gd name="connsiteX20" fmla="*/ 1652805 w 3472060"/>
              <a:gd name="connsiteY20" fmla="*/ 492202 h 825932"/>
              <a:gd name="connsiteX21" fmla="*/ 1763708 w 3472060"/>
              <a:gd name="connsiteY21" fmla="*/ 469161 h 825932"/>
              <a:gd name="connsiteX22" fmla="*/ 1875795 w 3472060"/>
              <a:gd name="connsiteY22" fmla="*/ 444641 h 825932"/>
              <a:gd name="connsiteX23" fmla="*/ 1989128 w 3472060"/>
              <a:gd name="connsiteY23" fmla="*/ 418995 h 825932"/>
              <a:gd name="connsiteX24" fmla="*/ 2102476 w 3472060"/>
              <a:gd name="connsiteY24" fmla="*/ 393438 h 825932"/>
              <a:gd name="connsiteX25" fmla="*/ 2215549 w 3472060"/>
              <a:gd name="connsiteY25" fmla="*/ 366291 h 825932"/>
              <a:gd name="connsiteX26" fmla="*/ 2330490 w 3472060"/>
              <a:gd name="connsiteY26" fmla="*/ 337455 h 825932"/>
              <a:gd name="connsiteX27" fmla="*/ 2443333 w 3472060"/>
              <a:gd name="connsiteY27" fmla="*/ 308983 h 825932"/>
              <a:gd name="connsiteX28" fmla="*/ 2558014 w 3472060"/>
              <a:gd name="connsiteY28" fmla="*/ 278646 h 825932"/>
              <a:gd name="connsiteX29" fmla="*/ 2673621 w 3472060"/>
              <a:gd name="connsiteY29" fmla="*/ 247421 h 825932"/>
              <a:gd name="connsiteX30" fmla="*/ 2787008 w 3472060"/>
              <a:gd name="connsiteY30" fmla="*/ 215853 h 825932"/>
              <a:gd name="connsiteX31" fmla="*/ 2901442 w 3472060"/>
              <a:gd name="connsiteY31" fmla="*/ 182011 h 825932"/>
              <a:gd name="connsiteX32" fmla="*/ 3015722 w 3472060"/>
              <a:gd name="connsiteY32" fmla="*/ 147286 h 825932"/>
              <a:gd name="connsiteX33" fmla="*/ 3130018 w 3472060"/>
              <a:gd name="connsiteY33" fmla="*/ 112649 h 825932"/>
              <a:gd name="connsiteX34" fmla="*/ 3243551 w 3472060"/>
              <a:gd name="connsiteY34" fmla="*/ 75688 h 825932"/>
              <a:gd name="connsiteX35" fmla="*/ 3356992 w 3472060"/>
              <a:gd name="connsiteY35" fmla="*/ 38197 h 825932"/>
              <a:gd name="connsiteX36" fmla="*/ 3470310 w 3472060"/>
              <a:gd name="connsiteY36" fmla="*/ 0 h 8259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</a:cxnLst>
            <a:rect l="l" t="t" r="r" b="b"/>
            <a:pathLst>
              <a:path w="3472060" h="825932">
                <a:moveTo>
                  <a:pt x="3470310" y="0"/>
                </a:moveTo>
                <a:lnTo>
                  <a:pt x="3472060" y="12850"/>
                </a:lnTo>
                <a:lnTo>
                  <a:pt x="3472060" y="480529"/>
                </a:lnTo>
                <a:lnTo>
                  <a:pt x="3363699" y="498471"/>
                </a:lnTo>
                <a:cubicBezTo>
                  <a:pt x="2435623" y="645518"/>
                  <a:pt x="603076" y="844866"/>
                  <a:pt x="42060" y="824486"/>
                </a:cubicBezTo>
                <a:cubicBezTo>
                  <a:pt x="28151" y="802425"/>
                  <a:pt x="13909" y="780513"/>
                  <a:pt x="0" y="758452"/>
                </a:cubicBezTo>
                <a:lnTo>
                  <a:pt x="188014" y="735602"/>
                </a:lnTo>
                <a:lnTo>
                  <a:pt x="284087" y="722590"/>
                </a:lnTo>
                <a:lnTo>
                  <a:pt x="382288" y="709392"/>
                </a:lnTo>
                <a:lnTo>
                  <a:pt x="481858" y="695774"/>
                </a:lnTo>
                <a:lnTo>
                  <a:pt x="581897" y="680711"/>
                </a:lnTo>
                <a:lnTo>
                  <a:pt x="683670" y="665256"/>
                </a:lnTo>
                <a:lnTo>
                  <a:pt x="787206" y="649587"/>
                </a:lnTo>
                <a:lnTo>
                  <a:pt x="892019" y="632968"/>
                </a:lnTo>
                <a:lnTo>
                  <a:pt x="997620" y="614667"/>
                </a:lnTo>
                <a:lnTo>
                  <a:pt x="1104727" y="596741"/>
                </a:lnTo>
                <a:lnTo>
                  <a:pt x="1212669" y="577397"/>
                </a:lnTo>
                <a:lnTo>
                  <a:pt x="1321506" y="556988"/>
                </a:lnTo>
                <a:lnTo>
                  <a:pt x="1430709" y="536607"/>
                </a:lnTo>
                <a:lnTo>
                  <a:pt x="1541050" y="514481"/>
                </a:lnTo>
                <a:lnTo>
                  <a:pt x="1652805" y="492202"/>
                </a:lnTo>
                <a:lnTo>
                  <a:pt x="1763708" y="469161"/>
                </a:lnTo>
                <a:lnTo>
                  <a:pt x="1875795" y="444641"/>
                </a:lnTo>
                <a:lnTo>
                  <a:pt x="1989128" y="418995"/>
                </a:lnTo>
                <a:lnTo>
                  <a:pt x="2102476" y="393438"/>
                </a:lnTo>
                <a:lnTo>
                  <a:pt x="2215549" y="366291"/>
                </a:lnTo>
                <a:lnTo>
                  <a:pt x="2330490" y="337455"/>
                </a:lnTo>
                <a:lnTo>
                  <a:pt x="2443333" y="308983"/>
                </a:lnTo>
                <a:lnTo>
                  <a:pt x="2558014" y="278646"/>
                </a:lnTo>
                <a:lnTo>
                  <a:pt x="2673621" y="247421"/>
                </a:lnTo>
                <a:lnTo>
                  <a:pt x="2787008" y="215853"/>
                </a:lnTo>
                <a:lnTo>
                  <a:pt x="2901442" y="182011"/>
                </a:lnTo>
                <a:lnTo>
                  <a:pt x="3015722" y="147286"/>
                </a:lnTo>
                <a:lnTo>
                  <a:pt x="3130018" y="112649"/>
                </a:lnTo>
                <a:lnTo>
                  <a:pt x="3243551" y="75688"/>
                </a:lnTo>
                <a:lnTo>
                  <a:pt x="3356992" y="38197"/>
                </a:lnTo>
                <a:lnTo>
                  <a:pt x="3470310" y="0"/>
                </a:lnTo>
                <a:close/>
              </a:path>
            </a:pathLst>
          </a:custGeom>
          <a:solidFill>
            <a:schemeClr val="bg1"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 useBgFill="1">
        <p:nvSpPr>
          <p:cNvPr id="14" name="Freeform: Shape 13">
            <a:extLst>
              <a:ext uri="{FF2B5EF4-FFF2-40B4-BE49-F238E27FC236}">
                <a16:creationId xmlns:a16="http://schemas.microsoft.com/office/drawing/2014/main" id="{47A2440D-C08A-7177-E80D-F118E5DC39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>
            <a:off x="1" y="1762067"/>
            <a:ext cx="12192417" cy="5095933"/>
          </a:xfrm>
          <a:custGeom>
            <a:avLst/>
            <a:gdLst>
              <a:gd name="connsiteX0" fmla="*/ 0 w 12192417"/>
              <a:gd name="connsiteY0" fmla="*/ 0 h 5095933"/>
              <a:gd name="connsiteX1" fmla="*/ 71931 w 12192417"/>
              <a:gd name="connsiteY1" fmla="*/ 12261 h 5095933"/>
              <a:gd name="connsiteX2" fmla="*/ 282848 w 12192417"/>
              <a:gd name="connsiteY2" fmla="*/ 48343 h 5095933"/>
              <a:gd name="connsiteX3" fmla="*/ 436463 w 12192417"/>
              <a:gd name="connsiteY3" fmla="*/ 73565 h 5095933"/>
              <a:gd name="connsiteX4" fmla="*/ 619338 w 12192417"/>
              <a:gd name="connsiteY4" fmla="*/ 100188 h 5095933"/>
              <a:gd name="connsiteX5" fmla="*/ 836350 w 12192417"/>
              <a:gd name="connsiteY5" fmla="*/ 132066 h 5095933"/>
              <a:gd name="connsiteX6" fmla="*/ 1076527 w 12192417"/>
              <a:gd name="connsiteY6" fmla="*/ 165696 h 5095933"/>
              <a:gd name="connsiteX7" fmla="*/ 1347183 w 12192417"/>
              <a:gd name="connsiteY7" fmla="*/ 201077 h 5095933"/>
              <a:gd name="connsiteX8" fmla="*/ 1642222 w 12192417"/>
              <a:gd name="connsiteY8" fmla="*/ 238560 h 5095933"/>
              <a:gd name="connsiteX9" fmla="*/ 1962863 w 12192417"/>
              <a:gd name="connsiteY9" fmla="*/ 276043 h 5095933"/>
              <a:gd name="connsiteX10" fmla="*/ 2304231 w 12192417"/>
              <a:gd name="connsiteY10" fmla="*/ 314227 h 5095933"/>
              <a:gd name="connsiteX11" fmla="*/ 2672420 w 12192417"/>
              <a:gd name="connsiteY11" fmla="*/ 349608 h 5095933"/>
              <a:gd name="connsiteX12" fmla="*/ 3057677 w 12192417"/>
              <a:gd name="connsiteY12" fmla="*/ 383588 h 5095933"/>
              <a:gd name="connsiteX13" fmla="*/ 3464880 w 12192417"/>
              <a:gd name="connsiteY13" fmla="*/ 414415 h 5095933"/>
              <a:gd name="connsiteX14" fmla="*/ 3889151 w 12192417"/>
              <a:gd name="connsiteY14" fmla="*/ 443841 h 5095933"/>
              <a:gd name="connsiteX15" fmla="*/ 4331709 w 12192417"/>
              <a:gd name="connsiteY15" fmla="*/ 471515 h 5095933"/>
              <a:gd name="connsiteX16" fmla="*/ 4558475 w 12192417"/>
              <a:gd name="connsiteY16" fmla="*/ 481324 h 5095933"/>
              <a:gd name="connsiteX17" fmla="*/ 4790117 w 12192417"/>
              <a:gd name="connsiteY17" fmla="*/ 492183 h 5095933"/>
              <a:gd name="connsiteX18" fmla="*/ 5025417 w 12192417"/>
              <a:gd name="connsiteY18" fmla="*/ 502342 h 5095933"/>
              <a:gd name="connsiteX19" fmla="*/ 5261936 w 12192417"/>
              <a:gd name="connsiteY19" fmla="*/ 508998 h 5095933"/>
              <a:gd name="connsiteX20" fmla="*/ 5503331 w 12192417"/>
              <a:gd name="connsiteY20" fmla="*/ 514953 h 5095933"/>
              <a:gd name="connsiteX21" fmla="*/ 5747166 w 12192417"/>
              <a:gd name="connsiteY21" fmla="*/ 521259 h 5095933"/>
              <a:gd name="connsiteX22" fmla="*/ 5995876 w 12192417"/>
              <a:gd name="connsiteY22" fmla="*/ 525463 h 5095933"/>
              <a:gd name="connsiteX23" fmla="*/ 6247025 w 12192417"/>
              <a:gd name="connsiteY23" fmla="*/ 525463 h 5095933"/>
              <a:gd name="connsiteX24" fmla="*/ 6500612 w 12192417"/>
              <a:gd name="connsiteY24" fmla="*/ 527565 h 5095933"/>
              <a:gd name="connsiteX25" fmla="*/ 6756638 w 12192417"/>
              <a:gd name="connsiteY25" fmla="*/ 525463 h 5095933"/>
              <a:gd name="connsiteX26" fmla="*/ 7016321 w 12192417"/>
              <a:gd name="connsiteY26" fmla="*/ 521259 h 5095933"/>
              <a:gd name="connsiteX27" fmla="*/ 7276004 w 12192417"/>
              <a:gd name="connsiteY27" fmla="*/ 517406 h 5095933"/>
              <a:gd name="connsiteX28" fmla="*/ 7539344 w 12192417"/>
              <a:gd name="connsiteY28" fmla="*/ 508998 h 5095933"/>
              <a:gd name="connsiteX29" fmla="*/ 7805123 w 12192417"/>
              <a:gd name="connsiteY29" fmla="*/ 500241 h 5095933"/>
              <a:gd name="connsiteX30" fmla="*/ 8070902 w 12192417"/>
              <a:gd name="connsiteY30" fmla="*/ 490082 h 5095933"/>
              <a:gd name="connsiteX31" fmla="*/ 8339120 w 12192417"/>
              <a:gd name="connsiteY31" fmla="*/ 475719 h 5095933"/>
              <a:gd name="connsiteX32" fmla="*/ 8609775 w 12192417"/>
              <a:gd name="connsiteY32" fmla="*/ 458554 h 5095933"/>
              <a:gd name="connsiteX33" fmla="*/ 8881650 w 12192417"/>
              <a:gd name="connsiteY33" fmla="*/ 442089 h 5095933"/>
              <a:gd name="connsiteX34" fmla="*/ 9153525 w 12192417"/>
              <a:gd name="connsiteY34" fmla="*/ 421071 h 5095933"/>
              <a:gd name="connsiteX35" fmla="*/ 9429057 w 12192417"/>
              <a:gd name="connsiteY35" fmla="*/ 395849 h 5095933"/>
              <a:gd name="connsiteX36" fmla="*/ 9700932 w 12192417"/>
              <a:gd name="connsiteY36" fmla="*/ 370626 h 5095933"/>
              <a:gd name="connsiteX37" fmla="*/ 9977683 w 12192417"/>
              <a:gd name="connsiteY37" fmla="*/ 341551 h 5095933"/>
              <a:gd name="connsiteX38" fmla="*/ 10255654 w 12192417"/>
              <a:gd name="connsiteY38" fmla="*/ 309673 h 5095933"/>
              <a:gd name="connsiteX39" fmla="*/ 10529967 w 12192417"/>
              <a:gd name="connsiteY39" fmla="*/ 276043 h 5095933"/>
              <a:gd name="connsiteX40" fmla="*/ 10807938 w 12192417"/>
              <a:gd name="connsiteY40" fmla="*/ 236809 h 5095933"/>
              <a:gd name="connsiteX41" fmla="*/ 11084689 w 12192417"/>
              <a:gd name="connsiteY41" fmla="*/ 194772 h 5095933"/>
              <a:gd name="connsiteX42" fmla="*/ 11362660 w 12192417"/>
              <a:gd name="connsiteY42" fmla="*/ 153085 h 5095933"/>
              <a:gd name="connsiteX43" fmla="*/ 11639411 w 12192417"/>
              <a:gd name="connsiteY43" fmla="*/ 104392 h 5095933"/>
              <a:gd name="connsiteX44" fmla="*/ 11914944 w 12192417"/>
              <a:gd name="connsiteY44" fmla="*/ 54648 h 5095933"/>
              <a:gd name="connsiteX45" fmla="*/ 12191695 w 12192417"/>
              <a:gd name="connsiteY45" fmla="*/ 2452 h 5095933"/>
              <a:gd name="connsiteX46" fmla="*/ 12191695 w 12192417"/>
              <a:gd name="connsiteY46" fmla="*/ 2162231 h 5095933"/>
              <a:gd name="connsiteX47" fmla="*/ 12192417 w 12192417"/>
              <a:gd name="connsiteY47" fmla="*/ 2162231 h 5095933"/>
              <a:gd name="connsiteX48" fmla="*/ 12192417 w 12192417"/>
              <a:gd name="connsiteY48" fmla="*/ 5095933 h 5095933"/>
              <a:gd name="connsiteX49" fmla="*/ 0 w 12192417"/>
              <a:gd name="connsiteY49" fmla="*/ 5095933 h 5095933"/>
              <a:gd name="connsiteX50" fmla="*/ 0 w 12192417"/>
              <a:gd name="connsiteY50" fmla="*/ 2791958 h 5095933"/>
              <a:gd name="connsiteX51" fmla="*/ 0 w 12192417"/>
              <a:gd name="connsiteY51" fmla="*/ 2162231 h 50959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12192417" h="5095933">
                <a:moveTo>
                  <a:pt x="0" y="0"/>
                </a:moveTo>
                <a:lnTo>
                  <a:pt x="71931" y="12261"/>
                </a:lnTo>
                <a:lnTo>
                  <a:pt x="282848" y="48343"/>
                </a:lnTo>
                <a:lnTo>
                  <a:pt x="436463" y="73565"/>
                </a:lnTo>
                <a:lnTo>
                  <a:pt x="619338" y="100188"/>
                </a:lnTo>
                <a:lnTo>
                  <a:pt x="836350" y="132066"/>
                </a:lnTo>
                <a:lnTo>
                  <a:pt x="1076527" y="165696"/>
                </a:lnTo>
                <a:lnTo>
                  <a:pt x="1347183" y="201077"/>
                </a:lnTo>
                <a:lnTo>
                  <a:pt x="1642222" y="238560"/>
                </a:lnTo>
                <a:lnTo>
                  <a:pt x="1962863" y="276043"/>
                </a:lnTo>
                <a:lnTo>
                  <a:pt x="2304231" y="314227"/>
                </a:lnTo>
                <a:lnTo>
                  <a:pt x="2672420" y="349608"/>
                </a:lnTo>
                <a:lnTo>
                  <a:pt x="3057677" y="383588"/>
                </a:lnTo>
                <a:lnTo>
                  <a:pt x="3464880" y="414415"/>
                </a:lnTo>
                <a:lnTo>
                  <a:pt x="3889151" y="443841"/>
                </a:lnTo>
                <a:lnTo>
                  <a:pt x="4331709" y="471515"/>
                </a:lnTo>
                <a:lnTo>
                  <a:pt x="4558475" y="481324"/>
                </a:lnTo>
                <a:lnTo>
                  <a:pt x="4790117" y="492183"/>
                </a:lnTo>
                <a:lnTo>
                  <a:pt x="5025417" y="502342"/>
                </a:lnTo>
                <a:lnTo>
                  <a:pt x="5261936" y="508998"/>
                </a:lnTo>
                <a:lnTo>
                  <a:pt x="5503331" y="514953"/>
                </a:lnTo>
                <a:lnTo>
                  <a:pt x="5747166" y="521259"/>
                </a:lnTo>
                <a:lnTo>
                  <a:pt x="5995876" y="525463"/>
                </a:lnTo>
                <a:lnTo>
                  <a:pt x="6247025" y="525463"/>
                </a:lnTo>
                <a:lnTo>
                  <a:pt x="6500612" y="527565"/>
                </a:lnTo>
                <a:lnTo>
                  <a:pt x="6756638" y="525463"/>
                </a:lnTo>
                <a:lnTo>
                  <a:pt x="7016321" y="521259"/>
                </a:lnTo>
                <a:lnTo>
                  <a:pt x="7276004" y="517406"/>
                </a:lnTo>
                <a:lnTo>
                  <a:pt x="7539344" y="508998"/>
                </a:lnTo>
                <a:lnTo>
                  <a:pt x="7805123" y="500241"/>
                </a:lnTo>
                <a:lnTo>
                  <a:pt x="8070902" y="490082"/>
                </a:lnTo>
                <a:lnTo>
                  <a:pt x="8339120" y="475719"/>
                </a:lnTo>
                <a:lnTo>
                  <a:pt x="8609775" y="458554"/>
                </a:lnTo>
                <a:lnTo>
                  <a:pt x="8881650" y="442089"/>
                </a:lnTo>
                <a:lnTo>
                  <a:pt x="9153525" y="421071"/>
                </a:lnTo>
                <a:lnTo>
                  <a:pt x="9429057" y="395849"/>
                </a:lnTo>
                <a:lnTo>
                  <a:pt x="9700932" y="370626"/>
                </a:lnTo>
                <a:lnTo>
                  <a:pt x="9977683" y="341551"/>
                </a:lnTo>
                <a:lnTo>
                  <a:pt x="10255654" y="309673"/>
                </a:lnTo>
                <a:lnTo>
                  <a:pt x="10529967" y="276043"/>
                </a:lnTo>
                <a:lnTo>
                  <a:pt x="10807938" y="236809"/>
                </a:lnTo>
                <a:lnTo>
                  <a:pt x="11084689" y="194772"/>
                </a:lnTo>
                <a:lnTo>
                  <a:pt x="11362660" y="153085"/>
                </a:lnTo>
                <a:lnTo>
                  <a:pt x="11639411" y="104392"/>
                </a:lnTo>
                <a:lnTo>
                  <a:pt x="11914944" y="54648"/>
                </a:lnTo>
                <a:lnTo>
                  <a:pt x="12191695" y="2452"/>
                </a:lnTo>
                <a:lnTo>
                  <a:pt x="12191695" y="2162231"/>
                </a:lnTo>
                <a:lnTo>
                  <a:pt x="12192417" y="2162231"/>
                </a:lnTo>
                <a:lnTo>
                  <a:pt x="12192417" y="5095933"/>
                </a:lnTo>
                <a:lnTo>
                  <a:pt x="0" y="5095933"/>
                </a:lnTo>
                <a:lnTo>
                  <a:pt x="0" y="2791958"/>
                </a:lnTo>
                <a:lnTo>
                  <a:pt x="0" y="2162231"/>
                </a:lnTo>
                <a:close/>
              </a:path>
            </a:pathLst>
          </a:custGeom>
          <a:ln>
            <a:noFill/>
          </a:ln>
        </p:spPr>
        <p:txBody>
          <a:bodyPr/>
          <a:lstStyle/>
          <a:p>
            <a:endParaRPr lang="en-CA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E2CD1DC-3C20-6697-18AA-EB2A225AC8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03312" y="452718"/>
            <a:ext cx="8947522" cy="1400530"/>
          </a:xfrm>
        </p:spPr>
        <p:txBody>
          <a:bodyPr anchor="ctr">
            <a:normAutofit/>
          </a:bodyPr>
          <a:lstStyle/>
          <a:p>
            <a:r>
              <a:rPr lang="en-CA" dirty="0">
                <a:solidFill>
                  <a:srgbClr val="FFFFFF"/>
                </a:solidFill>
              </a:rPr>
              <a:t>Data Limitations and Future Work</a:t>
            </a:r>
          </a:p>
        </p:txBody>
      </p:sp>
      <p:graphicFrame>
        <p:nvGraphicFramePr>
          <p:cNvPr id="15" name="Content Placeholder 2">
            <a:extLst>
              <a:ext uri="{FF2B5EF4-FFF2-40B4-BE49-F238E27FC236}">
                <a16:creationId xmlns:a16="http://schemas.microsoft.com/office/drawing/2014/main" id="{B75C7B30-B867-010A-1A7E-9BC70C1D09A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054351224"/>
              </p:ext>
              <p:ext uri="{E7BDC344-281C-4309-B0C6-D0EE65EED2A8}">
                <p202:designPr xmlns:p202="http://schemas.microsoft.com/office/powerpoint/2020/02/main">
                  <p202:designTagLst>
                    <p202:designTag name="ARCH:1:CLS" val="InformationBlock"/>
                    <p202:designTag name="ARCH:1:VSVAR" val="TitledTextBox"/>
                  </p202:designTagLst>
                </p202:designPr>
              </p:ext>
            </p:extLst>
          </p:nvPr>
        </p:nvGraphicFramePr>
        <p:xfrm>
          <a:off x="1103312" y="2625775"/>
          <a:ext cx="8946541" cy="224123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3" name="Content Placeholder 2">
            <a:extLst>
              <a:ext uri="{FF2B5EF4-FFF2-40B4-BE49-F238E27FC236}">
                <a16:creationId xmlns:a16="http://schemas.microsoft.com/office/drawing/2014/main" id="{91CCBCF1-C129-C518-DF69-AC27CFE7F5FE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880553143"/>
              </p:ext>
              <p:ext uri="{E7BDC344-281C-4309-B0C6-D0EE65EED2A8}">
                <p202:designPr xmlns:p202="http://schemas.microsoft.com/office/powerpoint/2020/02/main">
                  <p202:designTagLst>
                    <p202:designTag name="ARCH:1:CLS" val="InformationBlock"/>
                    <p202:designTag name="ARCH:1:VSVAR" val="TitledTextBox"/>
                  </p202:designTagLst>
                </p202:designPr>
              </p:ext>
            </p:extLst>
          </p:nvPr>
        </p:nvGraphicFramePr>
        <p:xfrm>
          <a:off x="1103311" y="4914413"/>
          <a:ext cx="8946541" cy="171466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</p:spTree>
    <p:extLst>
      <p:ext uri="{BB962C8B-B14F-4D97-AF65-F5344CB8AC3E}">
        <p14:creationId xmlns:p14="http://schemas.microsoft.com/office/powerpoint/2010/main" val="411048618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69000"/>
                <a:hueMod val="108000"/>
                <a:satMod val="164000"/>
                <a:lumMod val="74000"/>
              </a:schemeClr>
              <a:schemeClr val="bg2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DF19BAF3-7E20-4B9D-B544-BABAEEA1FA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950648F4-ABCD-4DF0-8641-76CFB23547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3" name="Oval 12">
            <a:extLst>
              <a:ext uri="{FF2B5EF4-FFF2-40B4-BE49-F238E27FC236}">
                <a16:creationId xmlns:a16="http://schemas.microsoft.com/office/drawing/2014/main" id="{989BE678-777B-482A-A616-FEDC47B162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CA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CF1EB4BD-9C7E-4AA3-9681-C7EB0DA625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94AAE3AA-3759-4D28-B0EF-575F25A514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9" name="Rectangle 18">
            <a:extLst>
              <a:ext uri="{FF2B5EF4-FFF2-40B4-BE49-F238E27FC236}">
                <a16:creationId xmlns:a16="http://schemas.microsoft.com/office/drawing/2014/main" id="{D28BE0C3-2102-4820-B88B-A448B1840D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CA"/>
          </a:p>
        </p:txBody>
      </p:sp>
      <p:pic>
        <p:nvPicPr>
          <p:cNvPr id="5" name="Picture 4" descr="Close-up of hopscotch on a sidewalk">
            <a:extLst>
              <a:ext uri="{FF2B5EF4-FFF2-40B4-BE49-F238E27FC236}">
                <a16:creationId xmlns:a16="http://schemas.microsoft.com/office/drawing/2014/main" id="{D11A20D4-2866-2785-5461-1574D11872B2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t="18387" r="-1" b="19923"/>
          <a:stretch>
            <a:fillRect/>
          </a:stretch>
        </p:blipFill>
        <p:spPr>
          <a:xfrm>
            <a:off x="1" y="-5"/>
            <a:ext cx="12191695" cy="5020241"/>
          </a:xfrm>
          <a:custGeom>
            <a:avLst/>
            <a:gdLst/>
            <a:ahLst/>
            <a:cxnLst/>
            <a:rect l="l" t="t" r="r" b="b"/>
            <a:pathLst>
              <a:path w="12191695" h="5020241">
                <a:moveTo>
                  <a:pt x="0" y="0"/>
                </a:moveTo>
                <a:lnTo>
                  <a:pt x="12191695" y="0"/>
                </a:lnTo>
                <a:lnTo>
                  <a:pt x="12191695" y="4057991"/>
                </a:lnTo>
                <a:lnTo>
                  <a:pt x="11914945" y="4110187"/>
                </a:lnTo>
                <a:lnTo>
                  <a:pt x="11639412" y="4159931"/>
                </a:lnTo>
                <a:lnTo>
                  <a:pt x="11362661" y="4208624"/>
                </a:lnTo>
                <a:lnTo>
                  <a:pt x="11084690" y="4250310"/>
                </a:lnTo>
                <a:lnTo>
                  <a:pt x="10807939" y="4292347"/>
                </a:lnTo>
                <a:lnTo>
                  <a:pt x="10529968" y="4331582"/>
                </a:lnTo>
                <a:lnTo>
                  <a:pt x="10255655" y="4365211"/>
                </a:lnTo>
                <a:lnTo>
                  <a:pt x="9977684" y="4397089"/>
                </a:lnTo>
                <a:lnTo>
                  <a:pt x="9700933" y="4426165"/>
                </a:lnTo>
                <a:lnTo>
                  <a:pt x="9429058" y="4451387"/>
                </a:lnTo>
                <a:lnTo>
                  <a:pt x="9153526" y="4476609"/>
                </a:lnTo>
                <a:lnTo>
                  <a:pt x="8881651" y="4497628"/>
                </a:lnTo>
                <a:lnTo>
                  <a:pt x="8609776" y="4514092"/>
                </a:lnTo>
                <a:lnTo>
                  <a:pt x="8339121" y="4531258"/>
                </a:lnTo>
                <a:lnTo>
                  <a:pt x="8070903" y="4545620"/>
                </a:lnTo>
                <a:lnTo>
                  <a:pt x="7805124" y="4555779"/>
                </a:lnTo>
                <a:lnTo>
                  <a:pt x="7539345" y="4564537"/>
                </a:lnTo>
                <a:lnTo>
                  <a:pt x="7276005" y="4572944"/>
                </a:lnTo>
                <a:lnTo>
                  <a:pt x="7016322" y="4576798"/>
                </a:lnTo>
                <a:lnTo>
                  <a:pt x="6756639" y="4581001"/>
                </a:lnTo>
                <a:lnTo>
                  <a:pt x="6500613" y="4583103"/>
                </a:lnTo>
                <a:lnTo>
                  <a:pt x="6247026" y="4581001"/>
                </a:lnTo>
                <a:lnTo>
                  <a:pt x="5995877" y="4581001"/>
                </a:lnTo>
                <a:lnTo>
                  <a:pt x="5747167" y="4576798"/>
                </a:lnTo>
                <a:lnTo>
                  <a:pt x="5503333" y="4570492"/>
                </a:lnTo>
                <a:lnTo>
                  <a:pt x="5261938" y="4564537"/>
                </a:lnTo>
                <a:lnTo>
                  <a:pt x="5025418" y="4557881"/>
                </a:lnTo>
                <a:lnTo>
                  <a:pt x="4790118" y="4547722"/>
                </a:lnTo>
                <a:lnTo>
                  <a:pt x="4558477" y="4536862"/>
                </a:lnTo>
                <a:lnTo>
                  <a:pt x="4331710" y="4527054"/>
                </a:lnTo>
                <a:lnTo>
                  <a:pt x="3889152" y="4499379"/>
                </a:lnTo>
                <a:lnTo>
                  <a:pt x="3464881" y="4469954"/>
                </a:lnTo>
                <a:lnTo>
                  <a:pt x="3057678" y="4439126"/>
                </a:lnTo>
                <a:lnTo>
                  <a:pt x="2672421" y="4405147"/>
                </a:lnTo>
                <a:lnTo>
                  <a:pt x="2304232" y="4369765"/>
                </a:lnTo>
                <a:lnTo>
                  <a:pt x="1962864" y="4331582"/>
                </a:lnTo>
                <a:lnTo>
                  <a:pt x="1642223" y="4294099"/>
                </a:lnTo>
                <a:lnTo>
                  <a:pt x="1347183" y="4256616"/>
                </a:lnTo>
                <a:lnTo>
                  <a:pt x="1076528" y="4221235"/>
                </a:lnTo>
                <a:lnTo>
                  <a:pt x="836351" y="4187605"/>
                </a:lnTo>
                <a:lnTo>
                  <a:pt x="619339" y="4155727"/>
                </a:lnTo>
                <a:lnTo>
                  <a:pt x="436464" y="4129104"/>
                </a:lnTo>
                <a:lnTo>
                  <a:pt x="282848" y="4103881"/>
                </a:lnTo>
                <a:lnTo>
                  <a:pt x="71932" y="4067800"/>
                </a:lnTo>
                <a:lnTo>
                  <a:pt x="1" y="4055539"/>
                </a:lnTo>
                <a:lnTo>
                  <a:pt x="1" y="5020241"/>
                </a:lnTo>
                <a:lnTo>
                  <a:pt x="0" y="5020241"/>
                </a:lnTo>
                <a:close/>
              </a:path>
            </a:pathLst>
          </a:custGeom>
        </p:spPr>
      </p:pic>
      <p:sp>
        <p:nvSpPr>
          <p:cNvPr id="21" name="Freeform 16">
            <a:extLst>
              <a:ext uri="{FF2B5EF4-FFF2-40B4-BE49-F238E27FC236}">
                <a16:creationId xmlns:a16="http://schemas.microsoft.com/office/drawing/2014/main" id="{E4F17063-EDA4-417B-946F-BA357F3B39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719939" y="3753695"/>
            <a:ext cx="3472060" cy="825932"/>
          </a:xfrm>
          <a:custGeom>
            <a:avLst/>
            <a:gdLst>
              <a:gd name="connsiteX0" fmla="*/ 3470310 w 3472060"/>
              <a:gd name="connsiteY0" fmla="*/ 0 h 825932"/>
              <a:gd name="connsiteX1" fmla="*/ 3472060 w 3472060"/>
              <a:gd name="connsiteY1" fmla="*/ 12850 h 825932"/>
              <a:gd name="connsiteX2" fmla="*/ 3472060 w 3472060"/>
              <a:gd name="connsiteY2" fmla="*/ 480529 h 825932"/>
              <a:gd name="connsiteX3" fmla="*/ 3363699 w 3472060"/>
              <a:gd name="connsiteY3" fmla="*/ 498471 h 825932"/>
              <a:gd name="connsiteX4" fmla="*/ 42060 w 3472060"/>
              <a:gd name="connsiteY4" fmla="*/ 824486 h 825932"/>
              <a:gd name="connsiteX5" fmla="*/ 0 w 3472060"/>
              <a:gd name="connsiteY5" fmla="*/ 758452 h 825932"/>
              <a:gd name="connsiteX6" fmla="*/ 188014 w 3472060"/>
              <a:gd name="connsiteY6" fmla="*/ 735602 h 825932"/>
              <a:gd name="connsiteX7" fmla="*/ 284087 w 3472060"/>
              <a:gd name="connsiteY7" fmla="*/ 722590 h 825932"/>
              <a:gd name="connsiteX8" fmla="*/ 382288 w 3472060"/>
              <a:gd name="connsiteY8" fmla="*/ 709392 h 825932"/>
              <a:gd name="connsiteX9" fmla="*/ 481858 w 3472060"/>
              <a:gd name="connsiteY9" fmla="*/ 695774 h 825932"/>
              <a:gd name="connsiteX10" fmla="*/ 581897 w 3472060"/>
              <a:gd name="connsiteY10" fmla="*/ 680711 h 825932"/>
              <a:gd name="connsiteX11" fmla="*/ 683670 w 3472060"/>
              <a:gd name="connsiteY11" fmla="*/ 665256 h 825932"/>
              <a:gd name="connsiteX12" fmla="*/ 787206 w 3472060"/>
              <a:gd name="connsiteY12" fmla="*/ 649587 h 825932"/>
              <a:gd name="connsiteX13" fmla="*/ 892019 w 3472060"/>
              <a:gd name="connsiteY13" fmla="*/ 632968 h 825932"/>
              <a:gd name="connsiteX14" fmla="*/ 997620 w 3472060"/>
              <a:gd name="connsiteY14" fmla="*/ 614667 h 825932"/>
              <a:gd name="connsiteX15" fmla="*/ 1104727 w 3472060"/>
              <a:gd name="connsiteY15" fmla="*/ 596741 h 825932"/>
              <a:gd name="connsiteX16" fmla="*/ 1212669 w 3472060"/>
              <a:gd name="connsiteY16" fmla="*/ 577397 h 825932"/>
              <a:gd name="connsiteX17" fmla="*/ 1321506 w 3472060"/>
              <a:gd name="connsiteY17" fmla="*/ 556988 h 825932"/>
              <a:gd name="connsiteX18" fmla="*/ 1430709 w 3472060"/>
              <a:gd name="connsiteY18" fmla="*/ 536607 h 825932"/>
              <a:gd name="connsiteX19" fmla="*/ 1541050 w 3472060"/>
              <a:gd name="connsiteY19" fmla="*/ 514481 h 825932"/>
              <a:gd name="connsiteX20" fmla="*/ 1652805 w 3472060"/>
              <a:gd name="connsiteY20" fmla="*/ 492202 h 825932"/>
              <a:gd name="connsiteX21" fmla="*/ 1763708 w 3472060"/>
              <a:gd name="connsiteY21" fmla="*/ 469161 h 825932"/>
              <a:gd name="connsiteX22" fmla="*/ 1875795 w 3472060"/>
              <a:gd name="connsiteY22" fmla="*/ 444641 h 825932"/>
              <a:gd name="connsiteX23" fmla="*/ 1989128 w 3472060"/>
              <a:gd name="connsiteY23" fmla="*/ 418995 h 825932"/>
              <a:gd name="connsiteX24" fmla="*/ 2102476 w 3472060"/>
              <a:gd name="connsiteY24" fmla="*/ 393438 h 825932"/>
              <a:gd name="connsiteX25" fmla="*/ 2215549 w 3472060"/>
              <a:gd name="connsiteY25" fmla="*/ 366291 h 825932"/>
              <a:gd name="connsiteX26" fmla="*/ 2330490 w 3472060"/>
              <a:gd name="connsiteY26" fmla="*/ 337455 h 825932"/>
              <a:gd name="connsiteX27" fmla="*/ 2443333 w 3472060"/>
              <a:gd name="connsiteY27" fmla="*/ 308983 h 825932"/>
              <a:gd name="connsiteX28" fmla="*/ 2558014 w 3472060"/>
              <a:gd name="connsiteY28" fmla="*/ 278646 h 825932"/>
              <a:gd name="connsiteX29" fmla="*/ 2673621 w 3472060"/>
              <a:gd name="connsiteY29" fmla="*/ 247421 h 825932"/>
              <a:gd name="connsiteX30" fmla="*/ 2787008 w 3472060"/>
              <a:gd name="connsiteY30" fmla="*/ 215853 h 825932"/>
              <a:gd name="connsiteX31" fmla="*/ 2901442 w 3472060"/>
              <a:gd name="connsiteY31" fmla="*/ 182011 h 825932"/>
              <a:gd name="connsiteX32" fmla="*/ 3015722 w 3472060"/>
              <a:gd name="connsiteY32" fmla="*/ 147286 h 825932"/>
              <a:gd name="connsiteX33" fmla="*/ 3130018 w 3472060"/>
              <a:gd name="connsiteY33" fmla="*/ 112649 h 825932"/>
              <a:gd name="connsiteX34" fmla="*/ 3243551 w 3472060"/>
              <a:gd name="connsiteY34" fmla="*/ 75688 h 825932"/>
              <a:gd name="connsiteX35" fmla="*/ 3356992 w 3472060"/>
              <a:gd name="connsiteY35" fmla="*/ 38197 h 825932"/>
              <a:gd name="connsiteX36" fmla="*/ 3470310 w 3472060"/>
              <a:gd name="connsiteY36" fmla="*/ 0 h 8259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</a:cxnLst>
            <a:rect l="l" t="t" r="r" b="b"/>
            <a:pathLst>
              <a:path w="3472060" h="825932">
                <a:moveTo>
                  <a:pt x="3470310" y="0"/>
                </a:moveTo>
                <a:lnTo>
                  <a:pt x="3472060" y="12850"/>
                </a:lnTo>
                <a:lnTo>
                  <a:pt x="3472060" y="480529"/>
                </a:lnTo>
                <a:lnTo>
                  <a:pt x="3363699" y="498471"/>
                </a:lnTo>
                <a:cubicBezTo>
                  <a:pt x="2435623" y="645518"/>
                  <a:pt x="603076" y="844866"/>
                  <a:pt x="42060" y="824486"/>
                </a:cubicBezTo>
                <a:cubicBezTo>
                  <a:pt x="28151" y="802425"/>
                  <a:pt x="13909" y="780513"/>
                  <a:pt x="0" y="758452"/>
                </a:cubicBezTo>
                <a:lnTo>
                  <a:pt x="188014" y="735602"/>
                </a:lnTo>
                <a:lnTo>
                  <a:pt x="284087" y="722590"/>
                </a:lnTo>
                <a:lnTo>
                  <a:pt x="382288" y="709392"/>
                </a:lnTo>
                <a:lnTo>
                  <a:pt x="481858" y="695774"/>
                </a:lnTo>
                <a:lnTo>
                  <a:pt x="581897" y="680711"/>
                </a:lnTo>
                <a:lnTo>
                  <a:pt x="683670" y="665256"/>
                </a:lnTo>
                <a:lnTo>
                  <a:pt x="787206" y="649587"/>
                </a:lnTo>
                <a:lnTo>
                  <a:pt x="892019" y="632968"/>
                </a:lnTo>
                <a:lnTo>
                  <a:pt x="997620" y="614667"/>
                </a:lnTo>
                <a:lnTo>
                  <a:pt x="1104727" y="596741"/>
                </a:lnTo>
                <a:lnTo>
                  <a:pt x="1212669" y="577397"/>
                </a:lnTo>
                <a:lnTo>
                  <a:pt x="1321506" y="556988"/>
                </a:lnTo>
                <a:lnTo>
                  <a:pt x="1430709" y="536607"/>
                </a:lnTo>
                <a:lnTo>
                  <a:pt x="1541050" y="514481"/>
                </a:lnTo>
                <a:lnTo>
                  <a:pt x="1652805" y="492202"/>
                </a:lnTo>
                <a:lnTo>
                  <a:pt x="1763708" y="469161"/>
                </a:lnTo>
                <a:lnTo>
                  <a:pt x="1875795" y="444641"/>
                </a:lnTo>
                <a:lnTo>
                  <a:pt x="1989128" y="418995"/>
                </a:lnTo>
                <a:lnTo>
                  <a:pt x="2102476" y="393438"/>
                </a:lnTo>
                <a:lnTo>
                  <a:pt x="2215549" y="366291"/>
                </a:lnTo>
                <a:lnTo>
                  <a:pt x="2330490" y="337455"/>
                </a:lnTo>
                <a:lnTo>
                  <a:pt x="2443333" y="308983"/>
                </a:lnTo>
                <a:lnTo>
                  <a:pt x="2558014" y="278646"/>
                </a:lnTo>
                <a:lnTo>
                  <a:pt x="2673621" y="247421"/>
                </a:lnTo>
                <a:lnTo>
                  <a:pt x="2787008" y="215853"/>
                </a:lnTo>
                <a:lnTo>
                  <a:pt x="2901442" y="182011"/>
                </a:lnTo>
                <a:lnTo>
                  <a:pt x="3015722" y="147286"/>
                </a:lnTo>
                <a:lnTo>
                  <a:pt x="3130018" y="112649"/>
                </a:lnTo>
                <a:lnTo>
                  <a:pt x="3243551" y="75688"/>
                </a:lnTo>
                <a:lnTo>
                  <a:pt x="3356992" y="38197"/>
                </a:lnTo>
                <a:lnTo>
                  <a:pt x="3470310" y="0"/>
                </a:lnTo>
                <a:close/>
              </a:path>
            </a:pathLst>
          </a:custGeom>
          <a:solidFill>
            <a:schemeClr val="tx2">
              <a:alpha val="4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D36F3EEA-55D4-4677-80E7-92D00B8F34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4055533"/>
            <a:ext cx="12192000" cy="2802467"/>
          </a:xfrm>
          <a:custGeom>
            <a:avLst/>
            <a:gdLst>
              <a:gd name="connsiteX0" fmla="*/ 1 w 12192000"/>
              <a:gd name="connsiteY0" fmla="*/ 0 h 2802467"/>
              <a:gd name="connsiteX1" fmla="*/ 71932 w 12192000"/>
              <a:gd name="connsiteY1" fmla="*/ 12261 h 2802467"/>
              <a:gd name="connsiteX2" fmla="*/ 282848 w 12192000"/>
              <a:gd name="connsiteY2" fmla="*/ 48342 h 2802467"/>
              <a:gd name="connsiteX3" fmla="*/ 436464 w 12192000"/>
              <a:gd name="connsiteY3" fmla="*/ 73565 h 2802467"/>
              <a:gd name="connsiteX4" fmla="*/ 619339 w 12192000"/>
              <a:gd name="connsiteY4" fmla="*/ 100188 h 2802467"/>
              <a:gd name="connsiteX5" fmla="*/ 836351 w 12192000"/>
              <a:gd name="connsiteY5" fmla="*/ 132066 h 2802467"/>
              <a:gd name="connsiteX6" fmla="*/ 1076528 w 12192000"/>
              <a:gd name="connsiteY6" fmla="*/ 165696 h 2802467"/>
              <a:gd name="connsiteX7" fmla="*/ 1347183 w 12192000"/>
              <a:gd name="connsiteY7" fmla="*/ 201077 h 2802467"/>
              <a:gd name="connsiteX8" fmla="*/ 1642223 w 12192000"/>
              <a:gd name="connsiteY8" fmla="*/ 238560 h 2802467"/>
              <a:gd name="connsiteX9" fmla="*/ 1962864 w 12192000"/>
              <a:gd name="connsiteY9" fmla="*/ 276043 h 2802467"/>
              <a:gd name="connsiteX10" fmla="*/ 2304232 w 12192000"/>
              <a:gd name="connsiteY10" fmla="*/ 314226 h 2802467"/>
              <a:gd name="connsiteX11" fmla="*/ 2672421 w 12192000"/>
              <a:gd name="connsiteY11" fmla="*/ 349608 h 2802467"/>
              <a:gd name="connsiteX12" fmla="*/ 3057678 w 12192000"/>
              <a:gd name="connsiteY12" fmla="*/ 383587 h 2802467"/>
              <a:gd name="connsiteX13" fmla="*/ 3464881 w 12192000"/>
              <a:gd name="connsiteY13" fmla="*/ 414415 h 2802467"/>
              <a:gd name="connsiteX14" fmla="*/ 3889152 w 12192000"/>
              <a:gd name="connsiteY14" fmla="*/ 443840 h 2802467"/>
              <a:gd name="connsiteX15" fmla="*/ 4331710 w 12192000"/>
              <a:gd name="connsiteY15" fmla="*/ 471515 h 2802467"/>
              <a:gd name="connsiteX16" fmla="*/ 4558476 w 12192000"/>
              <a:gd name="connsiteY16" fmla="*/ 481323 h 2802467"/>
              <a:gd name="connsiteX17" fmla="*/ 4790118 w 12192000"/>
              <a:gd name="connsiteY17" fmla="*/ 492183 h 2802467"/>
              <a:gd name="connsiteX18" fmla="*/ 5025418 w 12192000"/>
              <a:gd name="connsiteY18" fmla="*/ 502342 h 2802467"/>
              <a:gd name="connsiteX19" fmla="*/ 5261937 w 12192000"/>
              <a:gd name="connsiteY19" fmla="*/ 508998 h 2802467"/>
              <a:gd name="connsiteX20" fmla="*/ 5503332 w 12192000"/>
              <a:gd name="connsiteY20" fmla="*/ 514953 h 2802467"/>
              <a:gd name="connsiteX21" fmla="*/ 5747166 w 12192000"/>
              <a:gd name="connsiteY21" fmla="*/ 521259 h 2802467"/>
              <a:gd name="connsiteX22" fmla="*/ 5995877 w 12192000"/>
              <a:gd name="connsiteY22" fmla="*/ 525462 h 2802467"/>
              <a:gd name="connsiteX23" fmla="*/ 6247026 w 12192000"/>
              <a:gd name="connsiteY23" fmla="*/ 525462 h 2802467"/>
              <a:gd name="connsiteX24" fmla="*/ 6500613 w 12192000"/>
              <a:gd name="connsiteY24" fmla="*/ 527564 h 2802467"/>
              <a:gd name="connsiteX25" fmla="*/ 6756639 w 12192000"/>
              <a:gd name="connsiteY25" fmla="*/ 525462 h 2802467"/>
              <a:gd name="connsiteX26" fmla="*/ 7016322 w 12192000"/>
              <a:gd name="connsiteY26" fmla="*/ 521259 h 2802467"/>
              <a:gd name="connsiteX27" fmla="*/ 7276005 w 12192000"/>
              <a:gd name="connsiteY27" fmla="*/ 517405 h 2802467"/>
              <a:gd name="connsiteX28" fmla="*/ 7539345 w 12192000"/>
              <a:gd name="connsiteY28" fmla="*/ 508998 h 2802467"/>
              <a:gd name="connsiteX29" fmla="*/ 7805124 w 12192000"/>
              <a:gd name="connsiteY29" fmla="*/ 500240 h 2802467"/>
              <a:gd name="connsiteX30" fmla="*/ 8070903 w 12192000"/>
              <a:gd name="connsiteY30" fmla="*/ 490081 h 2802467"/>
              <a:gd name="connsiteX31" fmla="*/ 8339121 w 12192000"/>
              <a:gd name="connsiteY31" fmla="*/ 475719 h 2802467"/>
              <a:gd name="connsiteX32" fmla="*/ 8609776 w 12192000"/>
              <a:gd name="connsiteY32" fmla="*/ 458553 h 2802467"/>
              <a:gd name="connsiteX33" fmla="*/ 8881651 w 12192000"/>
              <a:gd name="connsiteY33" fmla="*/ 442089 h 2802467"/>
              <a:gd name="connsiteX34" fmla="*/ 9153526 w 12192000"/>
              <a:gd name="connsiteY34" fmla="*/ 421070 h 2802467"/>
              <a:gd name="connsiteX35" fmla="*/ 9429058 w 12192000"/>
              <a:gd name="connsiteY35" fmla="*/ 395848 h 2802467"/>
              <a:gd name="connsiteX36" fmla="*/ 9700933 w 12192000"/>
              <a:gd name="connsiteY36" fmla="*/ 370626 h 2802467"/>
              <a:gd name="connsiteX37" fmla="*/ 9977684 w 12192000"/>
              <a:gd name="connsiteY37" fmla="*/ 341550 h 2802467"/>
              <a:gd name="connsiteX38" fmla="*/ 10255655 w 12192000"/>
              <a:gd name="connsiteY38" fmla="*/ 309672 h 2802467"/>
              <a:gd name="connsiteX39" fmla="*/ 10529968 w 12192000"/>
              <a:gd name="connsiteY39" fmla="*/ 276043 h 2802467"/>
              <a:gd name="connsiteX40" fmla="*/ 10807939 w 12192000"/>
              <a:gd name="connsiteY40" fmla="*/ 236808 h 2802467"/>
              <a:gd name="connsiteX41" fmla="*/ 11084690 w 12192000"/>
              <a:gd name="connsiteY41" fmla="*/ 194771 h 2802467"/>
              <a:gd name="connsiteX42" fmla="*/ 11362661 w 12192000"/>
              <a:gd name="connsiteY42" fmla="*/ 153085 h 2802467"/>
              <a:gd name="connsiteX43" fmla="*/ 11639412 w 12192000"/>
              <a:gd name="connsiteY43" fmla="*/ 104392 h 2802467"/>
              <a:gd name="connsiteX44" fmla="*/ 11914945 w 12192000"/>
              <a:gd name="connsiteY44" fmla="*/ 54648 h 2802467"/>
              <a:gd name="connsiteX45" fmla="*/ 12191696 w 12192000"/>
              <a:gd name="connsiteY45" fmla="*/ 2452 h 2802467"/>
              <a:gd name="connsiteX46" fmla="*/ 12191696 w 12192000"/>
              <a:gd name="connsiteY46" fmla="*/ 2236410 h 2802467"/>
              <a:gd name="connsiteX47" fmla="*/ 12192000 w 12192000"/>
              <a:gd name="connsiteY47" fmla="*/ 2236410 h 2802467"/>
              <a:gd name="connsiteX48" fmla="*/ 12192000 w 12192000"/>
              <a:gd name="connsiteY48" fmla="*/ 2802467 h 2802467"/>
              <a:gd name="connsiteX49" fmla="*/ 12191696 w 12192000"/>
              <a:gd name="connsiteY49" fmla="*/ 2802467 h 2802467"/>
              <a:gd name="connsiteX50" fmla="*/ 0 w 12192000"/>
              <a:gd name="connsiteY50" fmla="*/ 2802467 h 2802467"/>
              <a:gd name="connsiteX51" fmla="*/ 0 w 12192000"/>
              <a:gd name="connsiteY51" fmla="*/ 2236410 h 2802467"/>
              <a:gd name="connsiteX52" fmla="*/ 1 w 12192000"/>
              <a:gd name="connsiteY52" fmla="*/ 2236410 h 28024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</a:cxnLst>
            <a:rect l="l" t="t" r="r" b="b"/>
            <a:pathLst>
              <a:path w="12192000" h="2802467">
                <a:moveTo>
                  <a:pt x="1" y="0"/>
                </a:moveTo>
                <a:lnTo>
                  <a:pt x="71932" y="12261"/>
                </a:lnTo>
                <a:lnTo>
                  <a:pt x="282848" y="48342"/>
                </a:lnTo>
                <a:lnTo>
                  <a:pt x="436464" y="73565"/>
                </a:lnTo>
                <a:lnTo>
                  <a:pt x="619339" y="100188"/>
                </a:lnTo>
                <a:lnTo>
                  <a:pt x="836351" y="132066"/>
                </a:lnTo>
                <a:lnTo>
                  <a:pt x="1076528" y="165696"/>
                </a:lnTo>
                <a:lnTo>
                  <a:pt x="1347183" y="201077"/>
                </a:lnTo>
                <a:lnTo>
                  <a:pt x="1642223" y="238560"/>
                </a:lnTo>
                <a:lnTo>
                  <a:pt x="1962864" y="276043"/>
                </a:lnTo>
                <a:lnTo>
                  <a:pt x="2304232" y="314226"/>
                </a:lnTo>
                <a:lnTo>
                  <a:pt x="2672421" y="349608"/>
                </a:lnTo>
                <a:lnTo>
                  <a:pt x="3057678" y="383587"/>
                </a:lnTo>
                <a:lnTo>
                  <a:pt x="3464881" y="414415"/>
                </a:lnTo>
                <a:lnTo>
                  <a:pt x="3889152" y="443840"/>
                </a:lnTo>
                <a:lnTo>
                  <a:pt x="4331710" y="471515"/>
                </a:lnTo>
                <a:lnTo>
                  <a:pt x="4558476" y="481323"/>
                </a:lnTo>
                <a:lnTo>
                  <a:pt x="4790118" y="492183"/>
                </a:lnTo>
                <a:lnTo>
                  <a:pt x="5025418" y="502342"/>
                </a:lnTo>
                <a:lnTo>
                  <a:pt x="5261937" y="508998"/>
                </a:lnTo>
                <a:lnTo>
                  <a:pt x="5503332" y="514953"/>
                </a:lnTo>
                <a:lnTo>
                  <a:pt x="5747166" y="521259"/>
                </a:lnTo>
                <a:lnTo>
                  <a:pt x="5995877" y="525462"/>
                </a:lnTo>
                <a:lnTo>
                  <a:pt x="6247026" y="525462"/>
                </a:lnTo>
                <a:lnTo>
                  <a:pt x="6500613" y="527564"/>
                </a:lnTo>
                <a:lnTo>
                  <a:pt x="6756639" y="525462"/>
                </a:lnTo>
                <a:lnTo>
                  <a:pt x="7016322" y="521259"/>
                </a:lnTo>
                <a:lnTo>
                  <a:pt x="7276005" y="517405"/>
                </a:lnTo>
                <a:lnTo>
                  <a:pt x="7539345" y="508998"/>
                </a:lnTo>
                <a:lnTo>
                  <a:pt x="7805124" y="500240"/>
                </a:lnTo>
                <a:lnTo>
                  <a:pt x="8070903" y="490081"/>
                </a:lnTo>
                <a:lnTo>
                  <a:pt x="8339121" y="475719"/>
                </a:lnTo>
                <a:lnTo>
                  <a:pt x="8609776" y="458553"/>
                </a:lnTo>
                <a:lnTo>
                  <a:pt x="8881651" y="442089"/>
                </a:lnTo>
                <a:lnTo>
                  <a:pt x="9153526" y="421070"/>
                </a:lnTo>
                <a:lnTo>
                  <a:pt x="9429058" y="395848"/>
                </a:lnTo>
                <a:lnTo>
                  <a:pt x="9700933" y="370626"/>
                </a:lnTo>
                <a:lnTo>
                  <a:pt x="9977684" y="341550"/>
                </a:lnTo>
                <a:lnTo>
                  <a:pt x="10255655" y="309672"/>
                </a:lnTo>
                <a:lnTo>
                  <a:pt x="10529968" y="276043"/>
                </a:lnTo>
                <a:lnTo>
                  <a:pt x="10807939" y="236808"/>
                </a:lnTo>
                <a:lnTo>
                  <a:pt x="11084690" y="194771"/>
                </a:lnTo>
                <a:lnTo>
                  <a:pt x="11362661" y="153085"/>
                </a:lnTo>
                <a:lnTo>
                  <a:pt x="11639412" y="104392"/>
                </a:lnTo>
                <a:lnTo>
                  <a:pt x="11914945" y="54648"/>
                </a:lnTo>
                <a:lnTo>
                  <a:pt x="12191696" y="2452"/>
                </a:lnTo>
                <a:lnTo>
                  <a:pt x="12191696" y="2236410"/>
                </a:lnTo>
                <a:lnTo>
                  <a:pt x="12192000" y="2236410"/>
                </a:lnTo>
                <a:lnTo>
                  <a:pt x="12192000" y="2802467"/>
                </a:lnTo>
                <a:lnTo>
                  <a:pt x="12191696" y="2802467"/>
                </a:lnTo>
                <a:lnTo>
                  <a:pt x="0" y="2802467"/>
                </a:lnTo>
                <a:lnTo>
                  <a:pt x="0" y="2236410"/>
                </a:lnTo>
                <a:lnTo>
                  <a:pt x="1" y="2236410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B4ED1E2-44AD-0CC4-3A13-95D8C58FFE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6916" y="4854346"/>
            <a:ext cx="10407602" cy="868026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800">
                <a:solidFill>
                  <a:srgbClr val="EBEBEB"/>
                </a:solidFill>
              </a:rPr>
              <a:t>THE END</a:t>
            </a:r>
          </a:p>
        </p:txBody>
      </p:sp>
    </p:spTree>
    <p:extLst>
      <p:ext uri="{BB962C8B-B14F-4D97-AF65-F5344CB8AC3E}">
        <p14:creationId xmlns:p14="http://schemas.microsoft.com/office/powerpoint/2010/main" val="1565847350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136</TotalTime>
  <Words>771</Words>
  <Application>Microsoft Office PowerPoint</Application>
  <PresentationFormat>Widescreen</PresentationFormat>
  <Paragraphs>64</Paragraphs>
  <Slides>13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Aptos</vt:lpstr>
      <vt:lpstr>Arial</vt:lpstr>
      <vt:lpstr>Century Gothic</vt:lpstr>
      <vt:lpstr>Wingdings 3</vt:lpstr>
      <vt:lpstr>Ion</vt:lpstr>
      <vt:lpstr>Olist 360 Marketplace Analysis</vt:lpstr>
      <vt:lpstr>Business Task</vt:lpstr>
      <vt:lpstr>Top 5 Product Categories </vt:lpstr>
      <vt:lpstr>Top 5 Product Categories Over time</vt:lpstr>
      <vt:lpstr>Customer Demand vs Seller Workload</vt:lpstr>
      <vt:lpstr>Does the Average Lead Time Ever Exceed Average Estimated Time?</vt:lpstr>
      <vt:lpstr>Shipping vs Customer Satisfaction</vt:lpstr>
      <vt:lpstr>Lead Time vs Customer Satisfaction </vt:lpstr>
      <vt:lpstr>Late Order Percentages Within Top 5 States Based On Order Count Across Time</vt:lpstr>
      <vt:lpstr>Sales and Seller Strategy Recommendations</vt:lpstr>
      <vt:lpstr>Logistics and Customer Experience Recommendations</vt:lpstr>
      <vt:lpstr>Data Limitations and Future Work</vt:lpstr>
      <vt:lpstr>THE END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Sebastian Hopgood</dc:creator>
  <cp:lastModifiedBy>Sebastian Hopgood</cp:lastModifiedBy>
  <cp:revision>1</cp:revision>
  <dcterms:created xsi:type="dcterms:W3CDTF">2026-04-24T14:06:28Z</dcterms:created>
  <dcterms:modified xsi:type="dcterms:W3CDTF">2026-04-24T16:23:10Z</dcterms:modified>
</cp:coreProperties>
</file>